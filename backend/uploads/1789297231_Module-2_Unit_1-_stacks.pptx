
<file path=[Content_Types].xml><?xml version="1.0" encoding="utf-8"?>
<Types xmlns="http://schemas.openxmlformats.org/package/2006/content-types">
  <Default Extension="emf" ContentType="image/x-emf"/>
  <Default Extension="gif" ContentType="image/gif"/>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ink/ink1.xml" ContentType="application/inkml+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 id="2147483780" r:id="rId2"/>
  </p:sldMasterIdLst>
  <p:notesMasterIdLst>
    <p:notesMasterId r:id="rId77"/>
  </p:notesMasterIdLst>
  <p:handoutMasterIdLst>
    <p:handoutMasterId r:id="rId78"/>
  </p:handoutMasterIdLst>
  <p:sldIdLst>
    <p:sldId id="256" r:id="rId3"/>
    <p:sldId id="258" r:id="rId4"/>
    <p:sldId id="257" r:id="rId5"/>
    <p:sldId id="326" r:id="rId6"/>
    <p:sldId id="329" r:id="rId7"/>
    <p:sldId id="260" r:id="rId8"/>
    <p:sldId id="261" r:id="rId9"/>
    <p:sldId id="262" r:id="rId10"/>
    <p:sldId id="263" r:id="rId11"/>
    <p:sldId id="264" r:id="rId12"/>
    <p:sldId id="371" r:id="rId13"/>
    <p:sldId id="265" r:id="rId14"/>
    <p:sldId id="372" r:id="rId15"/>
    <p:sldId id="275" r:id="rId16"/>
    <p:sldId id="279" r:id="rId17"/>
    <p:sldId id="299" r:id="rId18"/>
    <p:sldId id="277" r:id="rId19"/>
    <p:sldId id="273" r:id="rId20"/>
    <p:sldId id="289" r:id="rId21"/>
    <p:sldId id="340" r:id="rId22"/>
    <p:sldId id="319" r:id="rId23"/>
    <p:sldId id="346" r:id="rId24"/>
    <p:sldId id="375" r:id="rId25"/>
    <p:sldId id="343" r:id="rId26"/>
    <p:sldId id="301" r:id="rId27"/>
    <p:sldId id="302" r:id="rId28"/>
    <p:sldId id="303" r:id="rId29"/>
    <p:sldId id="304" r:id="rId30"/>
    <p:sldId id="305" r:id="rId31"/>
    <p:sldId id="306" r:id="rId32"/>
    <p:sldId id="307" r:id="rId33"/>
    <p:sldId id="308" r:id="rId34"/>
    <p:sldId id="309" r:id="rId35"/>
    <p:sldId id="344" r:id="rId36"/>
    <p:sldId id="310" r:id="rId37"/>
    <p:sldId id="311" r:id="rId38"/>
    <p:sldId id="312" r:id="rId39"/>
    <p:sldId id="313" r:id="rId40"/>
    <p:sldId id="314" r:id="rId41"/>
    <p:sldId id="315" r:id="rId42"/>
    <p:sldId id="345" r:id="rId43"/>
    <p:sldId id="317" r:id="rId44"/>
    <p:sldId id="320" r:id="rId45"/>
    <p:sldId id="347" r:id="rId46"/>
    <p:sldId id="348" r:id="rId47"/>
    <p:sldId id="356" r:id="rId48"/>
    <p:sldId id="349" r:id="rId49"/>
    <p:sldId id="350" r:id="rId50"/>
    <p:sldId id="351" r:id="rId51"/>
    <p:sldId id="352" r:id="rId52"/>
    <p:sldId id="353" r:id="rId53"/>
    <p:sldId id="354" r:id="rId54"/>
    <p:sldId id="355" r:id="rId55"/>
    <p:sldId id="321" r:id="rId56"/>
    <p:sldId id="322" r:id="rId57"/>
    <p:sldId id="323" r:id="rId58"/>
    <p:sldId id="318" r:id="rId59"/>
    <p:sldId id="357" r:id="rId60"/>
    <p:sldId id="324" r:id="rId61"/>
    <p:sldId id="362" r:id="rId62"/>
    <p:sldId id="358" r:id="rId63"/>
    <p:sldId id="359" r:id="rId64"/>
    <p:sldId id="369" r:id="rId65"/>
    <p:sldId id="370" r:id="rId66"/>
    <p:sldId id="360" r:id="rId67"/>
    <p:sldId id="373" r:id="rId68"/>
    <p:sldId id="361" r:id="rId69"/>
    <p:sldId id="374" r:id="rId70"/>
    <p:sldId id="363" r:id="rId71"/>
    <p:sldId id="364" r:id="rId72"/>
    <p:sldId id="365" r:id="rId73"/>
    <p:sldId id="366" r:id="rId74"/>
    <p:sldId id="367" r:id="rId75"/>
    <p:sldId id="368" r:id="rId7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6" clrIdx="0">
    <p:extLst>
      <p:ext uri="{19B8F6BF-5375-455C-9EA6-DF929625EA0E}">
        <p15:presenceInfo xmlns:p15="http://schemas.microsoft.com/office/powerpoint/2012/main" userId="b81a1f1cc344746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0C9E"/>
    <a:srgbClr val="669DD3"/>
    <a:srgbClr val="FF00FF"/>
    <a:srgbClr val="CC0066"/>
    <a:srgbClr val="0B0B0B"/>
    <a:srgbClr val="E1E6CD"/>
    <a:srgbClr val="00FF00"/>
    <a:srgbClr val="55F22A"/>
    <a:srgbClr val="1D1D1D"/>
    <a:srgbClr val="1F1F1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364" autoAdjust="0"/>
  </p:normalViewPr>
  <p:slideViewPr>
    <p:cSldViewPr>
      <p:cViewPr varScale="1">
        <p:scale>
          <a:sx n="66" d="100"/>
          <a:sy n="66" d="100"/>
        </p:scale>
        <p:origin x="668" y="44"/>
      </p:cViewPr>
      <p:guideLst>
        <p:guide orient="horz" pos="2160"/>
        <p:guide pos="3840"/>
      </p:guideLst>
    </p:cSldViewPr>
  </p:slideViewPr>
  <p:outlineViewPr>
    <p:cViewPr>
      <p:scale>
        <a:sx n="33" d="100"/>
        <a:sy n="33" d="100"/>
      </p:scale>
      <p:origin x="0" y="-4668"/>
    </p:cViewPr>
  </p:outlineViewPr>
  <p:notesTextViewPr>
    <p:cViewPr>
      <p:scale>
        <a:sx n="100" d="100"/>
        <a:sy n="100" d="100"/>
      </p:scale>
      <p:origin x="0" y="0"/>
    </p:cViewPr>
  </p:notesTextViewPr>
  <p:notesViewPr>
    <p:cSldViewPr>
      <p:cViewPr>
        <p:scale>
          <a:sx n="125" d="100"/>
          <a:sy n="125" d="100"/>
        </p:scale>
        <p:origin x="1266" y="-201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microsoft.com/office/2016/11/relationships/changesInfo" Target="changesInfos/changesInfo1.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 PRATHAP KUMAR" userId="0921bc6e-5e73-47eb-ba63-4a517d50acd5" providerId="ADAL" clId="{C9302786-6852-4088-851E-24450B5D091D}"/>
    <pc:docChg chg="undo custSel addSld delSld modSld">
      <pc:chgData name="R PRATHAP KUMAR" userId="0921bc6e-5e73-47eb-ba63-4a517d50acd5" providerId="ADAL" clId="{C9302786-6852-4088-851E-24450B5D091D}" dt="2025-08-11T06:20:05.516" v="249" actId="14100"/>
      <pc:docMkLst>
        <pc:docMk/>
      </pc:docMkLst>
      <pc:sldChg chg="modSp mod">
        <pc:chgData name="R PRATHAP KUMAR" userId="0921bc6e-5e73-47eb-ba63-4a517d50acd5" providerId="ADAL" clId="{C9302786-6852-4088-851E-24450B5D091D}" dt="2025-08-07T02:53:31.150" v="119" actId="255"/>
        <pc:sldMkLst>
          <pc:docMk/>
          <pc:sldMk cId="0" sldId="256"/>
        </pc:sldMkLst>
      </pc:sldChg>
      <pc:sldChg chg="modSp add mod">
        <pc:chgData name="R PRATHAP KUMAR" userId="0921bc6e-5e73-47eb-ba63-4a517d50acd5" providerId="ADAL" clId="{C9302786-6852-4088-851E-24450B5D091D}" dt="2025-08-06T08:01:36.950" v="105" actId="255"/>
        <pc:sldMkLst>
          <pc:docMk/>
          <pc:sldMk cId="231629396" sldId="257"/>
        </pc:sldMkLst>
      </pc:sldChg>
      <pc:sldChg chg="addSp modSp add mod">
        <pc:chgData name="R PRATHAP KUMAR" userId="0921bc6e-5e73-47eb-ba63-4a517d50acd5" providerId="ADAL" clId="{C9302786-6852-4088-851E-24450B5D091D}" dt="2025-08-07T02:56:01.961" v="208" actId="20577"/>
        <pc:sldMkLst>
          <pc:docMk/>
          <pc:sldMk cId="3092167506" sldId="258"/>
        </pc:sldMkLst>
      </pc:sldChg>
      <pc:sldChg chg="modSp mod addAnim delAnim">
        <pc:chgData name="R PRATHAP KUMAR" userId="0921bc6e-5e73-47eb-ba63-4a517d50acd5" providerId="ADAL" clId="{C9302786-6852-4088-851E-24450B5D091D}" dt="2025-08-06T06:56:47.585" v="11" actId="20577"/>
        <pc:sldMkLst>
          <pc:docMk/>
          <pc:sldMk cId="0" sldId="260"/>
        </pc:sldMkLst>
      </pc:sldChg>
      <pc:sldChg chg="modSp mod modAnim">
        <pc:chgData name="R PRATHAP KUMAR" userId="0921bc6e-5e73-47eb-ba63-4a517d50acd5" providerId="ADAL" clId="{C9302786-6852-4088-851E-24450B5D091D}" dt="2025-08-06T07:00:39.955" v="40"/>
        <pc:sldMkLst>
          <pc:docMk/>
          <pc:sldMk cId="0" sldId="262"/>
        </pc:sldMkLst>
      </pc:sldChg>
      <pc:sldChg chg="modSp mod">
        <pc:chgData name="R PRATHAP KUMAR" userId="0921bc6e-5e73-47eb-ba63-4a517d50acd5" providerId="ADAL" clId="{C9302786-6852-4088-851E-24450B5D091D}" dt="2025-08-11T06:20:05.516" v="249" actId="14100"/>
        <pc:sldMkLst>
          <pc:docMk/>
          <pc:sldMk cId="0" sldId="307"/>
        </pc:sldMkLst>
      </pc:sldChg>
      <pc:sldChg chg="addSp delSp modSp del mod">
        <pc:chgData name="R PRATHAP KUMAR" userId="0921bc6e-5e73-47eb-ba63-4a517d50acd5" providerId="ADAL" clId="{C9302786-6852-4088-851E-24450B5D091D}" dt="2025-08-07T02:53:50.281" v="120" actId="47"/>
        <pc:sldMkLst>
          <pc:docMk/>
          <pc:sldMk cId="3451809264" sldId="336"/>
        </pc:sldMkLst>
      </pc:sldChg>
      <pc:sldChg chg="del">
        <pc:chgData name="R PRATHAP KUMAR" userId="0921bc6e-5e73-47eb-ba63-4a517d50acd5" providerId="ADAL" clId="{C9302786-6852-4088-851E-24450B5D091D}" dt="2025-08-08T05:38:23.475" v="209" actId="47"/>
        <pc:sldMkLst>
          <pc:docMk/>
          <pc:sldMk cId="4285216226" sldId="342"/>
        </pc:sldMkLst>
      </pc:sldChg>
      <pc:sldChg chg="modSp mod">
        <pc:chgData name="R PRATHAP KUMAR" userId="0921bc6e-5e73-47eb-ba63-4a517d50acd5" providerId="ADAL" clId="{C9302786-6852-4088-851E-24450B5D091D}" dt="2025-08-06T07:04:09.280" v="81"/>
        <pc:sldMkLst>
          <pc:docMk/>
          <pc:sldMk cId="3441929634" sldId="372"/>
        </pc:sldMkLst>
      </pc:sldChg>
      <pc:sldChg chg="addSp modSp new del mod modClrScheme chgLayout">
        <pc:chgData name="R PRATHAP KUMAR" userId="0921bc6e-5e73-47eb-ba63-4a517d50acd5" providerId="ADAL" clId="{C9302786-6852-4088-851E-24450B5D091D}" dt="2025-08-06T08:01:04.330" v="102" actId="47"/>
        <pc:sldMkLst>
          <pc:docMk/>
          <pc:sldMk cId="895977597" sldId="375"/>
        </pc:sldMkLst>
      </pc:sldChg>
      <pc:sldChg chg="modSp add mod">
        <pc:chgData name="R PRATHAP KUMAR" userId="0921bc6e-5e73-47eb-ba63-4a517d50acd5" providerId="ADAL" clId="{C9302786-6852-4088-851E-24450B5D091D}" dt="2025-08-09T03:21:02.893" v="242" actId="113"/>
        <pc:sldMkLst>
          <pc:docMk/>
          <pc:sldMk cId="3220631667" sldId="375"/>
        </pc:sldMkLst>
      </pc:sldChg>
      <pc:sldChg chg="modSp add del mod">
        <pc:chgData name="R PRATHAP KUMAR" userId="0921bc6e-5e73-47eb-ba63-4a517d50acd5" providerId="ADAL" clId="{C9302786-6852-4088-851E-24450B5D091D}" dt="2025-08-09T03:19:01.038" v="213" actId="47"/>
        <pc:sldMkLst>
          <pc:docMk/>
          <pc:sldMk cId="1358298005" sldId="376"/>
        </pc:sldMkLst>
      </pc:sldChg>
    </pc:docChg>
  </pc:docChgLst>
  <pc:docChgLst>
    <pc:chgData name="R PRATHAP KUMAR" userId="0921bc6e-5e73-47eb-ba63-4a517d50acd5" providerId="ADAL" clId="{4544AC7A-C2A1-429F-BF1C-E1C636C2E797}"/>
    <pc:docChg chg="modSld">
      <pc:chgData name="R PRATHAP KUMAR" userId="0921bc6e-5e73-47eb-ba63-4a517d50acd5" providerId="ADAL" clId="{4544AC7A-C2A1-429F-BF1C-E1C636C2E797}" dt="2026-09-01T05:12:06.285" v="30" actId="1076"/>
      <pc:docMkLst>
        <pc:docMk/>
      </pc:docMkLst>
      <pc:sldChg chg="modSp mod">
        <pc:chgData name="R PRATHAP KUMAR" userId="0921bc6e-5e73-47eb-ba63-4a517d50acd5" providerId="ADAL" clId="{4544AC7A-C2A1-429F-BF1C-E1C636C2E797}" dt="2026-08-31T06:28:08.565" v="26" actId="20577"/>
        <pc:sldMkLst>
          <pc:docMk/>
          <pc:sldMk cId="231629396" sldId="257"/>
        </pc:sldMkLst>
        <pc:spChg chg="mod">
          <ac:chgData name="R PRATHAP KUMAR" userId="0921bc6e-5e73-47eb-ba63-4a517d50acd5" providerId="ADAL" clId="{4544AC7A-C2A1-429F-BF1C-E1C636C2E797}" dt="2026-08-31T06:28:08.565" v="26" actId="20577"/>
          <ac:spMkLst>
            <pc:docMk/>
            <pc:sldMk cId="231629396" sldId="257"/>
            <ac:spMk id="3" creationId="{00000000-0000-0000-0000-000000000000}"/>
          </ac:spMkLst>
        </pc:spChg>
      </pc:sldChg>
      <pc:sldChg chg="modSp mod">
        <pc:chgData name="R PRATHAP KUMAR" userId="0921bc6e-5e73-47eb-ba63-4a517d50acd5" providerId="ADAL" clId="{4544AC7A-C2A1-429F-BF1C-E1C636C2E797}" dt="2026-09-01T05:12:06.285" v="30" actId="1076"/>
        <pc:sldMkLst>
          <pc:docMk/>
          <pc:sldMk cId="3092167506" sldId="258"/>
        </pc:sldMkLst>
        <pc:spChg chg="mod">
          <ac:chgData name="R PRATHAP KUMAR" userId="0921bc6e-5e73-47eb-ba63-4a517d50acd5" providerId="ADAL" clId="{4544AC7A-C2A1-429F-BF1C-E1C636C2E797}" dt="2026-09-01T05:12:04.325" v="29" actId="6549"/>
          <ac:spMkLst>
            <pc:docMk/>
            <pc:sldMk cId="3092167506" sldId="258"/>
            <ac:spMk id="2" creationId="{843ADCF5-B3B3-0F7D-64CF-2AA3C329D9D1}"/>
          </ac:spMkLst>
        </pc:spChg>
        <pc:spChg chg="mod">
          <ac:chgData name="R PRATHAP KUMAR" userId="0921bc6e-5e73-47eb-ba63-4a517d50acd5" providerId="ADAL" clId="{4544AC7A-C2A1-429F-BF1C-E1C636C2E797}" dt="2026-08-31T06:27:04.789" v="0" actId="20577"/>
          <ac:spMkLst>
            <pc:docMk/>
            <pc:sldMk cId="3092167506" sldId="258"/>
            <ac:spMk id="3" creationId="{00000000-0000-0000-0000-000000000000}"/>
          </ac:spMkLst>
        </pc:spChg>
        <pc:picChg chg="mod">
          <ac:chgData name="R PRATHAP KUMAR" userId="0921bc6e-5e73-47eb-ba63-4a517d50acd5" providerId="ADAL" clId="{4544AC7A-C2A1-429F-BF1C-E1C636C2E797}" dt="2026-09-01T05:12:06.285" v="30" actId="1076"/>
          <ac:picMkLst>
            <pc:docMk/>
            <pc:sldMk cId="3092167506" sldId="258"/>
            <ac:picMk id="5"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E380A61-35F8-4D0B-8773-169A24F96C1B}" type="datetimeFigureOut">
              <a:rPr lang="en-IN" smtClean="0"/>
              <a:t>01-09-2026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A6B1D4-DD01-4DF2-99BE-975B675B07F3}" type="slidenum">
              <a:rPr lang="en-IN" smtClean="0"/>
              <a:t>‹#›</a:t>
            </a:fld>
            <a:endParaRPr lang="en-IN"/>
          </a:p>
        </p:txBody>
      </p:sp>
    </p:spTree>
    <p:extLst>
      <p:ext uri="{BB962C8B-B14F-4D97-AF65-F5344CB8AC3E}">
        <p14:creationId xmlns:p14="http://schemas.microsoft.com/office/powerpoint/2010/main" val="2898698886"/>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0-08-01T10:13:55.788"/>
    </inkml:context>
    <inkml:brush xml:id="br0">
      <inkml:brushProperty name="width" value="0.21167" units="cm"/>
      <inkml:brushProperty name="height" value="0.21167" units="cm"/>
      <inkml:brushProperty name="fitToCurve" value="1"/>
    </inkml:brush>
  </inkml:definitions>
  <inkml:trace contextRef="#ctx0" brushRef="#br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pattFill prst="solidDmnd">
          <a:fgClr>
            <a:srgbClr val="55F22A"/>
          </a:fgClr>
          <a:bgClr>
            <a:srgbClr val="E1E6CD"/>
          </a:bgClr>
        </a:patt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2"/>
            <a:ext cx="2971800" cy="458788"/>
          </a:xfrm>
          <a:prstGeom prst="rect">
            <a:avLst/>
          </a:prstGeom>
        </p:spPr>
        <p:txBody>
          <a:bodyPr vert="horz" lIns="91440" tIns="45720" rIns="91440" bIns="45720" rtlCol="0"/>
          <a:lstStyle>
            <a:lvl1pPr algn="r">
              <a:defRPr sz="1200"/>
            </a:lvl1pPr>
          </a:lstStyle>
          <a:p>
            <a:fld id="{99D5345A-626B-403A-9284-F700F2AFB92E}" type="datetimeFigureOut">
              <a:rPr lang="en-IN" smtClean="0"/>
              <a:t>01-09-2026</a:t>
            </a:fld>
            <a:endParaRPr lang="en-IN"/>
          </a:p>
        </p:txBody>
      </p:sp>
      <p:sp>
        <p:nvSpPr>
          <p:cNvPr id="4" name="Slide Image Placeholder 3"/>
          <p:cNvSpPr>
            <a:spLocks noGrp="1" noRot="1" noChangeAspect="1"/>
          </p:cNvSpPr>
          <p:nvPr>
            <p:ph type="sldImg" idx="2"/>
          </p:nvPr>
        </p:nvSpPr>
        <p:spPr>
          <a:xfrm>
            <a:off x="667512" y="1105484"/>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2FAA90-46BB-497E-A8FB-B0585046D469}" type="slidenum">
              <a:rPr lang="en-IN" smtClean="0"/>
              <a:t>‹#›</a:t>
            </a:fld>
            <a:endParaRPr lang="en-IN"/>
          </a:p>
        </p:txBody>
      </p:sp>
    </p:spTree>
    <p:extLst>
      <p:ext uri="{BB962C8B-B14F-4D97-AF65-F5344CB8AC3E}">
        <p14:creationId xmlns:p14="http://schemas.microsoft.com/office/powerpoint/2010/main" val="3964642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1</a:t>
            </a:fld>
            <a:endParaRPr lang="en-IN"/>
          </a:p>
        </p:txBody>
      </p:sp>
    </p:spTree>
    <p:extLst>
      <p:ext uri="{BB962C8B-B14F-4D97-AF65-F5344CB8AC3E}">
        <p14:creationId xmlns:p14="http://schemas.microsoft.com/office/powerpoint/2010/main" val="1711492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4</a:t>
            </a:fld>
            <a:endParaRPr lang="en-IN"/>
          </a:p>
        </p:txBody>
      </p:sp>
    </p:spTree>
    <p:extLst>
      <p:ext uri="{BB962C8B-B14F-4D97-AF65-F5344CB8AC3E}">
        <p14:creationId xmlns:p14="http://schemas.microsoft.com/office/powerpoint/2010/main" val="32684292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5</a:t>
            </a:fld>
            <a:endParaRPr lang="en-IN"/>
          </a:p>
        </p:txBody>
      </p:sp>
    </p:spTree>
    <p:extLst>
      <p:ext uri="{BB962C8B-B14F-4D97-AF65-F5344CB8AC3E}">
        <p14:creationId xmlns:p14="http://schemas.microsoft.com/office/powerpoint/2010/main" val="17660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6</a:t>
            </a:fld>
            <a:endParaRPr lang="en-IN"/>
          </a:p>
        </p:txBody>
      </p:sp>
    </p:spTree>
    <p:extLst>
      <p:ext uri="{BB962C8B-B14F-4D97-AF65-F5344CB8AC3E}">
        <p14:creationId xmlns:p14="http://schemas.microsoft.com/office/powerpoint/2010/main" val="830475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7</a:t>
            </a:fld>
            <a:endParaRPr lang="en-IN"/>
          </a:p>
        </p:txBody>
      </p:sp>
    </p:spTree>
    <p:extLst>
      <p:ext uri="{BB962C8B-B14F-4D97-AF65-F5344CB8AC3E}">
        <p14:creationId xmlns:p14="http://schemas.microsoft.com/office/powerpoint/2010/main" val="3187373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8</a:t>
            </a:fld>
            <a:endParaRPr lang="en-IN"/>
          </a:p>
        </p:txBody>
      </p:sp>
    </p:spTree>
    <p:extLst>
      <p:ext uri="{BB962C8B-B14F-4D97-AF65-F5344CB8AC3E}">
        <p14:creationId xmlns:p14="http://schemas.microsoft.com/office/powerpoint/2010/main" val="26892643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9</a:t>
            </a:fld>
            <a:endParaRPr lang="en-IN"/>
          </a:p>
        </p:txBody>
      </p:sp>
    </p:spTree>
    <p:extLst>
      <p:ext uri="{BB962C8B-B14F-4D97-AF65-F5344CB8AC3E}">
        <p14:creationId xmlns:p14="http://schemas.microsoft.com/office/powerpoint/2010/main" val="2371674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10</a:t>
            </a:fld>
            <a:endParaRPr lang="en-IN"/>
          </a:p>
        </p:txBody>
      </p:sp>
    </p:spTree>
    <p:extLst>
      <p:ext uri="{BB962C8B-B14F-4D97-AF65-F5344CB8AC3E}">
        <p14:creationId xmlns:p14="http://schemas.microsoft.com/office/powerpoint/2010/main" val="698209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11</a:t>
            </a:fld>
            <a:endParaRPr lang="en-IN"/>
          </a:p>
        </p:txBody>
      </p:sp>
    </p:spTree>
    <p:extLst>
      <p:ext uri="{BB962C8B-B14F-4D97-AF65-F5344CB8AC3E}">
        <p14:creationId xmlns:p14="http://schemas.microsoft.com/office/powerpoint/2010/main" val="3678851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12</a:t>
            </a:fld>
            <a:endParaRPr lang="en-IN"/>
          </a:p>
        </p:txBody>
      </p:sp>
    </p:spTree>
    <p:extLst>
      <p:ext uri="{BB962C8B-B14F-4D97-AF65-F5344CB8AC3E}">
        <p14:creationId xmlns:p14="http://schemas.microsoft.com/office/powerpoint/2010/main" val="2652841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13</a:t>
            </a:fld>
            <a:endParaRPr lang="en-IN"/>
          </a:p>
        </p:txBody>
      </p:sp>
    </p:spTree>
    <p:extLst>
      <p:ext uri="{BB962C8B-B14F-4D97-AF65-F5344CB8AC3E}">
        <p14:creationId xmlns:p14="http://schemas.microsoft.com/office/powerpoint/2010/main" val="1422035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14</a:t>
            </a:fld>
            <a:endParaRPr lang="en-IN"/>
          </a:p>
        </p:txBody>
      </p:sp>
    </p:spTree>
    <p:extLst>
      <p:ext uri="{BB962C8B-B14F-4D97-AF65-F5344CB8AC3E}">
        <p14:creationId xmlns:p14="http://schemas.microsoft.com/office/powerpoint/2010/main" val="19987278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15</a:t>
            </a:fld>
            <a:endParaRPr lang="en-IN"/>
          </a:p>
        </p:txBody>
      </p:sp>
    </p:spTree>
    <p:extLst>
      <p:ext uri="{BB962C8B-B14F-4D97-AF65-F5344CB8AC3E}">
        <p14:creationId xmlns:p14="http://schemas.microsoft.com/office/powerpoint/2010/main" val="17358316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17</a:t>
            </a:fld>
            <a:endParaRPr lang="en-IN"/>
          </a:p>
        </p:txBody>
      </p:sp>
    </p:spTree>
    <p:extLst>
      <p:ext uri="{BB962C8B-B14F-4D97-AF65-F5344CB8AC3E}">
        <p14:creationId xmlns:p14="http://schemas.microsoft.com/office/powerpoint/2010/main" val="2150996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66750" y="1104900"/>
            <a:ext cx="5486400" cy="3086100"/>
          </a:xfrm>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12FAA90-46BB-497E-A8FB-B0585046D469}" type="slidenum">
              <a:rPr lang="en-IN" smtClean="0"/>
              <a:t>19</a:t>
            </a:fld>
            <a:endParaRPr lang="en-IN"/>
          </a:p>
        </p:txBody>
      </p:sp>
    </p:spTree>
    <p:extLst>
      <p:ext uri="{BB962C8B-B14F-4D97-AF65-F5344CB8AC3E}">
        <p14:creationId xmlns:p14="http://schemas.microsoft.com/office/powerpoint/2010/main" val="151524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3450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003216" y="5287388"/>
            <a:ext cx="1937328" cy="1333662"/>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023688" y="3885678"/>
            <a:ext cx="1916856" cy="1401710"/>
          </a:xfrm>
          <a:prstGeom prst="rect">
            <a:avLst/>
          </a:prstGeom>
        </p:spPr>
      </p:pic>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91198" y="1445169"/>
            <a:ext cx="1849346" cy="1293513"/>
          </a:xfrm>
          <a:prstGeom prst="rect">
            <a:avLst/>
          </a:prstGeom>
        </p:spPr>
      </p:pic>
      <p:pic>
        <p:nvPicPr>
          <p:cNvPr id="10" name="Picture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003216" y="2778831"/>
            <a:ext cx="1916856" cy="1144188"/>
          </a:xfrm>
          <a:prstGeom prst="rect">
            <a:avLst/>
          </a:prstGeom>
        </p:spPr>
      </p:pic>
    </p:spTree>
    <p:extLst>
      <p:ext uri="{BB962C8B-B14F-4D97-AF65-F5344CB8AC3E}">
        <p14:creationId xmlns:p14="http://schemas.microsoft.com/office/powerpoint/2010/main" val="2208365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8277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97362207"/>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5004582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79988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789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7571405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27594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69029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21574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48DF883-51F3-4418-8C2D-1B8B339D8C9B}"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7149439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8DF883-51F3-4418-8C2D-1B8B339D8C9B}"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18524096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8DF883-51F3-4418-8C2D-1B8B339D8C9B}"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2765126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8DF883-51F3-4418-8C2D-1B8B339D8C9B}"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20626881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8DF883-51F3-4418-8C2D-1B8B339D8C9B}" type="datetimeFigureOut">
              <a:rPr lang="en-US" smtClean="0"/>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14559083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8DF883-51F3-4418-8C2D-1B8B339D8C9B}" type="datetimeFigureOut">
              <a:rPr lang="en-US" smtClean="0"/>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36127791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8DF883-51F3-4418-8C2D-1B8B339D8C9B}" type="datetimeFigureOut">
              <a:rPr lang="en-US" smtClean="0"/>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318517890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8DF883-51F3-4418-8C2D-1B8B339D8C9B}"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6545717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48DF883-51F3-4418-8C2D-1B8B339D8C9B}" type="datetimeFigureOut">
              <a:rPr lang="en-US" smtClean="0"/>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222556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8DF883-51F3-4418-8C2D-1B8B339D8C9B}"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9182489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8DF883-51F3-4418-8C2D-1B8B339D8C9B}" type="datetimeFigureOut">
              <a:rPr lang="en-US" smtClean="0"/>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DBF14B3-D6B6-4C6D-A5E8-8890F2663379}" type="slidenum">
              <a:rPr lang="en-US" smtClean="0"/>
              <a:t>‹#›</a:t>
            </a:fld>
            <a:endParaRPr lang="en-US"/>
          </a:p>
        </p:txBody>
      </p:sp>
    </p:spTree>
    <p:extLst>
      <p:ext uri="{BB962C8B-B14F-4D97-AF65-F5344CB8AC3E}">
        <p14:creationId xmlns:p14="http://schemas.microsoft.com/office/powerpoint/2010/main" val="3110753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1D8BD707-D9CF-40AE-B4C6-C98DA3205C09}" type="datetimeFigureOut">
              <a:rPr lang="en-US" smtClean="0"/>
              <a:pPr/>
              <a:t>9/1/2026</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4179367645"/>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xStyles>
    <p:titleStyle>
      <a:lvl1pPr algn="l" defTabSz="914400" rtl="0" eaLnBrk="1" latinLnBrk="0" hangingPunct="1">
        <a:lnSpc>
          <a:spcPct val="90000"/>
        </a:lnSpc>
        <a:spcBef>
          <a:spcPct val="0"/>
        </a:spcBef>
        <a:buNone/>
        <a:defRPr sz="4400" kern="1200">
          <a:solidFill>
            <a:schemeClr val="accent1"/>
          </a:solidFill>
          <a:latin typeface="Calibri" panose="020F0502020204030204" pitchFamily="34" charset="0"/>
          <a:ea typeface="+mj-ea"/>
          <a:cs typeface="Calibri" panose="020F0502020204030204" pitchFamily="34" charset="0"/>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Calibri" panose="020F0502020204030204" pitchFamily="34" charset="0"/>
          <a:ea typeface="+mn-ea"/>
          <a:cs typeface="Calibri" panose="020F0502020204030204" pitchFamily="34" charset="0"/>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Calibri" panose="020F0502020204030204" pitchFamily="34" charset="0"/>
          <a:ea typeface="+mn-ea"/>
          <a:cs typeface="Calibri" panose="020F0502020204030204" pitchFamily="34" charset="0"/>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Calibri" panose="020F0502020204030204" pitchFamily="34" charset="0"/>
          <a:ea typeface="+mn-ea"/>
          <a:cs typeface="Calibri" panose="020F0502020204030204" pitchFamily="34" charset="0"/>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Calibri" panose="020F0502020204030204" pitchFamily="34" charset="0"/>
          <a:ea typeface="+mn-ea"/>
          <a:cs typeface="Calibri" panose="020F0502020204030204" pitchFamily="34" charset="0"/>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Calibri" panose="020F0502020204030204" pitchFamily="34" charset="0"/>
          <a:ea typeface="+mn-ea"/>
          <a:cs typeface="Calibri" panose="020F0502020204030204" pitchFamily="34" charset="0"/>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8DF883-51F3-4418-8C2D-1B8B339D8C9B}" type="datetimeFigureOut">
              <a:rPr lang="en-US" smtClean="0"/>
              <a:t>9/1/2026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BF14B3-D6B6-4C6D-A5E8-8890F2663379}" type="slidenum">
              <a:rPr lang="en-US" smtClean="0"/>
              <a:t>‹#›</a:t>
            </a:fld>
            <a:endParaRPr lang="en-US"/>
          </a:p>
        </p:txBody>
      </p:sp>
    </p:spTree>
    <p:extLst>
      <p:ext uri="{BB962C8B-B14F-4D97-AF65-F5344CB8AC3E}">
        <p14:creationId xmlns:p14="http://schemas.microsoft.com/office/powerpoint/2010/main" val="3604718894"/>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3" Type="http://schemas.openxmlformats.org/officeDocument/2006/relationships/video" Target="../media/media3.mp4"/><Relationship Id="rId2" Type="http://schemas.microsoft.com/office/2007/relationships/media" Target="../media/media3.mp4"/><Relationship Id="rId1" Type="http://schemas.openxmlformats.org/officeDocument/2006/relationships/themeOverride" Target="../theme/themeOverride1.xml"/><Relationship Id="rId5" Type="http://schemas.openxmlformats.org/officeDocument/2006/relationships/image" Target="../media/image20.png"/><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image" Target="../media/image22.gif"/><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6.xml"/><Relationship Id="rId4" Type="http://schemas.openxmlformats.org/officeDocument/2006/relationships/image" Target="../media/image2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0" y="2377887"/>
            <a:ext cx="4199382" cy="28575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Subtitle 1"/>
          <p:cNvSpPr>
            <a:spLocks noGrp="1"/>
          </p:cNvSpPr>
          <p:nvPr>
            <p:ph type="subTitle" idx="1"/>
          </p:nvPr>
        </p:nvSpPr>
        <p:spPr/>
        <p:txBody>
          <a:bodyPr>
            <a:normAutofit/>
          </a:bodyPr>
          <a:lstStyle/>
          <a:p>
            <a:r>
              <a:rPr lang="en-US" sz="4400" dirty="0"/>
              <a:t>Stack</a:t>
            </a:r>
            <a:endParaRPr lang="en-IN" sz="4400" dirty="0"/>
          </a:p>
        </p:txBody>
      </p:sp>
    </p:spTree>
    <p:custDataLst>
      <p:tags r:id="rId1"/>
    </p:custData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2000"/>
                                        <p:tgtEl>
                                          <p:spTgt spid="6"/>
                                        </p:tgtEl>
                                      </p:cBhvr>
                                    </p:animEffect>
                                    <p:anim calcmode="lin" valueType="num">
                                      <p:cBhvr>
                                        <p:cTn id="8" dur="2000" fill="hold"/>
                                        <p:tgtEl>
                                          <p:spTgt spid="6"/>
                                        </p:tgtEl>
                                        <p:attrNameLst>
                                          <p:attrName>ppt_w</p:attrName>
                                        </p:attrNameLst>
                                      </p:cBhvr>
                                      <p:tavLst>
                                        <p:tav tm="0" fmla="#ppt_w*sin(2.5*pi*$)">
                                          <p:val>
                                            <p:fltVal val="0"/>
                                          </p:val>
                                        </p:tav>
                                        <p:tav tm="100000">
                                          <p:val>
                                            <p:fltVal val="1"/>
                                          </p:val>
                                        </p:tav>
                                      </p:tavLst>
                                    </p:anim>
                                    <p:anim calcmode="lin" valueType="num">
                                      <p:cBhvr>
                                        <p:cTn id="9" dur="2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135" y="190007"/>
            <a:ext cx="11731579" cy="6455491"/>
          </a:xfrm>
        </p:spPr>
        <p:txBody>
          <a:bodyPr/>
          <a:lstStyle/>
          <a:p>
            <a:pPr marL="0" lvl="0" indent="0">
              <a:lnSpc>
                <a:spcPct val="100000"/>
              </a:lnSpc>
              <a:spcBef>
                <a:spcPts val="0"/>
              </a:spcBef>
              <a:buNone/>
            </a:pPr>
            <a:r>
              <a:rPr lang="en-US" sz="3600" dirty="0">
                <a:solidFill>
                  <a:prstClr val="black"/>
                </a:solidFill>
                <a:latin typeface="Constantia"/>
                <a:cs typeface="Times New Roman" charset="0"/>
              </a:rPr>
              <a:t>The last element to be added is the first to be removed (</a:t>
            </a:r>
            <a:r>
              <a:rPr lang="en-US" sz="3600" b="1" dirty="0">
                <a:solidFill>
                  <a:srgbClr val="FF0000"/>
                </a:solidFill>
                <a:latin typeface="Constantia"/>
                <a:cs typeface="Times New Roman" charset="0"/>
              </a:rPr>
              <a:t>LIFO</a:t>
            </a:r>
            <a:r>
              <a:rPr lang="en-US" sz="3600" dirty="0">
                <a:solidFill>
                  <a:prstClr val="black"/>
                </a:solidFill>
                <a:latin typeface="Constantia"/>
                <a:cs typeface="Times New Roman" charset="0"/>
              </a:rPr>
              <a:t>: Last In First Out).</a:t>
            </a:r>
            <a:endParaRPr lang="en-US" sz="3600" dirty="0">
              <a:solidFill>
                <a:prstClr val="black"/>
              </a:solidFill>
              <a:latin typeface="Courier New" pitchFamily="49" charset="0"/>
              <a:cs typeface="Courier New" pitchFamily="49" charset="0"/>
            </a:endParaRPr>
          </a:p>
          <a:p>
            <a:endParaRPr lang="en-US" dirty="0"/>
          </a:p>
        </p:txBody>
      </p:sp>
      <p:pic>
        <p:nvPicPr>
          <p:cNvPr id="4" name="Picture 2" descr="http://www.tutorial4us.com/data-structure/images/stack-example.png"/>
          <p:cNvPicPr>
            <a:picLocks noChangeAspect="1" noChangeArrowheads="1"/>
          </p:cNvPicPr>
          <p:nvPr/>
        </p:nvPicPr>
        <p:blipFill>
          <a:blip r:embed="rId2" cstate="print"/>
          <a:srcRect/>
          <a:stretch>
            <a:fillRect/>
          </a:stretch>
        </p:blipFill>
        <p:spPr bwMode="auto">
          <a:xfrm>
            <a:off x="549499" y="2287073"/>
            <a:ext cx="2276475" cy="1524001"/>
          </a:xfrm>
          <a:prstGeom prst="rect">
            <a:avLst/>
          </a:prstGeom>
          <a:noFill/>
        </p:spPr>
      </p:pic>
      <p:pic>
        <p:nvPicPr>
          <p:cNvPr id="5" name="Picture 4" descr="http://www.genkiosk.com/wp-content/uploads/2011/10/coin-stack.png"/>
          <p:cNvPicPr>
            <a:picLocks noChangeAspect="1" noChangeArrowheads="1"/>
          </p:cNvPicPr>
          <p:nvPr/>
        </p:nvPicPr>
        <p:blipFill>
          <a:blip r:embed="rId3" cstate="print"/>
          <a:srcRect/>
          <a:stretch>
            <a:fillRect/>
          </a:stretch>
        </p:blipFill>
        <p:spPr bwMode="auto">
          <a:xfrm>
            <a:off x="3886200" y="1981200"/>
            <a:ext cx="3267075" cy="2514600"/>
          </a:xfrm>
          <a:prstGeom prst="rect">
            <a:avLst/>
          </a:prstGeom>
          <a:noFill/>
        </p:spPr>
      </p:pic>
      <p:pic>
        <p:nvPicPr>
          <p:cNvPr id="6" name="Picture 8" descr="https://www.packtpub.com/sites/default/files/Article-Images/4874OS_03_01.png"/>
          <p:cNvPicPr>
            <a:picLocks noChangeAspect="1" noChangeArrowheads="1"/>
          </p:cNvPicPr>
          <p:nvPr/>
        </p:nvPicPr>
        <p:blipFill>
          <a:blip r:embed="rId4" cstate="print"/>
          <a:srcRect/>
          <a:stretch>
            <a:fillRect/>
          </a:stretch>
        </p:blipFill>
        <p:spPr bwMode="auto">
          <a:xfrm>
            <a:off x="7065806" y="1669914"/>
            <a:ext cx="2381250" cy="3495675"/>
          </a:xfrm>
          <a:prstGeom prst="rect">
            <a:avLst/>
          </a:prstGeom>
          <a:noFill/>
        </p:spPr>
      </p:pic>
      <p:sp>
        <p:nvSpPr>
          <p:cNvPr id="2" name="Rectangle 1">
            <a:extLst>
              <a:ext uri="{FF2B5EF4-FFF2-40B4-BE49-F238E27FC236}">
                <a16:creationId xmlns:a16="http://schemas.microsoft.com/office/drawing/2014/main" id="{843ADCF5-B3B3-0F7D-64CF-2AA3C329D9D1}"/>
              </a:ext>
            </a:extLst>
          </p:cNvPr>
          <p:cNvSpPr/>
          <p:nvPr/>
        </p:nvSpPr>
        <p:spPr>
          <a:xfrm>
            <a:off x="1065057" y="4984810"/>
            <a:ext cx="8381999" cy="923330"/>
          </a:xfrm>
          <a:prstGeom prst="rect">
            <a:avLst/>
          </a:prstGeom>
          <a:noFill/>
        </p:spPr>
        <p:txBody>
          <a:bodyPr wrap="square" lIns="91440" tIns="45720" rIns="91440" bIns="45720">
            <a:spAutoFit/>
          </a:bodyPr>
          <a:lstStyle/>
          <a:p>
            <a:r>
              <a:rPr lang="en-US" sz="5400" dirty="0">
                <a:ln w="0"/>
                <a:effectLst>
                  <a:outerShdw blurRad="38100" dist="19050" dir="2700000" algn="tl" rotWithShape="0">
                    <a:schemeClr val="dk1">
                      <a:alpha val="40000"/>
                    </a:schemeClr>
                  </a:outerShdw>
                </a:effectLst>
              </a:rPr>
              <a:t>Plates           Pennies       Books</a:t>
            </a:r>
            <a:endParaRPr 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92167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1529" y="331676"/>
            <a:ext cx="11602792" cy="6249428"/>
          </a:xfrm>
        </p:spPr>
        <p:txBody>
          <a:bodyPr>
            <a:noAutofit/>
          </a:bodyPr>
          <a:lstStyle/>
          <a:p>
            <a:pPr algn="just" hangingPunct="0">
              <a:lnSpc>
                <a:spcPct val="115000"/>
              </a:lnSpc>
              <a:spcBef>
                <a:spcPts val="0"/>
              </a:spcBef>
              <a:tabLst>
                <a:tab pos="457200" algn="l"/>
              </a:tabLst>
            </a:pPr>
            <a:r>
              <a:rPr lang="en-IN"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Stack is a linear data structure. </a:t>
            </a:r>
            <a:endParaRPr lang="en-US" sz="24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ts val="580"/>
              </a:lnSpc>
              <a:spcBef>
                <a:spcPts val="0"/>
              </a:spcBef>
              <a:spcAft>
                <a:spcPts val="0"/>
              </a:spcAft>
              <a:buNone/>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hangingPunct="0">
              <a:lnSpc>
                <a:spcPct val="94000"/>
              </a:lnSpc>
              <a:spcBef>
                <a:spcPts val="0"/>
              </a:spcBef>
              <a:tabLst>
                <a:tab pos="457200" algn="l"/>
              </a:tabLst>
            </a:pPr>
            <a:r>
              <a:rPr lang="en-IN"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Stack can be defined as a collection of homogeneous elements, where insertion and deletion operations takes place at only one end called </a:t>
            </a:r>
            <a:r>
              <a:rPr lang="en-IN" sz="24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TOP</a:t>
            </a:r>
            <a:r>
              <a:rPr lang="en-IN"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ts val="580"/>
              </a:lnSpc>
              <a:spcBef>
                <a:spcPts val="0"/>
              </a:spcBef>
              <a:spcAft>
                <a:spcPts val="0"/>
              </a:spcAft>
              <a:buNone/>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hangingPunct="0">
              <a:lnSpc>
                <a:spcPct val="94000"/>
              </a:lnSpc>
              <a:spcBef>
                <a:spcPts val="0"/>
              </a:spcBef>
              <a:tabLst>
                <a:tab pos="457200" algn="l"/>
              </a:tabLst>
            </a:pPr>
            <a:r>
              <a:rPr lang="en-IN" sz="24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The insertion operation is termed as PUSH and deletion operation is termed as POP operation. </a:t>
            </a:r>
            <a:endParaRPr lang="en-US" sz="24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ts val="195"/>
              </a:lnSpc>
              <a:spcBef>
                <a:spcPts val="0"/>
              </a:spcBef>
              <a:spcAft>
                <a:spcPts val="0"/>
              </a:spcAft>
              <a:buNone/>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hangingPunct="0">
              <a:lnSpc>
                <a:spcPct val="115000"/>
              </a:lnSpc>
              <a:spcBef>
                <a:spcPts val="0"/>
              </a:spcBef>
              <a:tabLst>
                <a:tab pos="457200" algn="l"/>
              </a:tabLst>
            </a:pPr>
            <a:r>
              <a:rPr lang="en-IN" sz="24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The PUSH and POP operations are performed at TOP of the stack.</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ts val="195"/>
              </a:lnSpc>
              <a:spcBef>
                <a:spcPts val="0"/>
              </a:spcBef>
              <a:spcAft>
                <a:spcPts val="0"/>
              </a:spcAft>
              <a:buNone/>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hangingPunct="0">
              <a:lnSpc>
                <a:spcPct val="115000"/>
              </a:lnSpc>
              <a:spcBef>
                <a:spcPts val="0"/>
              </a:spcBef>
              <a:tabLst>
                <a:tab pos="457200" algn="l"/>
              </a:tabLst>
            </a:pPr>
            <a:r>
              <a:rPr lang="en-IN" sz="24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An element in a stack is termed as ITEM. </a:t>
            </a:r>
            <a:endParaRPr lang="en-US" sz="240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ts val="590"/>
              </a:lnSpc>
              <a:spcBef>
                <a:spcPts val="0"/>
              </a:spcBef>
              <a:spcAft>
                <a:spcPts val="0"/>
              </a:spcAft>
              <a:buNone/>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hangingPunct="0">
              <a:lnSpc>
                <a:spcPct val="93000"/>
              </a:lnSpc>
              <a:spcBef>
                <a:spcPts val="0"/>
              </a:spcBef>
              <a:tabLst>
                <a:tab pos="457200" algn="l"/>
              </a:tabLst>
            </a:pPr>
            <a:r>
              <a:rPr lang="en-IN"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The maximum number of elements that stack can accommodate is termed as SIZE of the stack. </a:t>
            </a:r>
            <a:endParaRPr lang="en-US" sz="2400"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hangingPunct="0">
              <a:lnSpc>
                <a:spcPct val="93000"/>
              </a:lnSpc>
              <a:spcBef>
                <a:spcPts val="0"/>
              </a:spcBef>
              <a:tabLst>
                <a:tab pos="457200" algn="l"/>
              </a:tabLst>
            </a:pPr>
            <a:r>
              <a:rPr lang="en-IN" sz="24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rPr>
              <a:t>Stack Pointer ( SP ) always points to the top element of the stack.</a:t>
            </a:r>
            <a:endParaRPr lang="en-US" sz="2400" dirty="0">
              <a:solidFill>
                <a:srgbClr val="C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lnSpc>
                <a:spcPts val="195"/>
              </a:lnSpc>
              <a:spcBef>
                <a:spcPts val="0"/>
              </a:spcBef>
              <a:spcAft>
                <a:spcPts val="0"/>
              </a:spcAft>
              <a:buNone/>
            </a:pP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IN" sz="24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Stack follows LIFO principle. i.e. </a:t>
            </a:r>
            <a:r>
              <a:rPr lang="en-IN" sz="2400" b="1"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L</a:t>
            </a:r>
            <a:r>
              <a:rPr lang="en-IN" sz="24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ast </a:t>
            </a:r>
            <a:r>
              <a:rPr lang="en-IN" sz="2400" b="1"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I</a:t>
            </a:r>
            <a:r>
              <a:rPr lang="en-IN" sz="24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n </a:t>
            </a:r>
            <a:r>
              <a:rPr lang="en-IN" sz="2400" b="1"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F</a:t>
            </a:r>
            <a:r>
              <a:rPr lang="en-IN" sz="24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irst </a:t>
            </a:r>
            <a:r>
              <a:rPr lang="en-IN" sz="2400" b="1"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O</a:t>
            </a:r>
            <a:r>
              <a:rPr lang="en-IN" sz="2400" dirty="0">
                <a:solidFill>
                  <a:srgbClr val="7030A0"/>
                </a:solidFill>
                <a:effectLst/>
                <a:latin typeface="Times New Roman" panose="02020603050405020304" pitchFamily="18" charset="0"/>
                <a:ea typeface="Times New Roman" panose="02020603050405020304" pitchFamily="18" charset="0"/>
                <a:cs typeface="Times New Roman" panose="02020603050405020304" pitchFamily="18" charset="0"/>
              </a:rPr>
              <a:t>ut i.e. the element which is inserted last into the stack will be deleted first from the stack. </a:t>
            </a:r>
            <a:endParaRPr lang="en-US" sz="2400" dirty="0">
              <a:solidFill>
                <a:srgbClr val="7030A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629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609607"/>
            <a:ext cx="7273290" cy="288553"/>
          </a:xfrm>
        </p:spPr>
        <p:txBody>
          <a:bodyPr>
            <a:normAutofit fontScale="90000"/>
          </a:bodyPr>
          <a:lstStyle/>
          <a:p>
            <a:r>
              <a:rPr lang="en-US" u="sng" dirty="0">
                <a:solidFill>
                  <a:srgbClr val="CC0066"/>
                </a:solidFill>
              </a:rPr>
              <a:t>Understanding Stack: PUSH</a:t>
            </a:r>
            <a:endParaRPr lang="en-US" u="sng" dirty="0"/>
          </a:p>
        </p:txBody>
      </p:sp>
      <p:grpSp>
        <p:nvGrpSpPr>
          <p:cNvPr id="29" name="Group 28"/>
          <p:cNvGrpSpPr/>
          <p:nvPr/>
        </p:nvGrpSpPr>
        <p:grpSpPr>
          <a:xfrm>
            <a:off x="5101214" y="3368902"/>
            <a:ext cx="1436370" cy="923330"/>
            <a:chOff x="2743200" y="4147218"/>
            <a:chExt cx="1436370" cy="923330"/>
          </a:xfrm>
        </p:grpSpPr>
        <p:sp>
          <p:nvSpPr>
            <p:cNvPr id="28" name="Oval 27"/>
            <p:cNvSpPr/>
            <p:nvPr/>
          </p:nvSpPr>
          <p:spPr>
            <a:xfrm>
              <a:off x="2743200" y="4495345"/>
              <a:ext cx="1436370"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822977" y="4147218"/>
              <a:ext cx="1306769" cy="923330"/>
            </a:xfrm>
            <a:prstGeom prst="rect">
              <a:avLst/>
            </a:prstGeom>
            <a:noFill/>
          </p:spPr>
          <p:txBody>
            <a:bodyPr wrap="none" lIns="91440" tIns="45720" rIns="91440" bIns="45720">
              <a:spAutoFit/>
            </a:bodyPr>
            <a:lstStyle/>
            <a:p>
              <a:pPr algn="ctr"/>
              <a:r>
                <a:rPr lang="en-US" sz="5400">
                  <a:ln w="0"/>
                  <a:effectLst>
                    <a:outerShdw blurRad="38100" dist="19050" dir="2700000" algn="tl" rotWithShape="0">
                      <a:schemeClr val="dk1">
                        <a:alpha val="40000"/>
                      </a:schemeClr>
                    </a:outerShdw>
                  </a:effectLst>
                </a:rPr>
                <a:t>cd 1</a:t>
              </a:r>
            </a:p>
          </p:txBody>
        </p:sp>
      </p:grpSp>
      <p:grpSp>
        <p:nvGrpSpPr>
          <p:cNvPr id="30" name="Group 29"/>
          <p:cNvGrpSpPr/>
          <p:nvPr/>
        </p:nvGrpSpPr>
        <p:grpSpPr>
          <a:xfrm>
            <a:off x="5691841" y="2162880"/>
            <a:ext cx="1516003" cy="923330"/>
            <a:chOff x="2759470" y="3174552"/>
            <a:chExt cx="1516003" cy="923330"/>
          </a:xfrm>
        </p:grpSpPr>
        <p:sp>
          <p:nvSpPr>
            <p:cNvPr id="27" name="Oval 26"/>
            <p:cNvSpPr/>
            <p:nvPr/>
          </p:nvSpPr>
          <p:spPr>
            <a:xfrm>
              <a:off x="2759470" y="3517546"/>
              <a:ext cx="1407773"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2887035" y="3174552"/>
              <a:ext cx="1388438" cy="923330"/>
            </a:xfrm>
            <a:prstGeom prst="rect">
              <a:avLst/>
            </a:prstGeom>
            <a:noFill/>
          </p:spPr>
          <p:txBody>
            <a:bodyPr wrap="square" lIns="91440" tIns="45720" rIns="91440" bIns="45720">
              <a:spAutoFit/>
            </a:bodyPr>
            <a:lstStyle/>
            <a:p>
              <a:pPr algn="ctr"/>
              <a:r>
                <a:rPr lang="en-US" sz="5400" dirty="0">
                  <a:ln w="0"/>
                  <a:effectLst>
                    <a:outerShdw blurRad="38100" dist="19050" dir="2700000" algn="tl" rotWithShape="0">
                      <a:schemeClr val="dk1">
                        <a:alpha val="40000"/>
                      </a:schemeClr>
                    </a:outerShdw>
                  </a:effectLst>
                </a:rPr>
                <a:t>cd 2</a:t>
              </a:r>
            </a:p>
          </p:txBody>
        </p:sp>
      </p:grpSp>
      <p:grpSp>
        <p:nvGrpSpPr>
          <p:cNvPr id="31" name="Group 30"/>
          <p:cNvGrpSpPr/>
          <p:nvPr/>
        </p:nvGrpSpPr>
        <p:grpSpPr>
          <a:xfrm>
            <a:off x="4121248" y="2576816"/>
            <a:ext cx="1436370" cy="923330"/>
            <a:chOff x="2759471" y="2194298"/>
            <a:chExt cx="1436370" cy="923330"/>
          </a:xfrm>
        </p:grpSpPr>
        <p:sp>
          <p:nvSpPr>
            <p:cNvPr id="26" name="Oval 25"/>
            <p:cNvSpPr/>
            <p:nvPr/>
          </p:nvSpPr>
          <p:spPr>
            <a:xfrm>
              <a:off x="2759471" y="2553107"/>
              <a:ext cx="1436370"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2883406" y="2194298"/>
              <a:ext cx="1309975" cy="923330"/>
            </a:xfrm>
            <a:prstGeom prst="rect">
              <a:avLst/>
            </a:prstGeom>
            <a:noFill/>
          </p:spPr>
          <p:txBody>
            <a:bodyPr wrap="square" lIns="91440" tIns="45720" rIns="91440" bIns="45720">
              <a:spAutoFit/>
            </a:bodyPr>
            <a:lstStyle/>
            <a:p>
              <a:pPr algn="ctr"/>
              <a:r>
                <a:rPr lang="en-US" sz="5400" dirty="0">
                  <a:ln w="0"/>
                  <a:effectLst>
                    <a:outerShdw blurRad="38100" dist="19050" dir="2700000" algn="tl" rotWithShape="0">
                      <a:schemeClr val="dk1">
                        <a:alpha val="40000"/>
                      </a:schemeClr>
                    </a:outerShdw>
                  </a:effectLst>
                </a:rPr>
                <a:t>cd 3</a:t>
              </a:r>
            </a:p>
          </p:txBody>
        </p:sp>
      </p:grpSp>
      <p:grpSp>
        <p:nvGrpSpPr>
          <p:cNvPr id="32" name="Group 31"/>
          <p:cNvGrpSpPr/>
          <p:nvPr/>
        </p:nvGrpSpPr>
        <p:grpSpPr>
          <a:xfrm>
            <a:off x="4514718" y="1497394"/>
            <a:ext cx="1436370" cy="923330"/>
            <a:chOff x="2743200" y="1308730"/>
            <a:chExt cx="1436370" cy="923330"/>
          </a:xfrm>
        </p:grpSpPr>
        <p:sp>
          <p:nvSpPr>
            <p:cNvPr id="23" name="Oval 22"/>
            <p:cNvSpPr/>
            <p:nvPr/>
          </p:nvSpPr>
          <p:spPr>
            <a:xfrm>
              <a:off x="2743200" y="1639432"/>
              <a:ext cx="1436370"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2792167" y="1308730"/>
              <a:ext cx="1353256"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cd 4</a:t>
              </a:r>
            </a:p>
          </p:txBody>
        </p:sp>
      </p:grpSp>
      <p:cxnSp>
        <p:nvCxnSpPr>
          <p:cNvPr id="42" name="Straight Connector 41"/>
          <p:cNvCxnSpPr/>
          <p:nvPr/>
        </p:nvCxnSpPr>
        <p:spPr>
          <a:xfrm>
            <a:off x="2350580" y="1997321"/>
            <a:ext cx="0" cy="3886200"/>
          </a:xfrm>
          <a:prstGeom prst="line">
            <a:avLst/>
          </a:prstGeom>
          <a:effectLst>
            <a:glow rad="685800">
              <a:schemeClr val="accent6">
                <a:satMod val="175000"/>
                <a:alpha val="40000"/>
              </a:schemeClr>
            </a:glow>
          </a:effectLst>
          <a:scene3d>
            <a:camera prst="orthographicFront"/>
            <a:lightRig rig="threePt" dir="t"/>
          </a:scene3d>
          <a:sp3d contourW="12700">
            <a:bevelT w="114300" prst="artDeco"/>
            <a:contourClr>
              <a:schemeClr val="tx1"/>
            </a:contourClr>
          </a:sp3d>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350580" y="5883521"/>
            <a:ext cx="1436370" cy="0"/>
          </a:xfrm>
          <a:prstGeom prst="line">
            <a:avLst/>
          </a:prstGeom>
          <a:effectLst>
            <a:glow rad="685800">
              <a:schemeClr val="accent6">
                <a:satMod val="175000"/>
                <a:alpha val="40000"/>
              </a:schemeClr>
            </a:glow>
          </a:effectLst>
          <a:scene3d>
            <a:camera prst="orthographicFront"/>
            <a:lightRig rig="threePt" dir="t"/>
          </a:scene3d>
          <a:sp3d contourW="12700">
            <a:bevelT w="114300" prst="artDeco"/>
            <a:contourClr>
              <a:schemeClr val="tx1"/>
            </a:contourClr>
          </a:sp3d>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3786950" y="1997321"/>
            <a:ext cx="0" cy="3886200"/>
          </a:xfrm>
          <a:prstGeom prst="line">
            <a:avLst/>
          </a:prstGeom>
          <a:effectLst>
            <a:glow rad="685800">
              <a:schemeClr val="accent6">
                <a:satMod val="175000"/>
                <a:alpha val="40000"/>
              </a:schemeClr>
            </a:glow>
          </a:effectLst>
          <a:scene3d>
            <a:camera prst="orthographicFront"/>
            <a:lightRig rig="threePt" dir="t"/>
          </a:scene3d>
          <a:sp3d contourW="12700">
            <a:bevelT w="114300" prst="artDeco"/>
            <a:contourClr>
              <a:schemeClr val="tx1"/>
            </a:contourClr>
          </a:sp3d>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2957790" y="1592714"/>
            <a:ext cx="152400" cy="4267200"/>
            <a:chOff x="6011964" y="1253317"/>
            <a:chExt cx="152400" cy="4267200"/>
          </a:xfrm>
        </p:grpSpPr>
        <p:grpSp>
          <p:nvGrpSpPr>
            <p:cNvPr id="46" name="Group 45"/>
            <p:cNvGrpSpPr/>
            <p:nvPr/>
          </p:nvGrpSpPr>
          <p:grpSpPr>
            <a:xfrm>
              <a:off x="6011964" y="1253317"/>
              <a:ext cx="152400" cy="4267200"/>
              <a:chOff x="3429000" y="838200"/>
              <a:chExt cx="152400" cy="4267200"/>
            </a:xfrm>
            <a:effectLst>
              <a:glow rad="228600">
                <a:schemeClr val="accent2">
                  <a:satMod val="175000"/>
                  <a:alpha val="40000"/>
                </a:schemeClr>
              </a:glow>
            </a:effectLst>
          </p:grpSpPr>
          <p:cxnSp>
            <p:nvCxnSpPr>
              <p:cNvPr id="48" name="Straight Connector 47"/>
              <p:cNvCxnSpPr/>
              <p:nvPr/>
            </p:nvCxnSpPr>
            <p:spPr>
              <a:xfrm>
                <a:off x="3429000" y="838200"/>
                <a:ext cx="0" cy="4267200"/>
              </a:xfrm>
              <a:prstGeom prst="line">
                <a:avLst/>
              </a:prstGeom>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a:off x="3581400" y="838200"/>
                <a:ext cx="0" cy="4267200"/>
              </a:xfrm>
              <a:prstGeom prst="line">
                <a:avLst/>
              </a:prstGeom>
            </p:spPr>
            <p:style>
              <a:lnRef idx="1">
                <a:schemeClr val="dk1"/>
              </a:lnRef>
              <a:fillRef idx="0">
                <a:schemeClr val="dk1"/>
              </a:fillRef>
              <a:effectRef idx="0">
                <a:schemeClr val="dk1"/>
              </a:effectRef>
              <a:fontRef idx="minor">
                <a:schemeClr val="tx1"/>
              </a:fontRef>
            </p:style>
          </p:cxnSp>
        </p:grpSp>
        <p:cxnSp>
          <p:nvCxnSpPr>
            <p:cNvPr id="47" name="Straight Connector 46"/>
            <p:cNvCxnSpPr/>
            <p:nvPr/>
          </p:nvCxnSpPr>
          <p:spPr>
            <a:xfrm flipH="1">
              <a:off x="6011964" y="1264203"/>
              <a:ext cx="152400" cy="0"/>
            </a:xfrm>
            <a:prstGeom prst="line">
              <a:avLst/>
            </a:prstGeom>
          </p:spPr>
          <p:style>
            <a:lnRef idx="1">
              <a:schemeClr val="dk1"/>
            </a:lnRef>
            <a:fillRef idx="0">
              <a:schemeClr val="dk1"/>
            </a:fillRef>
            <a:effectRef idx="0">
              <a:schemeClr val="dk1"/>
            </a:effectRef>
            <a:fontRef idx="minor">
              <a:schemeClr val="tx1"/>
            </a:fontRef>
          </p:style>
        </p:cxnSp>
      </p:grpSp>
      <p:grpSp>
        <p:nvGrpSpPr>
          <p:cNvPr id="50" name="Group 49"/>
          <p:cNvGrpSpPr/>
          <p:nvPr/>
        </p:nvGrpSpPr>
        <p:grpSpPr>
          <a:xfrm>
            <a:off x="4121248" y="4332150"/>
            <a:ext cx="1436370" cy="923330"/>
            <a:chOff x="2743200" y="1308730"/>
            <a:chExt cx="1436370" cy="923330"/>
          </a:xfrm>
        </p:grpSpPr>
        <p:sp>
          <p:nvSpPr>
            <p:cNvPr id="51" name="Oval 50"/>
            <p:cNvSpPr/>
            <p:nvPr/>
          </p:nvSpPr>
          <p:spPr>
            <a:xfrm>
              <a:off x="2743200" y="1639432"/>
              <a:ext cx="1436370"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51"/>
            <p:cNvSpPr/>
            <p:nvPr/>
          </p:nvSpPr>
          <p:spPr>
            <a:xfrm>
              <a:off x="2804991" y="1308730"/>
              <a:ext cx="1327608"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cd 5</a:t>
              </a:r>
            </a:p>
          </p:txBody>
        </p:sp>
      </p:grpSp>
      <p:pic>
        <p:nvPicPr>
          <p:cNvPr id="33" name="Picture 32"/>
          <p:cNvPicPr>
            <a:picLocks noChangeAspect="1"/>
          </p:cNvPicPr>
          <p:nvPr/>
        </p:nvPicPr>
        <p:blipFill rotWithShape="1">
          <a:blip r:embed="rId3">
            <a:extLst>
              <a:ext uri="{28A0092B-C50C-407E-A947-70E740481C1C}">
                <a14:useLocalDpi xmlns:a14="http://schemas.microsoft.com/office/drawing/2010/main" val="0"/>
              </a:ext>
            </a:extLst>
          </a:blip>
          <a:srcRect t="-8501" b="8501"/>
          <a:stretch/>
        </p:blipFill>
        <p:spPr>
          <a:xfrm>
            <a:off x="280012" y="74231"/>
            <a:ext cx="1766963" cy="2629186"/>
          </a:xfrm>
          <a:prstGeom prst="rect">
            <a:avLst/>
          </a:prstGeom>
        </p:spPr>
      </p:pic>
    </p:spTree>
    <p:extLst>
      <p:ext uri="{BB962C8B-B14F-4D97-AF65-F5344CB8AC3E}">
        <p14:creationId xmlns:p14="http://schemas.microsoft.com/office/powerpoint/2010/main" val="425727382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circle(in)">
                                      <p:cBhvr>
                                        <p:cTn id="7" dur="2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nodeType="clickEffect">
                                  <p:stCondLst>
                                    <p:cond delay="0"/>
                                  </p:stCondLst>
                                  <p:childTnLst>
                                    <p:animMotion origin="layout" path="M 3.33333E-6 1.48148E-6 C 0.00039 -0.02014 0.00039 -0.04051 0.00117 -0.06042 C 0.00156 -0.08033 0.00156 -0.07824 0.00338 -0.0919 C 0.00377 -0.09792 0.00416 -0.10394 0.00455 -0.10996 C 0.00494 -0.11528 0.00586 -0.12037 0.00586 -0.1257 C 0.00586 -0.19468 0.00534 -0.2632 0.00455 -0.33195 C 0.00455 -0.33565 0.00117 -0.35347 0.00117 -0.35463 L -0.00235 -0.37477 C -0.00274 -0.37685 -0.00313 -0.37894 -0.00352 -0.38125 C -0.00521 -0.39491 -0.0043 -0.3875 -0.0069 -0.40371 C -0.00729 -0.40602 -0.00743 -0.40857 -0.00808 -0.41042 L -0.01042 -0.41736 C -0.01341 -0.43426 -0.00951 -0.41343 -0.01394 -0.43102 C -0.01719 -0.44375 -0.01198 -0.43171 -0.01849 -0.44421 C -0.01888 -0.44653 -0.01901 -0.44861 -0.01966 -0.45116 C -0.02123 -0.45718 -0.02279 -0.45949 -0.02539 -0.46458 C -0.02578 -0.46667 -0.02604 -0.46921 -0.02657 -0.47107 C -0.02878 -0.47894 -0.03112 -0.48588 -0.03464 -0.49167 C -0.04102 -0.50208 -0.03477 -0.48935 -0.04258 -0.50046 C -0.04675 -0.50602 -0.04493 -0.50764 -0.04948 -0.51158 C -0.05091 -0.51273 -0.05261 -0.51273 -0.05417 -0.51366 C -0.05638 -0.51505 -0.05873 -0.51667 -0.06107 -0.51806 L -0.06797 -0.52315 C -0.06914 -0.52384 -0.07032 -0.52454 -0.07136 -0.52523 C -0.07292 -0.52593 -0.07448 -0.52662 -0.07604 -0.52732 C -0.078 -0.52801 -0.07982 -0.52847 -0.08177 -0.5294 C -0.08724 -0.53241 -0.08412 -0.53333 -0.09206 -0.53403 C -0.10391 -0.53519 -0.11589 -0.53542 -0.12774 -0.53611 C -0.13685 -0.54213 -0.13216 -0.53982 -0.14154 -0.54306 L -0.14844 -0.54746 C -0.15131 -0.54931 -0.15339 -0.5507 -0.15651 -0.55162 C -0.15912 -0.55255 -0.16198 -0.55301 -0.16446 -0.55371 C -0.16836 -0.55347 -0.18933 -0.55324 -0.19792 -0.54954 C -0.20026 -0.54861 -0.20248 -0.54676 -0.20482 -0.54514 C -0.20599 -0.54445 -0.20716 -0.54421 -0.20808 -0.54306 L -0.21511 -0.53403 L -0.21862 -0.5294 C -0.22123 -0.51343 -0.2194 -0.51991 -0.22318 -0.50949 C -0.23256 -0.45301 -0.22318 -0.51181 -0.22318 -0.34537 C -0.22318 -0.24468 -0.22357 -0.14352 -0.22435 -0.04259 C -0.22435 -0.03449 -0.22552 -0.0294 -0.2267 -0.02269 C -0.22761 -0.0088 -0.22904 0.00671 -0.22904 0.02014 C -0.22904 0.10972 -0.23256 0.08495 -0.2267 0.12106 C -0.22552 0.19074 -0.22552 0.16296 -0.22552 0.20417 " pathEditMode="relative" rAng="0" ptsTypes="AAAAAAAAAAAAAAAAAAAAAAAAAAAAAAAAAAAAAAAAAAAA">
                                      <p:cBhvr>
                                        <p:cTn id="11" dur="2000" fill="hold"/>
                                        <p:tgtEl>
                                          <p:spTgt spid="29"/>
                                        </p:tgtEl>
                                        <p:attrNameLst>
                                          <p:attrName>ppt_x</p:attrName>
                                          <p:attrName>ppt_y</p:attrName>
                                        </p:attrNameLst>
                                      </p:cBhvr>
                                      <p:rCtr x="-11211" y="-17477"/>
                                    </p:animMotion>
                                  </p:childTnLst>
                                </p:cTn>
                              </p:par>
                            </p:childTnLst>
                          </p:cTn>
                        </p:par>
                      </p:childTnLst>
                    </p:cTn>
                  </p:par>
                  <p:par>
                    <p:cTn id="12" fill="hold">
                      <p:stCondLst>
                        <p:cond delay="indefinite"/>
                      </p:stCondLst>
                      <p:childTnLst>
                        <p:par>
                          <p:cTn id="13" fill="hold">
                            <p:stCondLst>
                              <p:cond delay="0"/>
                            </p:stCondLst>
                            <p:childTnLst>
                              <p:par>
                                <p:cTn id="14" presetID="0" presetClass="path" presetSubtype="0" accel="50000" decel="50000" fill="hold" nodeType="clickEffect">
                                  <p:stCondLst>
                                    <p:cond delay="0"/>
                                  </p:stCondLst>
                                  <p:childTnLst>
                                    <p:animMotion origin="layout" path="M 3.95833E-6 -3.7037E-6 C 0.00039 -0.01389 0.00078 -0.025 0.00208 -0.03865 C 0.00247 -0.04097 0.00312 -0.04351 0.00325 -0.04676 C 0.0039 -0.05139 0.00403 -0.05601 0.00494 -0.06088 C 0.00403 -0.08541 0.00403 -0.10949 0.00325 -0.13379 C 0.00325 -0.13588 0.00247 -0.13773 0.00208 -0.14004 C 0.00169 -0.14676 0.00156 -0.15324 0.00104 -0.16018 C 0.00065 -0.16551 -0.00157 -0.17615 -0.00235 -0.18032 L -0.00599 -0.19861 C -0.00638 -0.20069 -0.00625 -0.20324 -0.00704 -0.20463 L -0.01055 -0.21088 C -0.01068 -0.21342 -0.01185 -0.22222 -0.01289 -0.22523 C -0.01342 -0.22731 -0.0142 -0.22893 -0.01498 -0.23101 C -0.01719 -0.24189 -0.01576 -0.23564 -0.02097 -0.24953 C -0.02188 -0.25139 -0.02201 -0.25439 -0.02331 -0.25532 L -0.02774 -0.25926 C -0.02878 -0.2618 -0.02891 -0.26435 -0.03034 -0.26574 C -0.03217 -0.26805 -0.03464 -0.26875 -0.03711 -0.26944 C -0.05378 -0.27569 -0.04102 -0.27152 -0.07644 -0.27338 C -0.07878 -0.27453 -0.08099 -0.275 -0.08347 -0.27592 C -0.08477 -0.27639 -0.08568 -0.27754 -0.08685 -0.27801 C -0.09037 -0.2787 -0.09362 -0.27963 -0.0974 -0.27986 C -0.11342 -0.28101 -0.12969 -0.28125 -0.14584 -0.28194 C -0.14935 -0.28264 -0.15287 -0.28287 -0.15625 -0.28379 C -0.15808 -0.28426 -0.16016 -0.28541 -0.16224 -0.28588 C -0.1655 -0.2868 -0.16914 -0.28726 -0.1724 -0.28726 L -0.23034 -0.28588 C -0.23204 -0.28588 -0.2336 -0.28495 -0.2349 -0.28379 C -0.23633 -0.28287 -0.23724 -0.28101 -0.23842 -0.27986 C -0.23959 -0.27893 -0.24076 -0.2787 -0.24193 -0.27801 C -0.2431 -0.27685 -0.24427 -0.27476 -0.24545 -0.27338 C -0.25039 -0.26898 -0.2474 -0.275 -0.25222 -0.26782 C -0.25365 -0.26597 -0.25456 -0.26365 -0.25586 -0.2618 C -0.25795 -0.25856 -0.26276 -0.25347 -0.26276 -0.25324 C -0.2655 -0.23912 -0.26172 -0.25648 -0.26732 -0.2412 C -0.26797 -0.23958 -0.26784 -0.23703 -0.26862 -0.23541 C -0.26914 -0.23264 -0.26993 -0.23101 -0.27084 -0.22893 C -0.27123 -0.22662 -0.27149 -0.22361 -0.27201 -0.22129 C -0.2724 -0.21875 -0.27422 -0.21713 -0.27422 -0.21481 C -0.27605 -0.11944 -0.27552 0.21922 -0.27552 0.26621 " pathEditMode="relative" rAng="0" ptsTypes="AAAAAAAAAAAAAAAAAAAAAAAAAAAAAAAAAAAAAAAA">
                                      <p:cBhvr>
                                        <p:cTn id="15" dur="2000" fill="hold"/>
                                        <p:tgtEl>
                                          <p:spTgt spid="30"/>
                                        </p:tgtEl>
                                        <p:attrNameLst>
                                          <p:attrName>ppt_x</p:attrName>
                                          <p:attrName>ppt_y</p:attrName>
                                        </p:attrNameLst>
                                      </p:cBhvr>
                                      <p:rCtr x="-13542" y="-1065"/>
                                    </p:animMotion>
                                  </p:childTnLst>
                                </p:cTn>
                              </p:par>
                            </p:childTnLst>
                          </p:cTn>
                        </p:par>
                      </p:childTnLst>
                    </p:cTn>
                  </p:par>
                  <p:par>
                    <p:cTn id="16" fill="hold">
                      <p:stCondLst>
                        <p:cond delay="indefinite"/>
                      </p:stCondLst>
                      <p:childTnLst>
                        <p:par>
                          <p:cTn id="17" fill="hold">
                            <p:stCondLst>
                              <p:cond delay="0"/>
                            </p:stCondLst>
                            <p:childTnLst>
                              <p:par>
                                <p:cTn id="18" presetID="0" presetClass="path" presetSubtype="0" accel="50000" decel="50000" fill="hold" nodeType="clickEffect">
                                  <p:stCondLst>
                                    <p:cond delay="0"/>
                                  </p:stCondLst>
                                  <p:childTnLst>
                                    <p:animMotion origin="layout" path="M 3.95833E-6 -1.11111E-6 C 0.00039 -0.00208 0.00039 -0.00602 0.00091 -0.00903 C 0.00143 -0.01134 0.00273 -0.01273 0.00338 -0.01528 C 0.0039 -0.0169 0.00403 -0.01921 0.00455 -0.02106 C 0.0052 -0.02384 0.00612 -0.02592 0.00677 -0.02847 C 0.00768 -0.03241 0.00833 -0.0368 0.00898 -0.04028 C 0.00937 -0.04259 0.00989 -0.04491 0.01015 -0.04699 C 0.01132 -0.05949 0.0108 -0.05324 0.01224 -0.06412 C 0.01263 -0.07963 0.01302 -0.09444 0.01354 -0.10926 C 0.01406 -0.13032 0.01354 -0.12477 0.01562 -0.1368 C 0.01614 -0.14259 0.01653 -0.14745 0.01666 -0.15255 C 0.01757 -0.16736 0.01953 -0.1963 0.01953 -0.19583 C 0.01875 -0.21713 0.01888 -0.23842 0.01783 -0.25903 C 0.0177 -0.26319 0.0164 -0.2669 0.01562 -0.27106 C 0.01523 -0.27361 0.01523 -0.27639 0.01445 -0.2787 C 0.01406 -0.28102 0.01302 -0.28264 0.01224 -0.28495 C 0.01054 -0.2912 0.01211 -0.29097 0.00898 -0.29653 C 0.00807 -0.29815 0.00677 -0.29907 0.00573 -0.30046 C 0.00338 -0.30625 0.00325 -0.30764 3.95833E-6 -0.31227 C -0.00118 -0.31389 -0.00235 -0.31458 -0.00339 -0.3162 C -0.00899 -0.3243 -0.0043 -0.32083 -0.01003 -0.32407 C -0.01628 -0.33125 -0.01211 -0.32731 -0.02266 -0.33217 L -0.02683 -0.33356 L -0.10599 -0.33217 C -0.10795 -0.33217 -0.11706 -0.32778 -0.11823 -0.32616 C -0.12266 -0.32106 -0.12019 -0.32292 -0.12513 -0.32014 C -0.12592 -0.31875 -0.12709 -0.31736 -0.12839 -0.3162 C -0.12956 -0.31528 -0.13086 -0.31574 -0.1319 -0.31435 C -0.1336 -0.31111 -0.13607 -0.30255 -0.13607 -0.30231 C -0.14037 -0.28079 -0.13386 -0.31366 -0.13959 -0.29051 C -0.14063 -0.2868 -0.14115 -0.28287 -0.14167 -0.2787 L -0.14297 -0.27315 C -0.14336 -0.27106 -0.14375 -0.26898 -0.14375 -0.2669 L -0.14375 0.10579 " pathEditMode="relative" rAng="0" ptsTypes="AAAAAAAAAAAAAAAAAAAAAAAAAAAAAAAAAA">
                                      <p:cBhvr>
                                        <p:cTn id="19" dur="2000" fill="hold"/>
                                        <p:tgtEl>
                                          <p:spTgt spid="31"/>
                                        </p:tgtEl>
                                        <p:attrNameLst>
                                          <p:attrName>ppt_x</p:attrName>
                                          <p:attrName>ppt_y</p:attrName>
                                        </p:attrNameLst>
                                      </p:cBhvr>
                                      <p:rCtr x="-6211" y="-11389"/>
                                    </p:animMotion>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nodeType="clickEffect">
                                  <p:stCondLst>
                                    <p:cond delay="0"/>
                                  </p:stCondLst>
                                  <p:childTnLst>
                                    <p:animMotion origin="layout" path="M 3.33333E-6 -2.59259E-6 L 3.33333E-6 0.00023 C -0.00118 -0.01435 -0.00196 -0.0243 -0.00248 -0.03912 C -0.00274 -0.04977 -0.00287 -0.06018 -0.00352 -0.0706 C -0.00365 -0.07268 -0.00391 -0.075 -0.00469 -0.07639 C -0.00586 -0.07963 -0.00782 -0.08171 -0.00938 -0.08426 C -0.01055 -0.08657 -0.0125 -0.08819 -0.01368 -0.09028 C -0.01914 -0.09838 -0.01485 -0.09467 -0.02045 -0.09815 C -0.02813 -0.11111 -0.01993 -0.09907 -0.02735 -0.10602 C -0.02969 -0.1081 -0.03177 -0.11111 -0.03412 -0.11389 C -0.03529 -0.11504 -0.03607 -0.11736 -0.0375 -0.11759 L -0.04219 -0.1199 C -0.0431 -0.12106 -0.04414 -0.12291 -0.04545 -0.12384 C -0.04688 -0.12477 -0.04844 -0.12477 -0.05 -0.12546 C -0.05118 -0.12615 -0.05235 -0.12685 -0.05326 -0.12731 C -0.05482 -0.12824 -0.05638 -0.1287 -0.05795 -0.1294 C -0.06016 -0.13055 -0.06459 -0.13356 -0.06459 -0.13333 C -0.07006 -0.13981 -0.06602 -0.13588 -0.07266 -0.13935 C -0.075 -0.14028 -0.07709 -0.1419 -0.0793 -0.14328 C -0.08047 -0.14375 -0.08164 -0.1449 -0.08282 -0.14514 L -0.08946 -0.14676 C -0.10951 -0.14653 -0.12956 -0.14676 -0.14948 -0.14514 C -0.15183 -0.1449 -0.15404 -0.14259 -0.15638 -0.1412 L -0.15964 -0.13935 C -0.16185 -0.13541 -0.16472 -0.13217 -0.16654 -0.12731 L -0.17097 -0.11574 L -0.17331 -0.10393 L -0.17435 -0.09815 C -0.17474 -0.03727 -0.17487 0.02361 -0.17552 0.08449 C -0.17683 0.23218 -0.1767 0.01528 -0.1767 0.16343 " pathEditMode="relative" rAng="0" ptsTypes="AAAAAAAAAAAAAAAAAAAAAAAAAAAAAA">
                                      <p:cBhvr>
                                        <p:cTn id="23" dur="2000" fill="hold"/>
                                        <p:tgtEl>
                                          <p:spTgt spid="32"/>
                                        </p:tgtEl>
                                        <p:attrNameLst>
                                          <p:attrName>ppt_x</p:attrName>
                                          <p:attrName>ppt_y</p:attrName>
                                        </p:attrNameLst>
                                      </p:cBhvr>
                                      <p:rCtr x="-8841" y="833"/>
                                    </p:animMotion>
                                  </p:childTnLst>
                                </p:cTn>
                              </p:par>
                            </p:childTnLst>
                          </p:cTn>
                        </p:par>
                      </p:childTnLst>
                    </p:cTn>
                  </p:par>
                  <p:par>
                    <p:cTn id="24" fill="hold">
                      <p:stCondLst>
                        <p:cond delay="indefinite"/>
                      </p:stCondLst>
                      <p:childTnLst>
                        <p:par>
                          <p:cTn id="25" fill="hold">
                            <p:stCondLst>
                              <p:cond delay="0"/>
                            </p:stCondLst>
                            <p:childTnLst>
                              <p:par>
                                <p:cTn id="26" presetID="0" presetClass="path" presetSubtype="0" accel="50000" decel="50000" fill="hold" nodeType="clickEffect">
                                  <p:stCondLst>
                                    <p:cond delay="0"/>
                                  </p:stCondLst>
                                  <p:childTnLst>
                                    <p:animMotion origin="layout" path="M 0.0004 -0.04791 C 0.00326 -0.0618 0.00196 -0.05463 0.00482 -0.06967 C 0.00586 -0.07615 0.00586 -0.07592 0.00691 -0.08333 C 0.00769 -0.08819 0.00912 -0.10625 0.01016 -0.10879 C 0.01107 -0.11064 0.01185 -0.1125 0.01251 -0.11435 C 0.01342 -0.11782 0.01407 -0.12523 0.01472 -0.12824 C 0.01472 -0.12801 0.01732 -0.14282 0.0181 -0.14583 C 0.01902 -0.14976 0.01967 -0.15347 0.02019 -0.15763 C 0.02071 -0.16018 0.02071 -0.16273 0.02136 -0.16527 C 0.02188 -0.16805 0.02305 -0.17037 0.02383 -0.17314 C 0.02748 -0.19051 0.02383 -0.17939 0.02787 -0.19074 C 0.02865 -0.19629 0.02943 -0.20277 0.03021 -0.20833 C 0.03112 -0.21226 0.03191 -0.21597 0.03256 -0.2199 C 0.03399 -0.23055 0.03282 -0.22523 0.03568 -0.23564 C 0.03764 -0.25069 0.03659 -0.24213 0.0392 -0.26088 C 0.03959 -0.26365 0.03985 -0.26643 0.0405 -0.26898 C 0.0431 -0.28032 0.04206 -0.27523 0.04376 -0.28449 C 0.04415 -0.29097 0.04428 -0.29745 0.04493 -0.30393 C 0.04506 -0.30671 0.04623 -0.30902 0.04623 -0.3118 C 0.04623 -0.34074 0.04623 -0.36782 0.04376 -0.39583 C 0.04336 -0.39907 0.04297 -0.40208 0.04258 -0.40555 C 0.04076 -0.44259 0.04245 -0.4162 0.0405 -0.44051 C 0.03764 -0.47106 0.03985 -0.45902 0.03698 -0.47384 C 0.03659 -0.47963 0.03646 -0.48564 0.03568 -0.49143 C 0.03555 -0.49351 0.0349 -0.49537 0.0349 -0.49722 C 0.03425 -0.50069 0.03412 -0.50393 0.0336 -0.50694 C 0.03334 -0.50926 0.03269 -0.51088 0.03256 -0.51296 C 0.03217 -0.5162 0.03178 -0.51944 0.03152 -0.52268 C 0.0293 -0.5375 0.03126 -0.51805 0.02917 -0.53634 C 0.02878 -0.54027 0.02839 -0.54421 0.02787 -0.54814 C 0.02774 -0.55023 0.02722 -0.55185 0.02709 -0.55393 C 0.02357 -0.57453 0.02891 -0.5456 0.02383 -0.57338 C 0.02344 -0.57546 0.02318 -0.57754 0.02253 -0.57916 C 0.01693 -0.59398 0.02409 -0.57592 0.01693 -0.59097 C 0.01628 -0.59282 0.01576 -0.59537 0.01472 -0.59699 C 0.01342 -0.5993 0.00847 -0.6037 0.00691 -0.60463 C 0.00586 -0.60555 0.00482 -0.60601 0.00365 -0.60648 C 0.00053 -0.60926 -0.00221 -0.6125 -0.00533 -0.61458 C -0.00638 -0.61504 -0.00755 -0.61597 -0.00859 -0.61643 L -0.01757 -0.62013 C -0.04362 -0.61967 -0.06927 -0.62013 -0.09544 -0.61828 C -0.09791 -0.61828 -0.09999 -0.61574 -0.10222 -0.61458 L -0.10547 -0.6125 C -0.11211 -0.6037 -0.10847 -0.60856 -0.11654 -0.59884 C -0.11758 -0.59768 -0.11902 -0.59652 -0.11993 -0.59513 C -0.12969 -0.57777 -0.11771 -0.59953 -0.12527 -0.58333 C -0.12644 -0.58125 -0.12761 -0.57916 -0.12891 -0.57731 C -0.13243 -0.5581 -0.12631 -0.5875 -0.13308 -0.56551 C -0.13451 -0.56226 -0.13425 -0.5574 -0.13542 -0.55393 C -0.1362 -0.55185 -0.13724 -0.55023 -0.1379 -0.54814 C -0.13881 -0.54444 -0.13933 -0.54027 -0.13998 -0.53634 C -0.14167 -0.52801 -0.14076 -0.5324 -0.14232 -0.52268 C -0.1431 -0.38518 -0.1431 -0.44051 -0.1431 -0.35671 " pathEditMode="relative" rAng="0" ptsTypes="AAAAAAAAAAAAAAAAAAAAAAAAAAAAAAAAAAAAAAAAAAAAAAAAAAAAA">
                                      <p:cBhvr>
                                        <p:cTn id="27" dur="2000" fill="hold"/>
                                        <p:tgtEl>
                                          <p:spTgt spid="50"/>
                                        </p:tgtEl>
                                        <p:attrNameLst>
                                          <p:attrName>ppt_x</p:attrName>
                                          <p:attrName>ppt_y</p:attrName>
                                        </p:attrNameLst>
                                      </p:cBhvr>
                                      <p:rCtr x="-4883" y="-2861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1726" y="289183"/>
            <a:ext cx="7273290" cy="844625"/>
          </a:xfrm>
        </p:spPr>
        <p:txBody>
          <a:bodyPr>
            <a:normAutofit/>
          </a:bodyPr>
          <a:lstStyle/>
          <a:p>
            <a:r>
              <a:rPr lang="en-US" dirty="0">
                <a:solidFill>
                  <a:srgbClr val="CC0066"/>
                </a:solidFill>
              </a:rPr>
              <a:t>Understanding Stack: POP</a:t>
            </a:r>
          </a:p>
        </p:txBody>
      </p:sp>
      <p:grpSp>
        <p:nvGrpSpPr>
          <p:cNvPr id="29" name="Group 28"/>
          <p:cNvGrpSpPr/>
          <p:nvPr/>
        </p:nvGrpSpPr>
        <p:grpSpPr>
          <a:xfrm>
            <a:off x="2350501" y="4742363"/>
            <a:ext cx="1436370" cy="923330"/>
            <a:chOff x="2743200" y="4147218"/>
            <a:chExt cx="1436370" cy="923330"/>
          </a:xfrm>
        </p:grpSpPr>
        <p:sp>
          <p:nvSpPr>
            <p:cNvPr id="28" name="Oval 27"/>
            <p:cNvSpPr/>
            <p:nvPr/>
          </p:nvSpPr>
          <p:spPr>
            <a:xfrm>
              <a:off x="2743200" y="4495345"/>
              <a:ext cx="1436370"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p:nvSpPr>
          <p:spPr>
            <a:xfrm>
              <a:off x="2822977" y="4147218"/>
              <a:ext cx="1306769" cy="923330"/>
            </a:xfrm>
            <a:prstGeom prst="rect">
              <a:avLst/>
            </a:prstGeom>
            <a:noFill/>
          </p:spPr>
          <p:txBody>
            <a:bodyPr wrap="none" lIns="91440" tIns="45720" rIns="91440" bIns="45720">
              <a:spAutoFit/>
            </a:bodyPr>
            <a:lstStyle/>
            <a:p>
              <a:pPr algn="ctr"/>
              <a:r>
                <a:rPr lang="en-US" sz="5400">
                  <a:ln w="0"/>
                  <a:effectLst>
                    <a:outerShdw blurRad="38100" dist="19050" dir="2700000" algn="tl" rotWithShape="0">
                      <a:schemeClr val="dk1">
                        <a:alpha val="40000"/>
                      </a:schemeClr>
                    </a:outerShdw>
                  </a:effectLst>
                </a:rPr>
                <a:t>cd 1</a:t>
              </a:r>
            </a:p>
          </p:txBody>
        </p:sp>
      </p:grpSp>
      <p:grpSp>
        <p:nvGrpSpPr>
          <p:cNvPr id="30" name="Group 29"/>
          <p:cNvGrpSpPr/>
          <p:nvPr/>
        </p:nvGrpSpPr>
        <p:grpSpPr>
          <a:xfrm>
            <a:off x="2365484" y="3964060"/>
            <a:ext cx="1516003" cy="923330"/>
            <a:chOff x="2759470" y="3174552"/>
            <a:chExt cx="1516003" cy="923330"/>
          </a:xfrm>
        </p:grpSpPr>
        <p:sp>
          <p:nvSpPr>
            <p:cNvPr id="27" name="Oval 26"/>
            <p:cNvSpPr/>
            <p:nvPr/>
          </p:nvSpPr>
          <p:spPr>
            <a:xfrm>
              <a:off x="2759470" y="3517546"/>
              <a:ext cx="1407773"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p:cNvSpPr/>
            <p:nvPr/>
          </p:nvSpPr>
          <p:spPr>
            <a:xfrm>
              <a:off x="2887035" y="3174552"/>
              <a:ext cx="1388438" cy="923330"/>
            </a:xfrm>
            <a:prstGeom prst="rect">
              <a:avLst/>
            </a:prstGeom>
            <a:noFill/>
          </p:spPr>
          <p:txBody>
            <a:bodyPr wrap="square" lIns="91440" tIns="45720" rIns="91440" bIns="45720">
              <a:spAutoFit/>
            </a:bodyPr>
            <a:lstStyle/>
            <a:p>
              <a:pPr algn="ctr"/>
              <a:r>
                <a:rPr lang="en-US" sz="5400" dirty="0">
                  <a:ln w="0"/>
                  <a:effectLst>
                    <a:outerShdw blurRad="38100" dist="19050" dir="2700000" algn="tl" rotWithShape="0">
                      <a:schemeClr val="dk1">
                        <a:alpha val="40000"/>
                      </a:schemeClr>
                    </a:outerShdw>
                  </a:effectLst>
                </a:rPr>
                <a:t>cd 2</a:t>
              </a:r>
            </a:p>
          </p:txBody>
        </p:sp>
      </p:grpSp>
      <p:grpSp>
        <p:nvGrpSpPr>
          <p:cNvPr id="31" name="Group 30"/>
          <p:cNvGrpSpPr/>
          <p:nvPr/>
        </p:nvGrpSpPr>
        <p:grpSpPr>
          <a:xfrm>
            <a:off x="2365477" y="3189503"/>
            <a:ext cx="1436370" cy="923330"/>
            <a:chOff x="2759471" y="2194298"/>
            <a:chExt cx="1436370" cy="923330"/>
          </a:xfrm>
        </p:grpSpPr>
        <p:sp>
          <p:nvSpPr>
            <p:cNvPr id="26" name="Oval 25"/>
            <p:cNvSpPr/>
            <p:nvPr/>
          </p:nvSpPr>
          <p:spPr>
            <a:xfrm>
              <a:off x="2759471" y="2553107"/>
              <a:ext cx="1436370"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2883406" y="2194298"/>
              <a:ext cx="1309975" cy="923330"/>
            </a:xfrm>
            <a:prstGeom prst="rect">
              <a:avLst/>
            </a:prstGeom>
            <a:noFill/>
          </p:spPr>
          <p:txBody>
            <a:bodyPr wrap="square" lIns="91440" tIns="45720" rIns="91440" bIns="45720">
              <a:spAutoFit/>
            </a:bodyPr>
            <a:lstStyle/>
            <a:p>
              <a:pPr algn="ctr"/>
              <a:r>
                <a:rPr lang="en-US" sz="5400">
                  <a:ln w="0"/>
                  <a:effectLst>
                    <a:outerShdw blurRad="38100" dist="19050" dir="2700000" algn="tl" rotWithShape="0">
                      <a:schemeClr val="dk1">
                        <a:alpha val="40000"/>
                      </a:schemeClr>
                    </a:outerShdw>
                  </a:effectLst>
                </a:rPr>
                <a:t>cd 3</a:t>
              </a:r>
            </a:p>
          </p:txBody>
        </p:sp>
      </p:grpSp>
      <p:grpSp>
        <p:nvGrpSpPr>
          <p:cNvPr id="32" name="Group 31"/>
          <p:cNvGrpSpPr/>
          <p:nvPr/>
        </p:nvGrpSpPr>
        <p:grpSpPr>
          <a:xfrm>
            <a:off x="2350501" y="2439732"/>
            <a:ext cx="1436370" cy="923330"/>
            <a:chOff x="2743200" y="1308730"/>
            <a:chExt cx="1436370" cy="923330"/>
          </a:xfrm>
        </p:grpSpPr>
        <p:sp>
          <p:nvSpPr>
            <p:cNvPr id="23" name="Oval 22"/>
            <p:cNvSpPr/>
            <p:nvPr/>
          </p:nvSpPr>
          <p:spPr>
            <a:xfrm>
              <a:off x="2743200" y="1639432"/>
              <a:ext cx="1436370"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p:cNvSpPr/>
            <p:nvPr/>
          </p:nvSpPr>
          <p:spPr>
            <a:xfrm>
              <a:off x="2792167" y="1308730"/>
              <a:ext cx="1353256"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cd 4</a:t>
              </a:r>
            </a:p>
          </p:txBody>
        </p:sp>
      </p:grpSp>
      <p:cxnSp>
        <p:nvCxnSpPr>
          <p:cNvPr id="42" name="Straight Connector 41"/>
          <p:cNvCxnSpPr/>
          <p:nvPr/>
        </p:nvCxnSpPr>
        <p:spPr>
          <a:xfrm>
            <a:off x="2350580" y="1997321"/>
            <a:ext cx="0" cy="3886200"/>
          </a:xfrm>
          <a:prstGeom prst="line">
            <a:avLst/>
          </a:prstGeom>
          <a:effectLst>
            <a:glow rad="685800">
              <a:schemeClr val="accent6">
                <a:satMod val="175000"/>
                <a:alpha val="40000"/>
              </a:schemeClr>
            </a:glow>
          </a:effectLst>
          <a:scene3d>
            <a:camera prst="orthographicFront"/>
            <a:lightRig rig="threePt" dir="t"/>
          </a:scene3d>
          <a:sp3d contourW="12700">
            <a:bevelT w="114300" prst="artDeco"/>
            <a:contourClr>
              <a:schemeClr val="tx1"/>
            </a:contourClr>
          </a:sp3d>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2350580" y="5883521"/>
            <a:ext cx="1436370" cy="0"/>
          </a:xfrm>
          <a:prstGeom prst="line">
            <a:avLst/>
          </a:prstGeom>
          <a:effectLst>
            <a:glow rad="685800">
              <a:schemeClr val="accent6">
                <a:satMod val="175000"/>
                <a:alpha val="40000"/>
              </a:schemeClr>
            </a:glow>
          </a:effectLst>
          <a:scene3d>
            <a:camera prst="orthographicFront"/>
            <a:lightRig rig="threePt" dir="t"/>
          </a:scene3d>
          <a:sp3d contourW="12700">
            <a:bevelT w="114300" prst="artDeco"/>
            <a:contourClr>
              <a:schemeClr val="tx1"/>
            </a:contourClr>
          </a:sp3d>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flipV="1">
            <a:off x="3786950" y="1997321"/>
            <a:ext cx="0" cy="3886200"/>
          </a:xfrm>
          <a:prstGeom prst="line">
            <a:avLst/>
          </a:prstGeom>
          <a:effectLst>
            <a:glow rad="685800">
              <a:schemeClr val="accent6">
                <a:satMod val="175000"/>
                <a:alpha val="40000"/>
              </a:schemeClr>
            </a:glow>
          </a:effectLst>
          <a:scene3d>
            <a:camera prst="orthographicFront"/>
            <a:lightRig rig="threePt" dir="t"/>
          </a:scene3d>
          <a:sp3d contourW="12700">
            <a:bevelT w="114300" prst="artDeco"/>
            <a:contourClr>
              <a:schemeClr val="tx1"/>
            </a:contourClr>
          </a:sp3d>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2957790" y="1592714"/>
            <a:ext cx="152400" cy="4267200"/>
            <a:chOff x="6011964" y="1253317"/>
            <a:chExt cx="152400" cy="4267200"/>
          </a:xfrm>
        </p:grpSpPr>
        <p:grpSp>
          <p:nvGrpSpPr>
            <p:cNvPr id="46" name="Group 45"/>
            <p:cNvGrpSpPr/>
            <p:nvPr/>
          </p:nvGrpSpPr>
          <p:grpSpPr>
            <a:xfrm>
              <a:off x="6011964" y="1253317"/>
              <a:ext cx="152400" cy="4267200"/>
              <a:chOff x="3429000" y="838200"/>
              <a:chExt cx="152400" cy="4267200"/>
            </a:xfrm>
            <a:effectLst>
              <a:glow rad="228600">
                <a:schemeClr val="accent2">
                  <a:satMod val="175000"/>
                  <a:alpha val="40000"/>
                </a:schemeClr>
              </a:glow>
            </a:effectLst>
          </p:grpSpPr>
          <p:cxnSp>
            <p:nvCxnSpPr>
              <p:cNvPr id="48" name="Straight Connector 47"/>
              <p:cNvCxnSpPr/>
              <p:nvPr/>
            </p:nvCxnSpPr>
            <p:spPr>
              <a:xfrm>
                <a:off x="3429000" y="838200"/>
                <a:ext cx="0" cy="4267200"/>
              </a:xfrm>
              <a:prstGeom prst="line">
                <a:avLst/>
              </a:prstGeom>
            </p:spPr>
            <p:style>
              <a:lnRef idx="1">
                <a:schemeClr val="dk1"/>
              </a:lnRef>
              <a:fillRef idx="0">
                <a:schemeClr val="dk1"/>
              </a:fillRef>
              <a:effectRef idx="0">
                <a:schemeClr val="dk1"/>
              </a:effectRef>
              <a:fontRef idx="minor">
                <a:schemeClr val="tx1"/>
              </a:fontRef>
            </p:style>
          </p:cxnSp>
          <p:cxnSp>
            <p:nvCxnSpPr>
              <p:cNvPr id="49" name="Straight Connector 48"/>
              <p:cNvCxnSpPr/>
              <p:nvPr/>
            </p:nvCxnSpPr>
            <p:spPr>
              <a:xfrm>
                <a:off x="3581400" y="838200"/>
                <a:ext cx="0" cy="4267200"/>
              </a:xfrm>
              <a:prstGeom prst="line">
                <a:avLst/>
              </a:prstGeom>
            </p:spPr>
            <p:style>
              <a:lnRef idx="1">
                <a:schemeClr val="dk1"/>
              </a:lnRef>
              <a:fillRef idx="0">
                <a:schemeClr val="dk1"/>
              </a:fillRef>
              <a:effectRef idx="0">
                <a:schemeClr val="dk1"/>
              </a:effectRef>
              <a:fontRef idx="minor">
                <a:schemeClr val="tx1"/>
              </a:fontRef>
            </p:style>
          </p:cxnSp>
        </p:grpSp>
        <p:cxnSp>
          <p:nvCxnSpPr>
            <p:cNvPr id="47" name="Straight Connector 46"/>
            <p:cNvCxnSpPr/>
            <p:nvPr/>
          </p:nvCxnSpPr>
          <p:spPr>
            <a:xfrm flipH="1">
              <a:off x="6011964" y="1264203"/>
              <a:ext cx="152400" cy="0"/>
            </a:xfrm>
            <a:prstGeom prst="line">
              <a:avLst/>
            </a:prstGeom>
          </p:spPr>
          <p:style>
            <a:lnRef idx="1">
              <a:schemeClr val="dk1"/>
            </a:lnRef>
            <a:fillRef idx="0">
              <a:schemeClr val="dk1"/>
            </a:fillRef>
            <a:effectRef idx="0">
              <a:schemeClr val="dk1"/>
            </a:effectRef>
            <a:fontRef idx="minor">
              <a:schemeClr val="tx1"/>
            </a:fontRef>
          </p:style>
        </p:cxnSp>
      </p:grpSp>
      <p:grpSp>
        <p:nvGrpSpPr>
          <p:cNvPr id="50" name="Group 49"/>
          <p:cNvGrpSpPr/>
          <p:nvPr/>
        </p:nvGrpSpPr>
        <p:grpSpPr>
          <a:xfrm>
            <a:off x="2336880" y="1647124"/>
            <a:ext cx="1436370" cy="923330"/>
            <a:chOff x="2743200" y="1308730"/>
            <a:chExt cx="1436370" cy="923330"/>
          </a:xfrm>
        </p:grpSpPr>
        <p:sp>
          <p:nvSpPr>
            <p:cNvPr id="51" name="Oval 50"/>
            <p:cNvSpPr/>
            <p:nvPr/>
          </p:nvSpPr>
          <p:spPr>
            <a:xfrm>
              <a:off x="2743200" y="1639432"/>
              <a:ext cx="1436370" cy="39508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Rectangle 51"/>
            <p:cNvSpPr/>
            <p:nvPr/>
          </p:nvSpPr>
          <p:spPr>
            <a:xfrm>
              <a:off x="2804991" y="1308730"/>
              <a:ext cx="1327608" cy="923330"/>
            </a:xfrm>
            <a:prstGeom prst="rect">
              <a:avLst/>
            </a:prstGeom>
            <a:noFill/>
          </p:spPr>
          <p:txBody>
            <a:bodyPr wrap="none" lIns="91440" tIns="45720" rIns="91440" bIns="45720">
              <a:spAutoFit/>
            </a:bodyPr>
            <a:lstStyle/>
            <a:p>
              <a:pPr algn="ctr"/>
              <a:r>
                <a:rPr lang="en-US" sz="5400" dirty="0">
                  <a:ln w="0"/>
                  <a:effectLst>
                    <a:outerShdw blurRad="38100" dist="19050" dir="2700000" algn="tl" rotWithShape="0">
                      <a:schemeClr val="dk1">
                        <a:alpha val="40000"/>
                      </a:schemeClr>
                    </a:outerShdw>
                  </a:effectLst>
                </a:rPr>
                <a:t>cd 5</a:t>
              </a:r>
            </a:p>
          </p:txBody>
        </p:sp>
      </p:grpSp>
      <p:pic>
        <p:nvPicPr>
          <p:cNvPr id="34" name="Picture 33"/>
          <p:cNvPicPr>
            <a:picLocks noChangeAspect="1"/>
          </p:cNvPicPr>
          <p:nvPr/>
        </p:nvPicPr>
        <p:blipFill rotWithShape="1">
          <a:blip r:embed="rId3">
            <a:extLst>
              <a:ext uri="{28A0092B-C50C-407E-A947-70E740481C1C}">
                <a14:useLocalDpi xmlns:a14="http://schemas.microsoft.com/office/drawing/2010/main" val="0"/>
              </a:ext>
            </a:extLst>
          </a:blip>
          <a:srcRect t="-8501" b="8501"/>
          <a:stretch/>
        </p:blipFill>
        <p:spPr>
          <a:xfrm>
            <a:off x="280012" y="74231"/>
            <a:ext cx="1766963" cy="2629186"/>
          </a:xfrm>
          <a:prstGeom prst="rect">
            <a:avLst/>
          </a:prstGeom>
        </p:spPr>
      </p:pic>
      <p:sp>
        <p:nvSpPr>
          <p:cNvPr id="35" name="Explosion 2 34"/>
          <p:cNvSpPr/>
          <p:nvPr/>
        </p:nvSpPr>
        <p:spPr>
          <a:xfrm rot="21108707">
            <a:off x="3989000" y="3030786"/>
            <a:ext cx="6575454" cy="2059165"/>
          </a:xfrm>
          <a:prstGeom prst="irregularSeal2">
            <a:avLst/>
          </a:prstGeom>
          <a:solidFill>
            <a:srgbClr val="00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ln w="0"/>
                <a:solidFill>
                  <a:srgbClr val="CC0066"/>
                </a:solidFill>
                <a:effectLst>
                  <a:outerShdw blurRad="38100" dist="19050" dir="2700000" algn="tl" rotWithShape="0">
                    <a:schemeClr val="dk1">
                      <a:alpha val="40000"/>
                    </a:schemeClr>
                  </a:outerShdw>
                </a:effectLst>
              </a:rPr>
              <a:t>Last In First Out</a:t>
            </a:r>
            <a:br>
              <a:rPr lang="en-IN" sz="3600" b="1" dirty="0">
                <a:ln w="0"/>
                <a:solidFill>
                  <a:srgbClr val="CC0066"/>
                </a:solidFill>
                <a:effectLst>
                  <a:outerShdw blurRad="38100" dist="19050" dir="2700000" algn="tl" rotWithShape="0">
                    <a:schemeClr val="dk1">
                      <a:alpha val="40000"/>
                    </a:schemeClr>
                  </a:outerShdw>
                </a:effectLst>
              </a:rPr>
            </a:br>
            <a:r>
              <a:rPr lang="en-IN" sz="3600" b="1" dirty="0">
                <a:ln w="0"/>
                <a:solidFill>
                  <a:srgbClr val="CC0066"/>
                </a:solidFill>
                <a:effectLst>
                  <a:outerShdw blurRad="38100" dist="19050" dir="2700000" algn="tl" rotWithShape="0">
                    <a:schemeClr val="dk1">
                      <a:alpha val="40000"/>
                    </a:schemeClr>
                  </a:outerShdw>
                </a:effectLst>
              </a:rPr>
              <a:t>LIFO</a:t>
            </a:r>
          </a:p>
        </p:txBody>
      </p:sp>
    </p:spTree>
    <p:extLst>
      <p:ext uri="{BB962C8B-B14F-4D97-AF65-F5344CB8AC3E}">
        <p14:creationId xmlns:p14="http://schemas.microsoft.com/office/powerpoint/2010/main" val="199041476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3.05556E-6 -3.7037E-6 C 0.00296 -0.02037 -0.00069 -0.00255 0.00469 -0.0169 C 0.00539 -0.01898 0.00573 -0.02106 0.00625 -0.02338 C 0.00695 -0.02616 0.00695 -0.02917 0.00782 -0.03171 C 0.00955 -0.03634 0.0125 -0.04005 0.01424 -0.04444 C 0.01528 -0.04722 0.0165 -0.05 0.01737 -0.05301 C 0.01893 -0.05741 0.02136 -0.06782 0.02379 -0.07199 C 0.025 -0.07454 0.02691 -0.07616 0.02848 -0.07824 C 0.029 -0.08055 0.02934 -0.08264 0.03004 -0.08472 C 0.03178 -0.08912 0.03629 -0.0956 0.03803 -0.09954 C 0.03924 -0.10208 0.03993 -0.10532 0.04115 -0.10787 C 0.04254 -0.11088 0.04445 -0.11366 0.04601 -0.11643 C 0.04705 -0.11852 0.04792 -0.12083 0.04914 -0.12268 C 0.05053 -0.125 0.05243 -0.12685 0.05382 -0.12917 C 0.06303 -0.14329 0.05417 -0.1331 0.06337 -0.1419 C 0.06407 -0.14259 0.07275 -0.15139 0.07448 -0.15231 C 0.07917 -0.15509 0.08403 -0.15671 0.08889 -0.1588 C 0.09046 -0.15949 0.09184 -0.16065 0.09358 -0.16088 C 0.11216 -0.16366 0.10313 -0.16227 0.12066 -0.16505 C 0.12223 -0.16574 0.12362 -0.16713 0.12535 -0.16713 C 0.14983 -0.16713 0.14983 -0.16667 0.16667 -0.16296 C 0.16928 -0.16065 0.1757 -0.15509 0.17778 -0.15231 C 0.17969 -0.15 0.18073 -0.14653 0.18247 -0.14398 C 0.18594 -0.13889 0.18993 -0.13403 0.19358 -0.12917 L 0.19844 -0.12268 C 0.20209 -0.10764 0.19688 -0.12592 0.20469 -0.11018 C 0.20573 -0.10833 0.20556 -0.10579 0.20625 -0.1037 C 0.20712 -0.10139 0.20868 -0.09977 0.20955 -0.09745 C 0.21077 -0.09329 0.21164 -0.08889 0.21268 -0.08472 C 0.2132 -0.08264 0.21389 -0.08055 0.21424 -0.07824 C 0.21684 -0.05787 0.21563 -0.06991 0.21737 -0.04236 C 0.21789 -0.00139 0.2191 0.03935 0.2191 0.08033 C 0.2191 0.17986 0.21737 0.2794 0.21737 0.37894 " pathEditMode="relative" ptsTypes="AAAAAAAAAAAAAAAAAAAAAAAAAAAAAAAAA">
                                      <p:cBhvr>
                                        <p:cTn id="6" dur="2000" fill="hold"/>
                                        <p:tgtEl>
                                          <p:spTgt spid="50"/>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56" presetClass="entr" presetSubtype="0" fill="hold" grpId="0" nodeType="clickEffect">
                                  <p:stCondLst>
                                    <p:cond delay="0"/>
                                  </p:stCondLst>
                                  <p:iterate type="lt">
                                    <p:tmPct val="10000"/>
                                  </p:iterate>
                                  <p:childTnLst>
                                    <p:set>
                                      <p:cBhvr>
                                        <p:cTn id="10" dur="1" fill="hold">
                                          <p:stCondLst>
                                            <p:cond delay="0"/>
                                          </p:stCondLst>
                                        </p:cTn>
                                        <p:tgtEl>
                                          <p:spTgt spid="35"/>
                                        </p:tgtEl>
                                        <p:attrNameLst>
                                          <p:attrName>style.visibility</p:attrName>
                                        </p:attrNameLst>
                                      </p:cBhvr>
                                      <p:to>
                                        <p:strVal val="visible"/>
                                      </p:to>
                                    </p:set>
                                    <p:anim by="(-#ppt_w*2)" calcmode="lin" valueType="num">
                                      <p:cBhvr rctx="PPT">
                                        <p:cTn id="11" dur="500" autoRev="1" fill="hold">
                                          <p:stCondLst>
                                            <p:cond delay="0"/>
                                          </p:stCondLst>
                                        </p:cTn>
                                        <p:tgtEl>
                                          <p:spTgt spid="35"/>
                                        </p:tgtEl>
                                        <p:attrNameLst>
                                          <p:attrName>ppt_w</p:attrName>
                                        </p:attrNameLst>
                                      </p:cBhvr>
                                    </p:anim>
                                    <p:anim by="(#ppt_w*0.50)" calcmode="lin" valueType="num">
                                      <p:cBhvr>
                                        <p:cTn id="12" dur="500" decel="50000" autoRev="1" fill="hold">
                                          <p:stCondLst>
                                            <p:cond delay="0"/>
                                          </p:stCondLst>
                                        </p:cTn>
                                        <p:tgtEl>
                                          <p:spTgt spid="35"/>
                                        </p:tgtEl>
                                        <p:attrNameLst>
                                          <p:attrName>ppt_x</p:attrName>
                                        </p:attrNameLst>
                                      </p:cBhvr>
                                    </p:anim>
                                    <p:anim from="(-#ppt_h/2)" to="(#ppt_y)" calcmode="lin" valueType="num">
                                      <p:cBhvr>
                                        <p:cTn id="13" dur="1000" fill="hold">
                                          <p:stCondLst>
                                            <p:cond delay="0"/>
                                          </p:stCondLst>
                                        </p:cTn>
                                        <p:tgtEl>
                                          <p:spTgt spid="35"/>
                                        </p:tgtEl>
                                        <p:attrNameLst>
                                          <p:attrName>ppt_y</p:attrName>
                                        </p:attrNameLst>
                                      </p:cBhvr>
                                    </p:anim>
                                    <p:animRot by="21600000">
                                      <p:cBhvr>
                                        <p:cTn id="14" dur="1000" fill="hold">
                                          <p:stCondLst>
                                            <p:cond delay="0"/>
                                          </p:stCondLst>
                                        </p:cTn>
                                        <p:tgtEl>
                                          <p:spTgt spid="35"/>
                                        </p:tgtEl>
                                        <p:attrNameLst>
                                          <p:attrName>r</p:attrName>
                                        </p:attrNameLst>
                                      </p:cBhvr>
                                    </p:animRot>
                                  </p:childTnLst>
                                </p:cTn>
                              </p:par>
                            </p:childTnLst>
                          </p:cTn>
                        </p:par>
                      </p:childTnLst>
                    </p:cTn>
                  </p:par>
                  <p:par>
                    <p:cTn id="15" fill="hold">
                      <p:stCondLst>
                        <p:cond delay="indefinite"/>
                      </p:stCondLst>
                      <p:childTnLst>
                        <p:par>
                          <p:cTn id="16" fill="hold">
                            <p:stCondLst>
                              <p:cond delay="0"/>
                            </p:stCondLst>
                            <p:childTnLst>
                              <p:par>
                                <p:cTn id="17" presetID="21" presetClass="exit" presetSubtype="1" fill="hold" grpId="1" nodeType="clickEffect">
                                  <p:stCondLst>
                                    <p:cond delay="0"/>
                                  </p:stCondLst>
                                  <p:iterate type="lt">
                                    <p:tmPct val="0"/>
                                  </p:iterate>
                                  <p:childTnLst>
                                    <p:animEffect transition="out" filter="wheel(1)">
                                      <p:cBhvr>
                                        <p:cTn id="18" dur="2000"/>
                                        <p:tgtEl>
                                          <p:spTgt spid="35"/>
                                        </p:tgtEl>
                                      </p:cBhvr>
                                    </p:animEffect>
                                    <p:set>
                                      <p:cBhvr>
                                        <p:cTn id="19" dur="1" fill="hold">
                                          <p:stCondLst>
                                            <p:cond delay="1999"/>
                                          </p:stCondLst>
                                        </p:cTn>
                                        <p:tgtEl>
                                          <p:spTgt spid="35"/>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0" presetClass="path" presetSubtype="0" accel="50000" decel="50000" fill="hold" nodeType="clickEffect">
                                  <p:stCondLst>
                                    <p:cond delay="0"/>
                                  </p:stCondLst>
                                  <p:childTnLst>
                                    <p:animMotion origin="layout" path="M 0.00157 0.00092 C 0.00105 -0.00834 0.00087 -0.0176 -0.00017 -0.02686 C -0.00034 -0.02894 -0.00139 -0.03102 -0.00173 -0.03311 C -0.00711 -0.05556 0.00122 -0.02408 -0.00711 -0.05417 C -0.01128 -0.06945 -0.00625 -0.05047 -0.01059 -0.06898 C -0.01111 -0.0713 -0.0118 -0.07338 -0.01232 -0.07547 C -0.01284 -0.08033 -0.01319 -0.08542 -0.01406 -0.09028 C -0.01441 -0.09306 -0.01562 -0.09584 -0.01579 -0.09861 C -0.01666 -0.11088 -0.01684 -0.12292 -0.01736 -0.13496 C -0.01684 -0.16736 -0.01718 -0.2 -0.01579 -0.23241 C -0.01562 -0.2382 -0.01441 -0.24422 -0.01232 -0.24931 C -0.01111 -0.25232 -0.00989 -0.25486 -0.00885 -0.25787 C -0.00816 -0.25996 -0.00816 -0.2625 -0.00711 -0.26412 C -0.0052 -0.26736 -0.00277 -0.27014 -0.00017 -0.27269 C 0.00851 -0.28102 0.00799 -0.2801 0.01546 -0.28334 C 0.0191 -0.28611 0.02205 -0.29051 0.02605 -0.29167 C 0.03646 -0.29491 0.03056 -0.29329 0.04358 -0.29584 C 0.0573 -0.29537 0.08716 -0.29653 0.10625 -0.29167 C 0.10799 -0.29121 0.10973 -0.29028 0.11146 -0.28959 C 0.11372 -0.28889 0.11598 -0.2882 0.11841 -0.2875 C 0.12066 -0.28611 0.12309 -0.28473 0.12535 -0.28334 C 0.12726 -0.28195 0.12882 -0.2801 0.13073 -0.27894 C 0.13212 -0.27801 0.13403 -0.27755 0.13577 -0.27686 C 0.14115 -0.27199 0.14861 -0.26922 0.15139 -0.26204 C 0.15261 -0.25926 0.1533 -0.25602 0.15504 -0.25371 C 0.15816 -0.24885 0.16268 -0.24584 0.16546 -0.24098 L 0.17587 -0.22199 L 0.17952 -0.21551 L 0.18282 -0.20278 C 0.18351 -0.2007 0.18368 -0.19815 0.18455 -0.1963 C 0.19132 -0.18403 0.18559 -0.19584 0.18993 -0.18357 C 0.1908 -0.18056 0.19236 -0.17801 0.19341 -0.175 C 0.20382 -0.14352 0.18785 -0.18635 0.20018 -0.14121 C 0.20417 -0.12686 0.19966 -0.14468 0.20382 -0.12431 C 0.20417 -0.12223 0.20504 -0.12014 0.20556 -0.11806 C 0.20608 -0.11528 0.20643 -0.11227 0.2073 -0.10949 C 0.20782 -0.10741 0.20834 -0.10533 0.20903 -0.10324 C 0.20973 -0.10023 0.21007 -0.09723 0.21077 -0.09445 C 0.21181 -0.09028 0.21441 -0.08172 0.21441 -0.08148 C 0.21355 -0.06482 0.21337 -0.04792 0.2125 -0.03102 C 0.21216 -0.0257 0.20973 -0.01019 0.2073 -0.00556 L 0.19671 0.01365 C 0.19566 0.01574 0.19445 0.01805 0.19341 0.02014 L 0.18802 0.02847 C 0.18403 0.04352 0.18664 0.0375 0.18108 0.04745 C 0.17691 0.06273 0.17969 0.05648 0.17414 0.06666 C 0.17309 0.07152 0.17101 0.08078 0.17066 0.08564 C 0.17049 0.08842 0.17066 0.0912 0.17066 0.09444 " pathEditMode="relative" rAng="0" ptsTypes="AAAAAAAAAAAAAAAAAAAAAAAAAAAAAAAAAAAAAAAAAAAAAAAA">
                                      <p:cBhvr>
                                        <p:cTn id="23" dur="2000" fill="hold"/>
                                        <p:tgtEl>
                                          <p:spTgt spid="32"/>
                                        </p:tgtEl>
                                        <p:attrNameLst>
                                          <p:attrName>ppt_x</p:attrName>
                                          <p:attrName>ppt_y</p:attrName>
                                        </p:attrNameLst>
                                      </p:cBhvr>
                                      <p:rCtr x="9687" y="-10162"/>
                                    </p:animMotion>
                                  </p:childTnLst>
                                </p:cTn>
                              </p:par>
                            </p:childTnLst>
                          </p:cTn>
                        </p:par>
                      </p:childTnLst>
                    </p:cTn>
                  </p:par>
                  <p:par>
                    <p:cTn id="24" fill="hold">
                      <p:stCondLst>
                        <p:cond delay="indefinite"/>
                      </p:stCondLst>
                      <p:childTnLst>
                        <p:par>
                          <p:cTn id="25" fill="hold">
                            <p:stCondLst>
                              <p:cond delay="0"/>
                            </p:stCondLst>
                            <p:childTnLst>
                              <p:par>
                                <p:cTn id="26" presetID="0" presetClass="path" presetSubtype="0" accel="50000" decel="50000" fill="hold" nodeType="clickEffect">
                                  <p:stCondLst>
                                    <p:cond delay="0"/>
                                  </p:stCondLst>
                                  <p:childTnLst>
                                    <p:animMotion origin="layout" path="M 0.00069 -0.01111 C -0.00035 -0.03797 0.00121 -0.06528 -0.00278 -0.09167 C -0.0033 -0.09584 -0.004 -0.09977 -0.00452 -0.10417 C -0.01094 -0.16528 -0.00226 -0.09283 -0.00782 -0.13912 C -0.0073 -0.19746 -0.0073 -0.25579 -0.00625 -0.31412 C -0.00625 -0.31922 -0.00539 -0.32385 -0.00452 -0.32871 C -0.00365 -0.33287 -0.00105 -0.34097 -0.00105 -0.34074 C -0.00035 -0.34514 3.88889E-6 -0.34931 0.00069 -0.35347 C 0.00173 -0.35741 0.00312 -0.36158 0.00451 -0.36574 L 0.00798 -0.37801 L 0.01128 -0.39028 C 0.01198 -0.39236 0.0118 -0.39514 0.01302 -0.39676 C 0.01475 -0.39861 0.01649 -0.40093 0.01857 -0.40278 C 0.01996 -0.4044 0.02204 -0.40556 0.02378 -0.40672 C 0.02621 -0.4088 0.02812 -0.41135 0.0309 -0.4132 C 0.03229 -0.41435 0.03454 -0.41412 0.03611 -0.41505 C 0.03975 -0.4176 0.0467 -0.42315 0.0467 -0.42315 C 0.04948 -0.42269 0.0526 -0.42222 0.05555 -0.4213 C 0.05902 -0.42014 0.06614 -0.41713 0.06614 -0.4169 C 0.07604 -0.40926 0.06632 -0.41597 0.07656 -0.41111 C 0.07899 -0.40972 0.08125 -0.4081 0.08368 -0.40672 C 0.08541 -0.40602 0.08732 -0.40602 0.08889 -0.40486 C 0.10711 -0.39306 0.09288 -0.39908 0.10486 -0.39468 C 0.11979 -0.38264 0.10086 -0.39699 0.11545 -0.38843 C 0.11736 -0.38727 0.11875 -0.38519 0.12066 -0.38426 C 0.12413 -0.38241 0.12777 -0.38148 0.13125 -0.38033 L 0.13645 -0.37801 C 0.15017 -0.3676 0.14305 -0.3706 0.15764 -0.36783 C 0.15937 -0.36644 0.16128 -0.36505 0.16302 -0.36343 C 0.16527 -0.36181 0.16753 -0.35926 0.16996 -0.35741 C 0.18038 -0.35047 0.17135 -0.36389 0.18576 -0.34699 C 0.20694 -0.32222 0.18211 -0.35047 0.19826 -0.33472 C 0.2085 -0.32477 0.19913 -0.33287 0.20694 -0.32246 C 0.21024 -0.31806 0.21493 -0.31482 0.21753 -0.31019 C 0.22239 -0.30185 0.21927 -0.3051 0.22639 -0.29977 L 0.23698 -0.28125 C 0.23819 -0.27917 0.23889 -0.27685 0.24045 -0.275 L 0.24566 -0.26875 C 0.24895 -0.2581 0.24652 -0.26459 0.25451 -0.25047 L 0.25798 -0.24398 C 0.26458 -0.22153 0.25434 -0.25579 0.26336 -0.23172 C 0.26493 -0.22778 0.26475 -0.22315 0.26684 -0.21945 L 0.27395 -0.20718 C 0.28003 -0.18635 0.271 -0.21852 0.27743 -0.1926 C 0.27864 -0.18843 0.2802 -0.18449 0.2809 -0.18033 C 0.28368 -0.16783 0.28211 -0.17454 0.28628 -0.15972 C 0.28628 -0.15949 0.28975 -0.14746 0.28975 -0.14722 L 0.29323 -0.14097 C 0.29392 -0.13912 0.29427 -0.13704 0.29514 -0.13496 C 0.296 -0.13264 0.29774 -0.13125 0.29861 -0.12871 C 0.30694 -0.10672 0.29774 -0.12408 0.30555 -0.11019 C 0.30798 -0.10232 0.30781 -0.10371 0.30937 -0.09375 C 0.30989 -0.08889 0.31024 -0.08403 0.31111 -0.0794 C 0.31354 -0.06459 0.31284 -0.08264 0.31284 -0.06482 " pathEditMode="relative" rAng="0" ptsTypes="AAAAAAAAAAAAAAAAAAAAAAAAAAAAAAAAAAAAAAAAAAAAAAAAAAAAAA">
                                      <p:cBhvr>
                                        <p:cTn id="27" dur="2000" fill="hold"/>
                                        <p:tgtEl>
                                          <p:spTgt spid="31"/>
                                        </p:tgtEl>
                                        <p:attrNameLst>
                                          <p:attrName>ppt_x</p:attrName>
                                          <p:attrName>ppt_y</p:attrName>
                                        </p:attrNameLst>
                                      </p:cBhvr>
                                      <p:rCtr x="15174" y="-20602"/>
                                    </p:animMotion>
                                  </p:childTnLst>
                                </p:cTn>
                              </p:par>
                            </p:childTnLst>
                          </p:cTn>
                        </p:par>
                      </p:childTnLst>
                    </p:cTn>
                  </p:par>
                  <p:par>
                    <p:cTn id="28" fill="hold">
                      <p:stCondLst>
                        <p:cond delay="indefinite"/>
                      </p:stCondLst>
                      <p:childTnLst>
                        <p:par>
                          <p:cTn id="29" fill="hold">
                            <p:stCondLst>
                              <p:cond delay="0"/>
                            </p:stCondLst>
                            <p:childTnLst>
                              <p:par>
                                <p:cTn id="30" presetID="0" presetClass="path" presetSubtype="0" accel="50000" decel="50000" fill="hold" nodeType="clickEffect">
                                  <p:stCondLst>
                                    <p:cond delay="0"/>
                                  </p:stCondLst>
                                  <p:childTnLst>
                                    <p:animMotion origin="layout" path="M 3.61111E-6 -3.7037E-7 C 0.00052 -0.13125 0.00052 -0.2625 0.00156 -0.39375 C 0.00156 -0.39583 0.00312 -0.39792 0.0033 -0.4 C 0.00434 -0.40926 0.00434 -0.41852 0.00503 -0.42755 C 0.00538 -0.43102 0.00642 -0.43449 0.00677 -0.43819 C 0.00937 -0.45903 0.00729 -0.44931 0.01024 -0.46574 C 0.01059 -0.46736 0.01267 -0.47801 0.01389 -0.48056 C 0.01979 -0.49375 0.02205 -0.49468 0.03107 -0.50579 C 0.03281 -0.50787 0.03489 -0.50972 0.03645 -0.51227 C 0.03767 -0.51435 0.03836 -0.51667 0.03993 -0.51852 C 0.0434 -0.52268 0.046 -0.52315 0.05034 -0.52477 C 0.05729 -0.52407 0.06423 -0.52407 0.07118 -0.52268 C 0.07482 -0.52199 0.0783 -0.51991 0.08159 -0.51852 L 0.08698 -0.51643 C 0.09687 -0.49815 0.0835 -0.51968 0.09548 -0.50787 C 0.11614 -0.48796 0.10225 -0.50023 0.11128 -0.48681 C 0.11284 -0.48449 0.11475 -0.48264 0.11649 -0.48056 C 0.11701 -0.47824 0.11701 -0.47593 0.11823 -0.47407 C 0.11961 -0.47222 0.12187 -0.47153 0.12361 -0.46991 C 0.12552 -0.46806 0.12725 -0.46574 0.12864 -0.46343 C 0.14097 -0.44583 0.12222 -0.46944 0.1375 -0.45093 C 0.13854 -0.44653 0.13906 -0.4419 0.14097 -0.43819 C 0.14201 -0.43611 0.14357 -0.43403 0.14427 -0.43171 C 0.14531 -0.42986 0.14531 -0.42731 0.14618 -0.42546 C 0.14722 -0.42315 0.14878 -0.4213 0.14965 -0.41898 C 0.15139 -0.41481 0.15243 -0.40625 0.15312 -0.40208 C 0.15243 -0.38241 0.15243 -0.36273 0.15139 -0.34282 C 0.15121 -0.34074 0.14895 -0.33866 0.14965 -0.33657 C 0.15034 -0.33426 0.15312 -0.3338 0.15486 -0.33241 C 0.1559 -0.32847 0.15798 -0.32106 0.1585 -0.31759 C 0.15885 -0.3125 0.1585 -0.30764 0.1585 -0.30278 " pathEditMode="relative" rAng="0" ptsTypes="AAAAAAAAAAAAAAAAAAAAAAAAAAAAAAA">
                                      <p:cBhvr>
                                        <p:cTn id="31" dur="2000" fill="hold"/>
                                        <p:tgtEl>
                                          <p:spTgt spid="30"/>
                                        </p:tgtEl>
                                        <p:attrNameLst>
                                          <p:attrName>ppt_x</p:attrName>
                                          <p:attrName>ppt_y</p:attrName>
                                        </p:attrNameLst>
                                      </p:cBhvr>
                                      <p:rCtr x="7917" y="-26250"/>
                                    </p:animMotion>
                                  </p:childTnLst>
                                </p:cTn>
                              </p:par>
                            </p:childTnLst>
                          </p:cTn>
                        </p:par>
                      </p:childTnLst>
                    </p:cTn>
                  </p:par>
                  <p:par>
                    <p:cTn id="32" fill="hold">
                      <p:stCondLst>
                        <p:cond delay="indefinite"/>
                      </p:stCondLst>
                      <p:childTnLst>
                        <p:par>
                          <p:cTn id="33" fill="hold">
                            <p:stCondLst>
                              <p:cond delay="0"/>
                            </p:stCondLst>
                            <p:childTnLst>
                              <p:par>
                                <p:cTn id="34" presetID="0" presetClass="path" presetSubtype="0" accel="50000" decel="50000" fill="hold" nodeType="clickEffect">
                                  <p:stCondLst>
                                    <p:cond delay="0"/>
                                  </p:stCondLst>
                                  <p:childTnLst>
                                    <p:animMotion origin="layout" path="M 4.44444E-6 7.40741E-7 L 4.44444E-6 7.40741E-7 C 0.00104 -0.00718 0.00191 -0.01436 0.00312 -0.0213 C 0.00347 -0.02338 0.00417 -0.02547 0.00469 -0.02755 C 0.00625 -0.0345 0.00677 -0.03936 0.00781 -0.04676 C 0.00833 -0.07917 0.00851 -0.11158 0.00937 -0.14399 C 0.00955 -0.14977 0.01059 -0.15533 0.01111 -0.16088 C 0.0158 -0.2375 0.01007 -0.16899 0.01424 -0.20741 C 0.01476 -0.2132 0.0151 -0.21875 0.0158 -0.22454 C 0.01615 -0.22732 0.01701 -0.2301 0.01736 -0.23287 C 0.02031 -0.25695 0.01719 -0.2426 0.02049 -0.25625 C 0.01996 -0.2794 0.01996 -0.30278 0.01892 -0.32593 C 0.01892 -0.32894 0.01753 -0.33172 0.01736 -0.3345 C 0.01632 -0.36899 0.01649 -0.40371 0.0158 -0.4382 C 0.01528 -0.4588 0.01389 -0.47917 0.01267 -0.49954 C 0.01319 -0.52292 0.01337 -0.54607 0.01424 -0.56945 C 0.01441 -0.57385 0.01753 -0.58982 0.01892 -0.5926 C 0.01996 -0.59491 0.02135 -0.59676 0.02222 -0.59908 C 0.02292 -0.60116 0.02274 -0.60371 0.02378 -0.60533 C 0.02656 -0.61019 0.03073 -0.6132 0.03333 -0.61806 C 0.03767 -0.62686 0.03455 -0.62385 0.04271 -0.62662 C 0.04444 -0.62801 0.04583 -0.62987 0.04757 -0.63079 C 0.05052 -0.63264 0.05434 -0.63264 0.05712 -0.63496 C 0.05868 -0.63635 0.06007 -0.6382 0.0618 -0.63936 C 0.06858 -0.64329 0.07118 -0.64306 0.07778 -0.64561 C 0.07934 -0.6463 0.0809 -0.64723 0.08246 -0.64769 C 0.08698 -0.64931 0.09566 -0.65093 0.1 -0.65186 C 0.10555 -0.65162 0.1368 -0.65232 0.15069 -0.64769 C 0.15399 -0.64676 0.15712 -0.64491 0.16024 -0.64352 L 0.1651 -0.64144 C 0.16667 -0.64075 0.1684 -0.64051 0.16979 -0.63936 C 0.17135 -0.63797 0.17292 -0.63635 0.17448 -0.63496 C 0.19045 -0.62362 0.18299 -0.63056 0.19514 -0.62014 C 0.19844 -0.6176 0.20208 -0.61528 0.20469 -0.61181 L 0.20955 -0.60533 C 0.21233 -0.59422 0.2092 -0.60325 0.2158 -0.5926 C 0.21701 -0.59075 0.21788 -0.58843 0.2191 -0.58635 C 0.22049 -0.58403 0.2224 -0.58241 0.22378 -0.5801 C 0.225 -0.57801 0.22569 -0.5757 0.22691 -0.57362 C 0.22847 -0.5713 0.23021 -0.56945 0.23177 -0.56737 C 0.23455 -0.5632 0.23715 -0.55903 0.23958 -0.55463 C 0.24462 -0.5463 0.24132 -0.54908 0.24757 -0.53982 C 0.25052 -0.53542 0.25399 -0.53125 0.25712 -0.52709 C 0.25868 -0.525 0.26059 -0.52315 0.2618 -0.52084 C 0.26406 -0.51644 0.26597 -0.51204 0.26823 -0.50811 C 0.27899 -0.48912 0.27483 -0.497 0.2809 -0.48473 C 0.28281 -0.47755 0.28142 -0.4801 0.2842 -0.47639 " pathEditMode="relative" ptsTypes="AAAAAAAAAAAAAAAAAAAAAAAAAAAAAAAAAAAAAAAAAAAAAAA">
                                      <p:cBhvr>
                                        <p:cTn id="35" dur="2000" fill="hold"/>
                                        <p:tgtEl>
                                          <p:spTgt spid="29"/>
                                        </p:tgtEl>
                                        <p:attrNameLst>
                                          <p:attrName>ppt_x</p:attrName>
                                          <p:attrName>ppt_y</p:attrName>
                                        </p:attrNameLst>
                                      </p:cBhvr>
                                    </p:animMotion>
                                  </p:childTnLst>
                                </p:cTn>
                              </p:par>
                            </p:childTnLst>
                          </p:cTn>
                        </p:par>
                      </p:childTnLst>
                    </p:cTn>
                  </p:par>
                  <p:par>
                    <p:cTn id="36" fill="hold">
                      <p:stCondLst>
                        <p:cond delay="indefinite"/>
                      </p:stCondLst>
                      <p:childTnLst>
                        <p:par>
                          <p:cTn id="37" fill="hold">
                            <p:stCondLst>
                              <p:cond delay="0"/>
                            </p:stCondLst>
                            <p:childTnLst>
                              <p:par>
                                <p:cTn id="38" presetID="6" presetClass="entr" presetSubtype="16"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circle(in)">
                                      <p:cBhvr>
                                        <p:cTn id="40" dur="20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57434"/>
            <a:ext cx="10820400" cy="1356360"/>
          </a:xfrm>
        </p:spPr>
        <p:txBody>
          <a:bodyPr>
            <a:normAutofit/>
          </a:bodyPr>
          <a:lstStyle/>
          <a:p>
            <a:r>
              <a:rPr lang="en-US" b="1" dirty="0">
                <a:solidFill>
                  <a:srgbClr val="CC0066"/>
                </a:solidFill>
                <a:latin typeface="MV Boli" panose="02000500030200090000" pitchFamily="2" charset="0"/>
                <a:cs typeface="MV Boli" panose="02000500030200090000" pitchFamily="2" charset="0"/>
              </a:rPr>
              <a:t>ARRAY REPRESENTATION OF STACKS</a:t>
            </a:r>
            <a:endParaRPr lang="en-US" dirty="0">
              <a:solidFill>
                <a:srgbClr val="CC0066"/>
              </a:solidFill>
              <a:latin typeface="MV Boli" panose="02000500030200090000" pitchFamily="2" charset="0"/>
              <a:cs typeface="MV Boli" panose="02000500030200090000" pitchFamily="2" charset="0"/>
            </a:endParaRPr>
          </a:p>
        </p:txBody>
      </p:sp>
      <p:sp>
        <p:nvSpPr>
          <p:cNvPr id="7" name="Content Placeholder 6" hidden="1"/>
          <p:cNvSpPr>
            <a:spLocks noGrp="1"/>
          </p:cNvSpPr>
          <p:nvPr>
            <p:ph idx="1"/>
          </p:nvPr>
        </p:nvSpPr>
        <p:spPr>
          <a:xfrm>
            <a:off x="2381251" y="1965960"/>
            <a:ext cx="7404657" cy="4130040"/>
          </a:xfrm>
        </p:spPr>
        <p:txBody>
          <a:bodyPr/>
          <a:lstStyle/>
          <a:p>
            <a:pPr lvl="8"/>
            <a:endParaRPr lang="en-IN" dirty="0"/>
          </a:p>
        </p:txBody>
      </p:sp>
      <p:sp>
        <p:nvSpPr>
          <p:cNvPr id="3" name="Oval Callout 2"/>
          <p:cNvSpPr/>
          <p:nvPr/>
        </p:nvSpPr>
        <p:spPr>
          <a:xfrm rot="7318293">
            <a:off x="5326831" y="3208986"/>
            <a:ext cx="2895600" cy="2667000"/>
          </a:xfrm>
          <a:prstGeom prst="wedgeEllipseCallout">
            <a:avLst/>
          </a:prstGeom>
          <a:gradFill flip="none" rotWithShape="1">
            <a:gsLst>
              <a:gs pos="0">
                <a:schemeClr val="accent3">
                  <a:lumMod val="67000"/>
                </a:schemeClr>
              </a:gs>
              <a:gs pos="75000">
                <a:srgbClr val="55F22A"/>
              </a:gs>
              <a:gs pos="100000">
                <a:schemeClr val="accent3">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scene3d>
              <a:camera prst="orthographicFront">
                <a:rot lat="0" lon="300000" rev="7200000"/>
              </a:camera>
              <a:lightRig rig="threePt" dir="t"/>
            </a:scene3d>
          </a:bodyPr>
          <a:lstStyle/>
          <a:p>
            <a:pPr algn="ctr"/>
            <a:r>
              <a:rPr lang="en-IN" sz="2800" b="1" dirty="0"/>
              <a:t>Through this  top,  one can do pop or  push operation</a:t>
            </a:r>
          </a:p>
          <a:p>
            <a:pPr algn="ctr"/>
            <a:endParaRPr lang="en-IN" dirty="0"/>
          </a:p>
        </p:txBody>
      </p:sp>
      <p:graphicFrame>
        <p:nvGraphicFramePr>
          <p:cNvPr id="5" name="Table 4"/>
          <p:cNvGraphicFramePr>
            <a:graphicFrameLocks noGrp="1"/>
          </p:cNvGraphicFramePr>
          <p:nvPr>
            <p:extLst>
              <p:ext uri="{D42A27DB-BD31-4B8C-83A1-F6EECF244321}">
                <p14:modId xmlns:p14="http://schemas.microsoft.com/office/powerpoint/2010/main" val="1750211606"/>
              </p:ext>
            </p:extLst>
          </p:nvPr>
        </p:nvGraphicFramePr>
        <p:xfrm>
          <a:off x="914400" y="2148839"/>
          <a:ext cx="6324600" cy="1036320"/>
        </p:xfrm>
        <a:graphic>
          <a:graphicData uri="http://schemas.openxmlformats.org/drawingml/2006/table">
            <a:tbl>
              <a:tblPr firstRow="1" bandRow="1">
                <a:tableStyleId>{5C22544A-7EE6-4342-B048-85BDC9FD1C3A}</a:tableStyleId>
              </a:tblPr>
              <a:tblGrid>
                <a:gridCol w="632460">
                  <a:extLst>
                    <a:ext uri="{9D8B030D-6E8A-4147-A177-3AD203B41FA5}">
                      <a16:colId xmlns:a16="http://schemas.microsoft.com/office/drawing/2014/main" val="2463479426"/>
                    </a:ext>
                  </a:extLst>
                </a:gridCol>
                <a:gridCol w="790575">
                  <a:extLst>
                    <a:ext uri="{9D8B030D-6E8A-4147-A177-3AD203B41FA5}">
                      <a16:colId xmlns:a16="http://schemas.microsoft.com/office/drawing/2014/main" val="386935132"/>
                    </a:ext>
                  </a:extLst>
                </a:gridCol>
                <a:gridCol w="948690">
                  <a:extLst>
                    <a:ext uri="{9D8B030D-6E8A-4147-A177-3AD203B41FA5}">
                      <a16:colId xmlns:a16="http://schemas.microsoft.com/office/drawing/2014/main" val="3788664197"/>
                    </a:ext>
                  </a:extLst>
                </a:gridCol>
                <a:gridCol w="1264920">
                  <a:extLst>
                    <a:ext uri="{9D8B030D-6E8A-4147-A177-3AD203B41FA5}">
                      <a16:colId xmlns:a16="http://schemas.microsoft.com/office/drawing/2014/main" val="4035089841"/>
                    </a:ext>
                  </a:extLst>
                </a:gridCol>
                <a:gridCol w="1502093">
                  <a:extLst>
                    <a:ext uri="{9D8B030D-6E8A-4147-A177-3AD203B41FA5}">
                      <a16:colId xmlns:a16="http://schemas.microsoft.com/office/drawing/2014/main" val="4772010"/>
                    </a:ext>
                  </a:extLst>
                </a:gridCol>
                <a:gridCol w="590853">
                  <a:extLst>
                    <a:ext uri="{9D8B030D-6E8A-4147-A177-3AD203B41FA5}">
                      <a16:colId xmlns:a16="http://schemas.microsoft.com/office/drawing/2014/main" val="3838024347"/>
                    </a:ext>
                  </a:extLst>
                </a:gridCol>
                <a:gridCol w="595009">
                  <a:extLst>
                    <a:ext uri="{9D8B030D-6E8A-4147-A177-3AD203B41FA5}">
                      <a16:colId xmlns:a16="http://schemas.microsoft.com/office/drawing/2014/main" val="2980529650"/>
                    </a:ext>
                  </a:extLst>
                </a:gridCol>
              </a:tblGrid>
              <a:tr h="370840">
                <a:tc>
                  <a:txBody>
                    <a:bodyPr/>
                    <a:lstStyle/>
                    <a:p>
                      <a:pPr algn="ctr"/>
                      <a:r>
                        <a:rPr lang="en-IN" sz="2800" b="1" dirty="0">
                          <a:solidFill>
                            <a:srgbClr val="CC0066"/>
                          </a:solidFill>
                        </a:rPr>
                        <a:t>A</a:t>
                      </a:r>
                    </a:p>
                  </a:txBody>
                  <a:tcPr>
                    <a:lnB w="38100" cmpd="sng">
                      <a:noFill/>
                    </a:lnB>
                  </a:tcPr>
                </a:tc>
                <a:tc>
                  <a:txBody>
                    <a:bodyPr/>
                    <a:lstStyle/>
                    <a:p>
                      <a:pPr algn="ctr"/>
                      <a:r>
                        <a:rPr lang="en-IN" sz="2800" b="1" dirty="0">
                          <a:solidFill>
                            <a:srgbClr val="CC0066"/>
                          </a:solidFill>
                        </a:rPr>
                        <a:t>B</a:t>
                      </a:r>
                    </a:p>
                  </a:txBody>
                  <a:tcPr>
                    <a:lnB w="38100" cmpd="sng">
                      <a:noFill/>
                    </a:lnB>
                  </a:tcPr>
                </a:tc>
                <a:tc>
                  <a:txBody>
                    <a:bodyPr/>
                    <a:lstStyle/>
                    <a:p>
                      <a:pPr algn="ctr"/>
                      <a:r>
                        <a:rPr lang="en-IN" sz="2800" b="1" dirty="0">
                          <a:solidFill>
                            <a:srgbClr val="CC0066"/>
                          </a:solidFill>
                        </a:rPr>
                        <a:t>C</a:t>
                      </a:r>
                    </a:p>
                  </a:txBody>
                  <a:tcPr>
                    <a:lnB w="38100" cmpd="sng">
                      <a:noFill/>
                    </a:lnB>
                  </a:tcPr>
                </a:tc>
                <a:tc>
                  <a:txBody>
                    <a:bodyPr/>
                    <a:lstStyle/>
                    <a:p>
                      <a:pPr algn="ctr"/>
                      <a:r>
                        <a:rPr lang="en-IN" sz="2800" b="1" dirty="0">
                          <a:solidFill>
                            <a:srgbClr val="CC0066"/>
                          </a:solidFill>
                        </a:rPr>
                        <a:t>D</a:t>
                      </a:r>
                    </a:p>
                  </a:txBody>
                  <a:tcPr>
                    <a:lnB w="38100" cmpd="sng">
                      <a:noFill/>
                    </a:lnB>
                  </a:tcPr>
                </a:tc>
                <a:tc>
                  <a:txBody>
                    <a:bodyPr/>
                    <a:lstStyle/>
                    <a:p>
                      <a:pPr algn="ctr"/>
                      <a:r>
                        <a:rPr lang="en-IN" sz="2800" b="1" dirty="0">
                          <a:solidFill>
                            <a:srgbClr val="CC0066"/>
                          </a:solidFill>
                        </a:rPr>
                        <a:t>E</a:t>
                      </a:r>
                    </a:p>
                  </a:txBody>
                  <a:tcPr>
                    <a:lnB w="38100" cmpd="sng">
                      <a:noFill/>
                    </a:lnB>
                  </a:tcPr>
                </a:tc>
                <a:tc>
                  <a:txBody>
                    <a:bodyPr/>
                    <a:lstStyle/>
                    <a:p>
                      <a:pPr algn="ctr"/>
                      <a:endParaRPr lang="en-IN"/>
                    </a:p>
                  </a:txBody>
                  <a:tcPr>
                    <a:lnB w="38100" cmpd="sng">
                      <a:noFill/>
                    </a:lnB>
                  </a:tcPr>
                </a:tc>
                <a:tc>
                  <a:txBody>
                    <a:bodyPr/>
                    <a:lstStyle/>
                    <a:p>
                      <a:pPr algn="ctr"/>
                      <a:endParaRPr lang="en-IN" dirty="0"/>
                    </a:p>
                  </a:txBody>
                  <a:tcPr>
                    <a:lnB w="38100" cmpd="sng">
                      <a:noFill/>
                    </a:lnB>
                  </a:tcPr>
                </a:tc>
                <a:extLst>
                  <a:ext uri="{0D108BD9-81ED-4DB2-BD59-A6C34878D82A}">
                    <a16:rowId xmlns:a16="http://schemas.microsoft.com/office/drawing/2014/main" val="1411656815"/>
                  </a:ext>
                </a:extLst>
              </a:tr>
              <a:tr h="370840">
                <a:tc>
                  <a:txBody>
                    <a:bodyPr/>
                    <a:lstStyle/>
                    <a:p>
                      <a:pPr algn="ctr"/>
                      <a:r>
                        <a:rPr lang="en-IN" sz="2800" b="1" dirty="0">
                          <a:solidFill>
                            <a:srgbClr val="CC0066"/>
                          </a:solidFill>
                        </a:rPr>
                        <a:t>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IN" sz="2800" b="1" dirty="0">
                          <a:solidFill>
                            <a:srgbClr val="CC0066"/>
                          </a:solidFill>
                        </a:rPr>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IN" sz="2800" b="1" dirty="0">
                          <a:solidFill>
                            <a:srgbClr val="CC0066"/>
                          </a:solidFill>
                        </a:rPr>
                        <a:t>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IN" sz="2800" b="1" dirty="0">
                          <a:solidFill>
                            <a:srgbClr val="CC0066"/>
                          </a:solidFill>
                        </a:rPr>
                        <a:t>3</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ctr"/>
                      <a:r>
                        <a:rPr lang="en-IN" sz="2800" b="1" dirty="0">
                          <a:solidFill>
                            <a:srgbClr val="CC0066"/>
                          </a:solidFill>
                        </a:rPr>
                        <a:t>TOP=4</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F00"/>
                    </a:solidFill>
                  </a:tcPr>
                </a:tc>
                <a:tc>
                  <a:txBody>
                    <a:bodyPr/>
                    <a:lstStyle/>
                    <a:p>
                      <a:pPr marL="0" algn="ctr" defTabSz="685800" rtl="0" eaLnBrk="1" latinLnBrk="0" hangingPunct="1"/>
                      <a:r>
                        <a:rPr lang="en-IN" sz="2800" b="1" kern="1200" dirty="0">
                          <a:solidFill>
                            <a:srgbClr val="CC0066"/>
                          </a:solidFill>
                          <a:latin typeface="+mn-lt"/>
                          <a:ea typeface="+mn-ea"/>
                          <a:cs typeface="+mn-cs"/>
                        </a:rPr>
                        <a:t>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algn="ctr" defTabSz="685800" rtl="0" eaLnBrk="1" latinLnBrk="0" hangingPunct="1"/>
                      <a:r>
                        <a:rPr lang="en-IN" sz="2800" b="1" kern="1200" dirty="0">
                          <a:solidFill>
                            <a:srgbClr val="CC0066"/>
                          </a:solidFill>
                          <a:latin typeface="+mn-lt"/>
                          <a:ea typeface="+mn-ea"/>
                          <a:cs typeface="+mn-cs"/>
                        </a:rPr>
                        <a:t>6</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95684549"/>
                  </a:ext>
                </a:extLst>
              </a:tr>
            </a:tbl>
          </a:graphicData>
        </a:graphic>
      </p:graphicFrame>
      <p:pic>
        <p:nvPicPr>
          <p:cNvPr id="4" name="Picture 3"/>
          <p:cNvPicPr>
            <a:picLocks noChangeAspect="1"/>
          </p:cNvPicPr>
          <p:nvPr/>
        </p:nvPicPr>
        <p:blipFill>
          <a:blip r:embed="rId4"/>
          <a:stretch>
            <a:fillRect/>
          </a:stretch>
        </p:blipFill>
        <p:spPr>
          <a:xfrm>
            <a:off x="280190" y="3414848"/>
            <a:ext cx="3225010" cy="2993506"/>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edge">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wheel(1)">
                                      <p:cBhvr>
                                        <p:cTn id="25"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43447"/>
            <a:ext cx="9220200" cy="1371600"/>
          </a:xfrm>
        </p:spPr>
        <p:txBody>
          <a:bodyPr>
            <a:normAutofit/>
          </a:bodyPr>
          <a:lstStyle/>
          <a:p>
            <a:r>
              <a:rPr lang="en-US" b="1" dirty="0">
                <a:solidFill>
                  <a:srgbClr val="FF0000"/>
                </a:solidFill>
                <a:latin typeface="MV Boli" panose="02000500030200090000" pitchFamily="2" charset="0"/>
                <a:cs typeface="MV Boli" panose="02000500030200090000" pitchFamily="2" charset="0"/>
              </a:rPr>
              <a:t>OPERATIONS ON A STACK</a:t>
            </a:r>
            <a:endParaRPr lang="en-US" dirty="0">
              <a:solidFill>
                <a:srgbClr val="FF0000"/>
              </a:solidFill>
              <a:latin typeface="MV Boli" panose="02000500030200090000" pitchFamily="2" charset="0"/>
              <a:cs typeface="MV Boli" panose="02000500030200090000" pitchFamily="2" charset="0"/>
            </a:endParaRPr>
          </a:p>
        </p:txBody>
      </p:sp>
      <p:sp>
        <p:nvSpPr>
          <p:cNvPr id="3" name="Content Placeholder 2"/>
          <p:cNvSpPr>
            <a:spLocks noGrp="1"/>
          </p:cNvSpPr>
          <p:nvPr>
            <p:ph idx="1"/>
          </p:nvPr>
        </p:nvSpPr>
        <p:spPr>
          <a:xfrm>
            <a:off x="533400" y="1615047"/>
            <a:ext cx="8229600" cy="762000"/>
          </a:xfrm>
        </p:spPr>
        <p:txBody>
          <a:bodyPr/>
          <a:lstStyle/>
          <a:p>
            <a:pPr marL="45720" indent="0">
              <a:buNone/>
            </a:pPr>
            <a:r>
              <a:rPr lang="en-US" sz="3200" b="1" u="sng" dirty="0">
                <a:ln w="0"/>
                <a:solidFill>
                  <a:schemeClr val="tx1"/>
                </a:solidFill>
                <a:effectLst>
                  <a:outerShdw blurRad="38100" dist="19050" dir="2700000" algn="tl" rotWithShape="0">
                    <a:schemeClr val="dk1">
                      <a:alpha val="40000"/>
                    </a:schemeClr>
                  </a:outerShdw>
                </a:effectLst>
                <a:latin typeface="MV Boli" panose="02000500030200090000" pitchFamily="2" charset="0"/>
                <a:cs typeface="MV Boli" panose="02000500030200090000" pitchFamily="2" charset="0"/>
              </a:rPr>
              <a:t>Push Operation</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567439936"/>
              </p:ext>
            </p:extLst>
          </p:nvPr>
        </p:nvGraphicFramePr>
        <p:xfrm>
          <a:off x="625665" y="2377047"/>
          <a:ext cx="8128001" cy="10363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643682513"/>
                    </a:ext>
                  </a:extLst>
                </a:gridCol>
                <a:gridCol w="1161143">
                  <a:extLst>
                    <a:ext uri="{9D8B030D-6E8A-4147-A177-3AD203B41FA5}">
                      <a16:colId xmlns:a16="http://schemas.microsoft.com/office/drawing/2014/main" val="3726143715"/>
                    </a:ext>
                  </a:extLst>
                </a:gridCol>
                <a:gridCol w="1161143">
                  <a:extLst>
                    <a:ext uri="{9D8B030D-6E8A-4147-A177-3AD203B41FA5}">
                      <a16:colId xmlns:a16="http://schemas.microsoft.com/office/drawing/2014/main" val="1992198482"/>
                    </a:ext>
                  </a:extLst>
                </a:gridCol>
                <a:gridCol w="1161143">
                  <a:extLst>
                    <a:ext uri="{9D8B030D-6E8A-4147-A177-3AD203B41FA5}">
                      <a16:colId xmlns:a16="http://schemas.microsoft.com/office/drawing/2014/main" val="804275624"/>
                    </a:ext>
                  </a:extLst>
                </a:gridCol>
                <a:gridCol w="1161143">
                  <a:extLst>
                    <a:ext uri="{9D8B030D-6E8A-4147-A177-3AD203B41FA5}">
                      <a16:colId xmlns:a16="http://schemas.microsoft.com/office/drawing/2014/main" val="2972460688"/>
                    </a:ext>
                  </a:extLst>
                </a:gridCol>
                <a:gridCol w="1161143">
                  <a:extLst>
                    <a:ext uri="{9D8B030D-6E8A-4147-A177-3AD203B41FA5}">
                      <a16:colId xmlns:a16="http://schemas.microsoft.com/office/drawing/2014/main" val="2570576882"/>
                    </a:ext>
                  </a:extLst>
                </a:gridCol>
                <a:gridCol w="1161143">
                  <a:extLst>
                    <a:ext uri="{9D8B030D-6E8A-4147-A177-3AD203B41FA5}">
                      <a16:colId xmlns:a16="http://schemas.microsoft.com/office/drawing/2014/main" val="2273809226"/>
                    </a:ext>
                  </a:extLst>
                </a:gridCol>
              </a:tblGrid>
              <a:tr h="370840">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1</a:t>
                      </a:r>
                    </a:p>
                  </a:txBody>
                  <a:tcPr>
                    <a:lnB w="38100" cmpd="sng">
                      <a:noFill/>
                    </a:lnB>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2</a:t>
                      </a:r>
                    </a:p>
                  </a:txBody>
                  <a:tcPr>
                    <a:lnB w="38100" cmpd="sng">
                      <a:noFill/>
                    </a:lnB>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3</a:t>
                      </a:r>
                    </a:p>
                  </a:txBody>
                  <a:tcPr>
                    <a:lnB w="38100" cmpd="sng">
                      <a:noFill/>
                    </a:lnB>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4</a:t>
                      </a:r>
                    </a:p>
                  </a:txBody>
                  <a:tcPr>
                    <a:lnB w="38100" cmpd="sng">
                      <a:noFill/>
                    </a:lnB>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5</a:t>
                      </a:r>
                    </a:p>
                  </a:txBody>
                  <a:tcPr>
                    <a:lnB w="38100" cmpd="sng">
                      <a:noFill/>
                    </a:lnB>
                  </a:tcPr>
                </a:tc>
                <a:tc>
                  <a:txBody>
                    <a:bodyPr/>
                    <a:lstStyle/>
                    <a:p>
                      <a:pPr marL="0" algn="ctr" defTabSz="914400" rtl="0" eaLnBrk="1" latinLnBrk="0" hangingPunct="1"/>
                      <a:endParaRPr lang="en-IN" sz="2800" kern="1200" dirty="0">
                        <a:solidFill>
                          <a:schemeClr val="dk1"/>
                        </a:solidFill>
                        <a:latin typeface="Calibri" panose="020F0502020204030204" pitchFamily="34" charset="0"/>
                        <a:ea typeface="+mn-ea"/>
                        <a:cs typeface="Calibri" panose="020F0502020204030204" pitchFamily="34" charset="0"/>
                      </a:endParaRPr>
                    </a:p>
                  </a:txBody>
                  <a:tcPr>
                    <a:lnB w="38100" cmpd="sng">
                      <a:noFill/>
                    </a:lnB>
                  </a:tcPr>
                </a:tc>
                <a:tc>
                  <a:txBody>
                    <a:bodyPr/>
                    <a:lstStyle/>
                    <a:p>
                      <a:pPr marL="0" algn="ctr" defTabSz="914400" rtl="0" eaLnBrk="1" latinLnBrk="0" hangingPunct="1"/>
                      <a:endParaRPr lang="en-IN" sz="2800" kern="1200" dirty="0">
                        <a:solidFill>
                          <a:schemeClr val="dk1"/>
                        </a:solidFill>
                        <a:latin typeface="Calibri" panose="020F0502020204030204" pitchFamily="34" charset="0"/>
                        <a:ea typeface="+mn-ea"/>
                        <a:cs typeface="Calibri" panose="020F0502020204030204" pitchFamily="34" charset="0"/>
                      </a:endParaRPr>
                    </a:p>
                  </a:txBody>
                  <a:tcPr>
                    <a:lnB w="38100" cmpd="sng">
                      <a:noFill/>
                    </a:lnB>
                  </a:tcPr>
                </a:tc>
                <a:extLst>
                  <a:ext uri="{0D108BD9-81ED-4DB2-BD59-A6C34878D82A}">
                    <a16:rowId xmlns:a16="http://schemas.microsoft.com/office/drawing/2014/main" val="2497629343"/>
                  </a:ext>
                </a:extLst>
              </a:tr>
              <a:tr h="370840">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3</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TOP=4</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6</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09843430"/>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3010553973"/>
              </p:ext>
            </p:extLst>
          </p:nvPr>
        </p:nvGraphicFramePr>
        <p:xfrm>
          <a:off x="634999" y="4263553"/>
          <a:ext cx="8128001" cy="10363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643682513"/>
                    </a:ext>
                  </a:extLst>
                </a:gridCol>
                <a:gridCol w="1161143">
                  <a:extLst>
                    <a:ext uri="{9D8B030D-6E8A-4147-A177-3AD203B41FA5}">
                      <a16:colId xmlns:a16="http://schemas.microsoft.com/office/drawing/2014/main" val="3726143715"/>
                    </a:ext>
                  </a:extLst>
                </a:gridCol>
                <a:gridCol w="1161143">
                  <a:extLst>
                    <a:ext uri="{9D8B030D-6E8A-4147-A177-3AD203B41FA5}">
                      <a16:colId xmlns:a16="http://schemas.microsoft.com/office/drawing/2014/main" val="1992198482"/>
                    </a:ext>
                  </a:extLst>
                </a:gridCol>
                <a:gridCol w="1161143">
                  <a:extLst>
                    <a:ext uri="{9D8B030D-6E8A-4147-A177-3AD203B41FA5}">
                      <a16:colId xmlns:a16="http://schemas.microsoft.com/office/drawing/2014/main" val="804275624"/>
                    </a:ext>
                  </a:extLst>
                </a:gridCol>
                <a:gridCol w="1161143">
                  <a:extLst>
                    <a:ext uri="{9D8B030D-6E8A-4147-A177-3AD203B41FA5}">
                      <a16:colId xmlns:a16="http://schemas.microsoft.com/office/drawing/2014/main" val="2972460688"/>
                    </a:ext>
                  </a:extLst>
                </a:gridCol>
                <a:gridCol w="1161143">
                  <a:extLst>
                    <a:ext uri="{9D8B030D-6E8A-4147-A177-3AD203B41FA5}">
                      <a16:colId xmlns:a16="http://schemas.microsoft.com/office/drawing/2014/main" val="2570576882"/>
                    </a:ext>
                  </a:extLst>
                </a:gridCol>
                <a:gridCol w="1161143">
                  <a:extLst>
                    <a:ext uri="{9D8B030D-6E8A-4147-A177-3AD203B41FA5}">
                      <a16:colId xmlns:a16="http://schemas.microsoft.com/office/drawing/2014/main" val="2273809226"/>
                    </a:ext>
                  </a:extLst>
                </a:gridCol>
              </a:tblGrid>
              <a:tr h="370840">
                <a:tc>
                  <a:txBody>
                    <a:bodyPr/>
                    <a:lstStyle/>
                    <a:p>
                      <a:pPr algn="ctr"/>
                      <a:r>
                        <a:rPr lang="en-IN" sz="2800" dirty="0">
                          <a:solidFill>
                            <a:schemeClr val="tx1"/>
                          </a:solidFill>
                          <a:latin typeface="Calibri" panose="020F0502020204030204" pitchFamily="34" charset="0"/>
                          <a:cs typeface="Calibri" panose="020F0502020204030204" pitchFamily="34" charset="0"/>
                        </a:rPr>
                        <a:t>1</a:t>
                      </a:r>
                    </a:p>
                  </a:txBody>
                  <a:tcPr/>
                </a:tc>
                <a:tc>
                  <a:txBody>
                    <a:bodyPr/>
                    <a:lstStyle/>
                    <a:p>
                      <a:pPr algn="ctr"/>
                      <a:r>
                        <a:rPr lang="en-IN" sz="2800" dirty="0">
                          <a:solidFill>
                            <a:schemeClr val="tx1"/>
                          </a:solidFill>
                          <a:latin typeface="Calibri" panose="020F0502020204030204" pitchFamily="34" charset="0"/>
                          <a:cs typeface="Calibri" panose="020F0502020204030204" pitchFamily="34" charset="0"/>
                        </a:rPr>
                        <a:t>2</a:t>
                      </a:r>
                    </a:p>
                  </a:txBody>
                  <a:tcPr/>
                </a:tc>
                <a:tc>
                  <a:txBody>
                    <a:bodyPr/>
                    <a:lstStyle/>
                    <a:p>
                      <a:pPr algn="ctr"/>
                      <a:r>
                        <a:rPr lang="en-IN" sz="2800" dirty="0">
                          <a:solidFill>
                            <a:schemeClr val="tx1"/>
                          </a:solidFill>
                          <a:latin typeface="Calibri" panose="020F0502020204030204" pitchFamily="34" charset="0"/>
                          <a:cs typeface="Calibri" panose="020F0502020204030204" pitchFamily="34" charset="0"/>
                        </a:rPr>
                        <a:t>3</a:t>
                      </a:r>
                    </a:p>
                  </a:txBody>
                  <a:tcPr/>
                </a:tc>
                <a:tc>
                  <a:txBody>
                    <a:bodyPr/>
                    <a:lstStyle/>
                    <a:p>
                      <a:pPr algn="ctr"/>
                      <a:r>
                        <a:rPr lang="en-IN" sz="2800" dirty="0">
                          <a:solidFill>
                            <a:schemeClr val="tx1"/>
                          </a:solidFill>
                          <a:latin typeface="Calibri" panose="020F0502020204030204" pitchFamily="34" charset="0"/>
                          <a:cs typeface="Calibri" panose="020F0502020204030204" pitchFamily="34" charset="0"/>
                        </a:rPr>
                        <a:t>4</a:t>
                      </a:r>
                    </a:p>
                  </a:txBody>
                  <a:tcPr/>
                </a:tc>
                <a:tc>
                  <a:txBody>
                    <a:bodyPr/>
                    <a:lstStyle/>
                    <a:p>
                      <a:pPr algn="ctr"/>
                      <a:r>
                        <a:rPr lang="en-IN" sz="2800" dirty="0">
                          <a:solidFill>
                            <a:schemeClr val="tx1"/>
                          </a:solidFill>
                          <a:latin typeface="Calibri" panose="020F0502020204030204" pitchFamily="34" charset="0"/>
                          <a:cs typeface="Calibri" panose="020F0502020204030204" pitchFamily="34" charset="0"/>
                        </a:rPr>
                        <a:t>5</a:t>
                      </a:r>
                    </a:p>
                  </a:txBody>
                  <a:tcPr/>
                </a:tc>
                <a:tc>
                  <a:txBody>
                    <a:bodyPr/>
                    <a:lstStyle/>
                    <a:p>
                      <a:pPr algn="ctr"/>
                      <a:r>
                        <a:rPr lang="en-IN" sz="2800" dirty="0">
                          <a:solidFill>
                            <a:schemeClr val="tx1"/>
                          </a:solidFill>
                          <a:latin typeface="Calibri" panose="020F0502020204030204" pitchFamily="34" charset="0"/>
                          <a:cs typeface="Calibri" panose="020F0502020204030204" pitchFamily="34" charset="0"/>
                        </a:rPr>
                        <a:t>6</a:t>
                      </a:r>
                    </a:p>
                  </a:txBody>
                  <a:tcPr>
                    <a:solidFill>
                      <a:srgbClr val="FFFF00"/>
                    </a:solidFill>
                  </a:tcPr>
                </a:tc>
                <a:tc>
                  <a:txBody>
                    <a:bodyPr/>
                    <a:lstStyle/>
                    <a:p>
                      <a:pPr algn="ctr"/>
                      <a:endParaRPr lang="en-IN" sz="2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97629343"/>
                  </a:ext>
                </a:extLst>
              </a:tr>
              <a:tr h="370840">
                <a:tc>
                  <a:txBody>
                    <a:bodyPr/>
                    <a:lstStyle/>
                    <a:p>
                      <a:pPr algn="ctr"/>
                      <a:r>
                        <a:rPr lang="en-IN" sz="2800" dirty="0">
                          <a:latin typeface="Calibri" panose="020F0502020204030204" pitchFamily="34" charset="0"/>
                          <a:cs typeface="Calibri" panose="020F0502020204030204" pitchFamily="34" charset="0"/>
                        </a:rPr>
                        <a:t>0</a:t>
                      </a:r>
                    </a:p>
                  </a:txBody>
                  <a:tcPr/>
                </a:tc>
                <a:tc>
                  <a:txBody>
                    <a:bodyPr/>
                    <a:lstStyle/>
                    <a:p>
                      <a:pPr algn="ctr"/>
                      <a:r>
                        <a:rPr lang="en-IN" sz="2800" dirty="0">
                          <a:latin typeface="Calibri" panose="020F0502020204030204" pitchFamily="34" charset="0"/>
                          <a:cs typeface="Calibri" panose="020F0502020204030204" pitchFamily="34" charset="0"/>
                        </a:rPr>
                        <a:t>1</a:t>
                      </a:r>
                    </a:p>
                  </a:txBody>
                  <a:tcPr/>
                </a:tc>
                <a:tc>
                  <a:txBody>
                    <a:bodyPr/>
                    <a:lstStyle/>
                    <a:p>
                      <a:pPr algn="ctr"/>
                      <a:r>
                        <a:rPr lang="en-IN" sz="2800" dirty="0">
                          <a:latin typeface="Calibri" panose="020F0502020204030204" pitchFamily="34" charset="0"/>
                          <a:cs typeface="Calibri" panose="020F0502020204030204" pitchFamily="34" charset="0"/>
                        </a:rPr>
                        <a:t>2</a:t>
                      </a:r>
                    </a:p>
                  </a:txBody>
                  <a:tcPr/>
                </a:tc>
                <a:tc>
                  <a:txBody>
                    <a:bodyPr/>
                    <a:lstStyle/>
                    <a:p>
                      <a:pPr algn="ctr"/>
                      <a:r>
                        <a:rPr lang="en-IN" sz="2800" dirty="0">
                          <a:latin typeface="Calibri" panose="020F0502020204030204" pitchFamily="34" charset="0"/>
                          <a:cs typeface="Calibri" panose="020F0502020204030204" pitchFamily="34" charset="0"/>
                        </a:rPr>
                        <a:t>3</a:t>
                      </a:r>
                    </a:p>
                  </a:txBody>
                  <a:tcPr/>
                </a:tc>
                <a:tc>
                  <a:txBody>
                    <a:bodyPr/>
                    <a:lstStyle/>
                    <a:p>
                      <a:pPr algn="ctr"/>
                      <a:r>
                        <a:rPr lang="en-IN" sz="2800" dirty="0">
                          <a:latin typeface="Calibri" panose="020F0502020204030204" pitchFamily="34" charset="0"/>
                          <a:cs typeface="Calibri" panose="020F0502020204030204" pitchFamily="34" charset="0"/>
                        </a:rPr>
                        <a:t>4</a:t>
                      </a:r>
                    </a:p>
                  </a:txBody>
                  <a:tcPr/>
                </a:tc>
                <a:tc>
                  <a:txBody>
                    <a:bodyPr/>
                    <a:lstStyle/>
                    <a:p>
                      <a:pPr algn="ctr"/>
                      <a:r>
                        <a:rPr lang="en-IN" sz="2800" dirty="0">
                          <a:latin typeface="Calibri" panose="020F0502020204030204" pitchFamily="34" charset="0"/>
                          <a:cs typeface="Calibri" panose="020F0502020204030204" pitchFamily="34" charset="0"/>
                        </a:rPr>
                        <a:t>TOP=5</a:t>
                      </a:r>
                    </a:p>
                  </a:txBody>
                  <a:tcPr>
                    <a:solidFill>
                      <a:srgbClr val="FFFF00"/>
                    </a:solidFill>
                  </a:tcPr>
                </a:tc>
                <a:tc>
                  <a:txBody>
                    <a:bodyPr/>
                    <a:lstStyle/>
                    <a:p>
                      <a:pPr algn="ctr"/>
                      <a:r>
                        <a:rPr lang="en-IN" sz="2800" dirty="0">
                          <a:latin typeface="Calibri" panose="020F0502020204030204" pitchFamily="34" charset="0"/>
                          <a:cs typeface="Calibri" panose="020F0502020204030204" pitchFamily="34" charset="0"/>
                        </a:rPr>
                        <a:t>6</a:t>
                      </a:r>
                    </a:p>
                  </a:txBody>
                  <a:tcPr/>
                </a:tc>
                <a:extLst>
                  <a:ext uri="{0D108BD9-81ED-4DB2-BD59-A6C34878D82A}">
                    <a16:rowId xmlns:a16="http://schemas.microsoft.com/office/drawing/2014/main" val="1681960073"/>
                  </a:ext>
                </a:extLst>
              </a:tr>
            </a:tbl>
          </a:graphicData>
        </a:graphic>
      </p:graphicFrame>
      <p:sp>
        <p:nvSpPr>
          <p:cNvPr id="12" name="TextBox 11"/>
          <p:cNvSpPr txBox="1"/>
          <p:nvPr/>
        </p:nvSpPr>
        <p:spPr>
          <a:xfrm>
            <a:off x="685800" y="3470451"/>
            <a:ext cx="3128917" cy="461665"/>
          </a:xfrm>
          <a:prstGeom prst="rect">
            <a:avLst/>
          </a:prstGeom>
          <a:solidFill>
            <a:srgbClr val="FFFF00"/>
          </a:solidFill>
        </p:spPr>
        <p:txBody>
          <a:bodyPr wrap="square" rtlCol="0">
            <a:spAutoFit/>
          </a:bodyPr>
          <a:lstStyle/>
          <a:p>
            <a:r>
              <a:rPr lang="en-IN" sz="2400" b="1" dirty="0">
                <a:solidFill>
                  <a:srgbClr val="CC0066"/>
                </a:solidFill>
              </a:rPr>
              <a:t>Figure: Stack</a:t>
            </a:r>
          </a:p>
        </p:txBody>
      </p:sp>
      <p:sp>
        <p:nvSpPr>
          <p:cNvPr id="13" name="TextBox 12"/>
          <p:cNvSpPr txBox="1"/>
          <p:nvPr/>
        </p:nvSpPr>
        <p:spPr>
          <a:xfrm>
            <a:off x="685800" y="5334509"/>
            <a:ext cx="4267200" cy="461665"/>
          </a:xfrm>
          <a:prstGeom prst="rect">
            <a:avLst/>
          </a:prstGeom>
          <a:solidFill>
            <a:srgbClr val="FFFF00"/>
          </a:solidFill>
        </p:spPr>
        <p:txBody>
          <a:bodyPr wrap="square" rtlCol="0">
            <a:spAutoFit/>
          </a:bodyPr>
          <a:lstStyle/>
          <a:p>
            <a:r>
              <a:rPr lang="en-IN" sz="2400" b="1" dirty="0">
                <a:solidFill>
                  <a:srgbClr val="CC0066"/>
                </a:solidFill>
              </a:rPr>
              <a:t>Figure: Stack after Insertion</a:t>
            </a:r>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8" presetClass="emph" presetSubtype="0" fill="hold" grpId="0" nodeType="clickEffect">
                                  <p:stCondLst>
                                    <p:cond delay="0"/>
                                  </p:stCondLst>
                                  <p:childTnLst>
                                    <p:animRot by="21600000">
                                      <p:cBhvr>
                                        <p:cTn id="24" dur="2000" fill="hold"/>
                                        <p:tgtEl>
                                          <p:spTgt spid="12"/>
                                        </p:tgtEl>
                                        <p:attrNameLst>
                                          <p:attrName>r</p:attrName>
                                        </p:attrNameLst>
                                      </p:cBhvr>
                                    </p:animRo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1000"/>
                                        <p:tgtEl>
                                          <p:spTgt spid="14"/>
                                        </p:tgtEl>
                                      </p:cBhvr>
                                    </p:animEffect>
                                    <p:anim calcmode="lin" valueType="num">
                                      <p:cBhvr>
                                        <p:cTn id="30" dur="1000" fill="hold"/>
                                        <p:tgtEl>
                                          <p:spTgt spid="14"/>
                                        </p:tgtEl>
                                        <p:attrNameLst>
                                          <p:attrName>ppt_x</p:attrName>
                                        </p:attrNameLst>
                                      </p:cBhvr>
                                      <p:tavLst>
                                        <p:tav tm="0">
                                          <p:val>
                                            <p:strVal val="#ppt_x"/>
                                          </p:val>
                                        </p:tav>
                                        <p:tav tm="100000">
                                          <p:val>
                                            <p:strVal val="#ppt_x"/>
                                          </p:val>
                                        </p:tav>
                                      </p:tavLst>
                                    </p:anim>
                                    <p:anim calcmode="lin" valueType="num">
                                      <p:cBhvr>
                                        <p:cTn id="3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8" presetClass="emph" presetSubtype="0" fill="hold" grpId="0" nodeType="clickEffect">
                                  <p:stCondLst>
                                    <p:cond delay="0"/>
                                  </p:stCondLst>
                                  <p:childTnLst>
                                    <p:animRot by="21600000">
                                      <p:cBhvr>
                                        <p:cTn id="35" dur="2000" fill="hold"/>
                                        <p:tgtEl>
                                          <p:spTgt spid="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93792"/>
            <a:ext cx="10713720" cy="1447800"/>
          </a:xfrm>
        </p:spPr>
        <p:txBody>
          <a:bodyPr>
            <a:normAutofit/>
          </a:bodyPr>
          <a:lstStyle/>
          <a:p>
            <a:r>
              <a:rPr lang="en-IN" u="sng" dirty="0">
                <a:ln w="0"/>
                <a:solidFill>
                  <a:srgbClr val="CC0066"/>
                </a:solidFill>
                <a:effectLst>
                  <a:outerShdw blurRad="38100" dist="19050" dir="2700000" algn="tl" rotWithShape="0">
                    <a:schemeClr val="dk1">
                      <a:alpha val="40000"/>
                    </a:schemeClr>
                  </a:outerShdw>
                </a:effectLst>
              </a:rPr>
              <a:t>Algorithm to insert an element in a stack</a:t>
            </a:r>
            <a:br>
              <a:rPr lang="en-IN" dirty="0">
                <a:ln w="0"/>
                <a:solidFill>
                  <a:srgbClr val="CC0066"/>
                </a:solidFill>
                <a:effectLst>
                  <a:outerShdw blurRad="38100" dist="19050" dir="2700000" algn="tl" rotWithShape="0">
                    <a:schemeClr val="dk1">
                      <a:alpha val="40000"/>
                    </a:schemeClr>
                  </a:outerShdw>
                </a:effectLst>
              </a:rPr>
            </a:br>
            <a:endParaRPr lang="en-US" dirty="0">
              <a:solidFill>
                <a:srgbClr val="CC0066"/>
              </a:solidFill>
            </a:endParaRPr>
          </a:p>
        </p:txBody>
      </p:sp>
      <p:sp>
        <p:nvSpPr>
          <p:cNvPr id="4" name="Content Placeholder 3"/>
          <p:cNvSpPr>
            <a:spLocks noGrp="1"/>
          </p:cNvSpPr>
          <p:nvPr>
            <p:ph idx="1"/>
          </p:nvPr>
        </p:nvSpPr>
        <p:spPr>
          <a:xfrm>
            <a:off x="381000" y="2642175"/>
            <a:ext cx="5410200" cy="3987225"/>
          </a:xfrm>
        </p:spPr>
        <p:txBody>
          <a:bodyPr>
            <a:normAutofit/>
          </a:bodyPr>
          <a:lstStyle/>
          <a:p>
            <a:pPr marL="45720" indent="0">
              <a:buNone/>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Algorithm Push(VALUE)</a:t>
            </a:r>
          </a:p>
          <a:p>
            <a:pPr marL="45720" indent="0">
              <a:buNone/>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1: 	IF TOP == MAX-1</a:t>
            </a:r>
          </a:p>
          <a:p>
            <a:pPr marL="45720" indent="0">
              <a:buNone/>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			PRINT OVERFLOW</a:t>
            </a:r>
          </a:p>
          <a:p>
            <a:pPr marL="45720" indent="0">
              <a:buNone/>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		[END OF IF]</a:t>
            </a:r>
          </a:p>
          <a:p>
            <a:pPr marL="45720" indent="0">
              <a:buNone/>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2: 	SET TOP = TOP + 1</a:t>
            </a:r>
          </a:p>
          <a:p>
            <a:pPr marL="45720" indent="0">
              <a:buNone/>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3: 	SET STACK[TOP] = VALUE</a:t>
            </a:r>
          </a:p>
          <a:p>
            <a:pPr marL="45720" indent="0">
              <a:buNone/>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4:  END</a:t>
            </a:r>
          </a:p>
          <a:p>
            <a:endParaRPr lang="en-IN" sz="2400" dirty="0">
              <a:ln w="0"/>
              <a:effectLst>
                <a:outerShdw blurRad="38100" dist="19050" dir="2700000" algn="tl" rotWithShape="0">
                  <a:schemeClr val="dk1">
                    <a:alpha val="40000"/>
                  </a:schemeClr>
                </a:outerShdw>
              </a:effectLst>
            </a:endParaRPr>
          </a:p>
        </p:txBody>
      </p:sp>
      <p:graphicFrame>
        <p:nvGraphicFramePr>
          <p:cNvPr id="5" name="Table 4"/>
          <p:cNvGraphicFramePr>
            <a:graphicFrameLocks noGrp="1"/>
          </p:cNvGraphicFramePr>
          <p:nvPr>
            <p:extLst>
              <p:ext uri="{D42A27DB-BD31-4B8C-83A1-F6EECF244321}">
                <p14:modId xmlns:p14="http://schemas.microsoft.com/office/powerpoint/2010/main" val="2603690031"/>
              </p:ext>
            </p:extLst>
          </p:nvPr>
        </p:nvGraphicFramePr>
        <p:xfrm>
          <a:off x="5638800" y="1397184"/>
          <a:ext cx="3175000" cy="2996832"/>
        </p:xfrm>
        <a:graphic>
          <a:graphicData uri="http://schemas.openxmlformats.org/drawingml/2006/table">
            <a:tbl>
              <a:tblPr firstRow="1" bandRow="1">
                <a:tableStyleId>{5940675A-B579-460E-94D1-54222C63F5DA}</a:tableStyleId>
              </a:tblPr>
              <a:tblGrid>
                <a:gridCol w="3175000">
                  <a:extLst>
                    <a:ext uri="{9D8B030D-6E8A-4147-A177-3AD203B41FA5}">
                      <a16:colId xmlns:a16="http://schemas.microsoft.com/office/drawing/2014/main" val="4077937010"/>
                    </a:ext>
                  </a:extLst>
                </a:gridCol>
              </a:tblGrid>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70562426"/>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950666"/>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1407867"/>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2469971"/>
                  </a:ext>
                </a:extLst>
              </a:tr>
            </a:tbl>
          </a:graphicData>
        </a:graphic>
      </p:graphicFrame>
      <p:sp>
        <p:nvSpPr>
          <p:cNvPr id="6" name="TextBox 5"/>
          <p:cNvSpPr txBox="1"/>
          <p:nvPr/>
        </p:nvSpPr>
        <p:spPr>
          <a:xfrm>
            <a:off x="3759200" y="1612451"/>
            <a:ext cx="914400" cy="369332"/>
          </a:xfrm>
          <a:prstGeom prst="rect">
            <a:avLst/>
          </a:prstGeom>
          <a:noFill/>
        </p:spPr>
        <p:txBody>
          <a:bodyPr wrap="square" rtlCol="0">
            <a:spAutoFit/>
          </a:bodyPr>
          <a:lstStyle/>
          <a:p>
            <a:r>
              <a:rPr lang="en-IN" dirty="0"/>
              <a:t>TOP-&gt;</a:t>
            </a:r>
          </a:p>
        </p:txBody>
      </p:sp>
      <p:sp>
        <p:nvSpPr>
          <p:cNvPr id="7" name="TextBox 6"/>
          <p:cNvSpPr txBox="1"/>
          <p:nvPr/>
        </p:nvSpPr>
        <p:spPr>
          <a:xfrm>
            <a:off x="4673600" y="1427931"/>
            <a:ext cx="762000" cy="646331"/>
          </a:xfrm>
          <a:prstGeom prst="rect">
            <a:avLst/>
          </a:prstGeom>
          <a:noFill/>
        </p:spPr>
        <p:txBody>
          <a:bodyPr wrap="square" rtlCol="0">
            <a:spAutoFit/>
          </a:bodyPr>
          <a:lstStyle/>
          <a:p>
            <a:r>
              <a:rPr lang="en-IN" sz="3600" dirty="0"/>
              <a:t>3</a:t>
            </a:r>
          </a:p>
        </p:txBody>
      </p:sp>
      <p:sp>
        <p:nvSpPr>
          <p:cNvPr id="8" name="TextBox 7"/>
          <p:cNvSpPr txBox="1"/>
          <p:nvPr/>
        </p:nvSpPr>
        <p:spPr>
          <a:xfrm>
            <a:off x="4673600" y="2266131"/>
            <a:ext cx="685800" cy="646331"/>
          </a:xfrm>
          <a:prstGeom prst="rect">
            <a:avLst/>
          </a:prstGeom>
          <a:noFill/>
        </p:spPr>
        <p:txBody>
          <a:bodyPr wrap="square" rtlCol="0">
            <a:spAutoFit/>
          </a:bodyPr>
          <a:lstStyle/>
          <a:p>
            <a:r>
              <a:rPr lang="en-IN" sz="3600" dirty="0"/>
              <a:t>2</a:t>
            </a:r>
          </a:p>
        </p:txBody>
      </p:sp>
      <p:sp>
        <p:nvSpPr>
          <p:cNvPr id="9" name="TextBox 8"/>
          <p:cNvSpPr txBox="1"/>
          <p:nvPr/>
        </p:nvSpPr>
        <p:spPr>
          <a:xfrm>
            <a:off x="4673600" y="2951931"/>
            <a:ext cx="533400" cy="646331"/>
          </a:xfrm>
          <a:prstGeom prst="rect">
            <a:avLst/>
          </a:prstGeom>
          <a:noFill/>
        </p:spPr>
        <p:txBody>
          <a:bodyPr wrap="square" rtlCol="0">
            <a:spAutoFit/>
          </a:bodyPr>
          <a:lstStyle/>
          <a:p>
            <a:r>
              <a:rPr lang="en-IN" sz="3600" dirty="0"/>
              <a:t>1</a:t>
            </a:r>
          </a:p>
        </p:txBody>
      </p:sp>
      <p:sp>
        <p:nvSpPr>
          <p:cNvPr id="10" name="TextBox 9"/>
          <p:cNvSpPr txBox="1"/>
          <p:nvPr/>
        </p:nvSpPr>
        <p:spPr>
          <a:xfrm>
            <a:off x="4673600" y="3713931"/>
            <a:ext cx="685800" cy="646331"/>
          </a:xfrm>
          <a:prstGeom prst="rect">
            <a:avLst/>
          </a:prstGeom>
          <a:noFill/>
        </p:spPr>
        <p:txBody>
          <a:bodyPr wrap="square" rtlCol="0">
            <a:spAutoFit/>
          </a:bodyPr>
          <a:lstStyle/>
          <a:p>
            <a:r>
              <a:rPr lang="en-IN" sz="3600" dirty="0"/>
              <a:t>0</a:t>
            </a:r>
          </a:p>
        </p:txBody>
      </p:sp>
      <p:sp>
        <p:nvSpPr>
          <p:cNvPr id="3" name="TextBox 2"/>
          <p:cNvSpPr txBox="1"/>
          <p:nvPr/>
        </p:nvSpPr>
        <p:spPr>
          <a:xfrm>
            <a:off x="863600" y="1872734"/>
            <a:ext cx="172720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MAX=4</a:t>
            </a:r>
          </a:p>
        </p:txBody>
      </p:sp>
      <p:sp>
        <p:nvSpPr>
          <p:cNvPr id="12" name="Left Arrow 11"/>
          <p:cNvSpPr/>
          <p:nvPr/>
        </p:nvSpPr>
        <p:spPr>
          <a:xfrm>
            <a:off x="8935720" y="1180719"/>
            <a:ext cx="2819400" cy="114075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a:latin typeface="Times New Roman" panose="02020603050405020304" pitchFamily="18" charset="0"/>
                <a:cs typeface="Times New Roman" panose="02020603050405020304" pitchFamily="18" charset="0"/>
              </a:rPr>
              <a:t>MAX-1=</a:t>
            </a:r>
            <a:r>
              <a:rPr lang="en-IN" sz="4000" b="1" dirty="0">
                <a:latin typeface="Times New Roman" panose="02020603050405020304" pitchFamily="18" charset="0"/>
                <a:cs typeface="Times New Roman" panose="02020603050405020304" pitchFamily="18" charset="0"/>
              </a:rPr>
              <a:t>3</a:t>
            </a:r>
          </a:p>
          <a:p>
            <a:pPr algn="ctr"/>
            <a:endParaRPr lang="en-IN" dirty="0"/>
          </a:p>
        </p:txBody>
      </p:sp>
      <p:sp>
        <p:nvSpPr>
          <p:cNvPr id="13" name="TextBox 12"/>
          <p:cNvSpPr txBox="1"/>
          <p:nvPr/>
        </p:nvSpPr>
        <p:spPr>
          <a:xfrm>
            <a:off x="6833925" y="1523623"/>
            <a:ext cx="838200" cy="646331"/>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25</a:t>
            </a:r>
          </a:p>
        </p:txBody>
      </p:sp>
      <p:sp>
        <p:nvSpPr>
          <p:cNvPr id="14" name="TextBox 13"/>
          <p:cNvSpPr txBox="1"/>
          <p:nvPr/>
        </p:nvSpPr>
        <p:spPr>
          <a:xfrm>
            <a:off x="6795825" y="2198653"/>
            <a:ext cx="914400" cy="646331"/>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68</a:t>
            </a:r>
          </a:p>
        </p:txBody>
      </p:sp>
      <p:sp>
        <p:nvSpPr>
          <p:cNvPr id="15" name="TextBox 14"/>
          <p:cNvSpPr txBox="1"/>
          <p:nvPr/>
        </p:nvSpPr>
        <p:spPr>
          <a:xfrm>
            <a:off x="6719625" y="2990184"/>
            <a:ext cx="1066800" cy="646331"/>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95</a:t>
            </a:r>
          </a:p>
        </p:txBody>
      </p:sp>
      <p:sp>
        <p:nvSpPr>
          <p:cNvPr id="16" name="TextBox 15"/>
          <p:cNvSpPr txBox="1"/>
          <p:nvPr/>
        </p:nvSpPr>
        <p:spPr>
          <a:xfrm>
            <a:off x="6673905" y="3657352"/>
            <a:ext cx="1158240" cy="923330"/>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10</a:t>
            </a:r>
          </a:p>
          <a:p>
            <a:endParaRPr lang="en-IN" dirty="0"/>
          </a:p>
        </p:txBody>
      </p:sp>
      <p:sp>
        <p:nvSpPr>
          <p:cNvPr id="17" name="Cloud 16"/>
          <p:cNvSpPr/>
          <p:nvPr/>
        </p:nvSpPr>
        <p:spPr>
          <a:xfrm>
            <a:off x="5545537" y="4579072"/>
            <a:ext cx="4481775" cy="1869229"/>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THIS IS OVERFLOW CONDITION</a:t>
            </a:r>
          </a:p>
        </p:txBody>
      </p:sp>
      <p:sp>
        <p:nvSpPr>
          <p:cNvPr id="18" name="TextBox 17"/>
          <p:cNvSpPr txBox="1"/>
          <p:nvPr/>
        </p:nvSpPr>
        <p:spPr>
          <a:xfrm>
            <a:off x="990600" y="2057400"/>
            <a:ext cx="1752600" cy="787584"/>
          </a:xfrm>
          <a:prstGeom prst="rect">
            <a:avLst/>
          </a:prstGeom>
          <a:noFill/>
        </p:spPr>
        <p:txBody>
          <a:bodyPr wrap="square" rtlCol="0">
            <a:spAutoFit/>
          </a:bodyPr>
          <a:lstStyle/>
          <a:p>
            <a:endParaRPr lang="en-IN" dirty="0"/>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fltVal val="0"/>
                                          </p:val>
                                        </p:tav>
                                        <p:tav tm="100000">
                                          <p:val>
                                            <p:strVal val="#ppt_w"/>
                                          </p:val>
                                        </p:tav>
                                      </p:tavLst>
                                    </p:anim>
                                    <p:anim calcmode="lin" valueType="num">
                                      <p:cBhvr>
                                        <p:cTn id="15" dur="1000" fill="hold"/>
                                        <p:tgtEl>
                                          <p:spTgt spid="3"/>
                                        </p:tgtEl>
                                        <p:attrNameLst>
                                          <p:attrName>ppt_h</p:attrName>
                                        </p:attrNameLst>
                                      </p:cBhvr>
                                      <p:tavLst>
                                        <p:tav tm="0">
                                          <p:val>
                                            <p:fltVal val="0"/>
                                          </p:val>
                                        </p:tav>
                                        <p:tav tm="100000">
                                          <p:val>
                                            <p:strVal val="#ppt_h"/>
                                          </p:val>
                                        </p:tav>
                                      </p:tavLst>
                                    </p:anim>
                                    <p:anim calcmode="lin" valueType="num">
                                      <p:cBhvr>
                                        <p:cTn id="16" dur="1000" fill="hold"/>
                                        <p:tgtEl>
                                          <p:spTgt spid="3"/>
                                        </p:tgtEl>
                                        <p:attrNameLst>
                                          <p:attrName>style.rotation</p:attrName>
                                        </p:attrNameLst>
                                      </p:cBhvr>
                                      <p:tavLst>
                                        <p:tav tm="0">
                                          <p:val>
                                            <p:fltVal val="90"/>
                                          </p:val>
                                        </p:tav>
                                        <p:tav tm="100000">
                                          <p:val>
                                            <p:fltVal val="0"/>
                                          </p:val>
                                        </p:tav>
                                      </p:tavLst>
                                    </p:anim>
                                    <p:animEffect transition="in" filter="fade">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mph" presetSubtype="0" autoRev="1" fill="hold" nodeType="clickEffect">
                                  <p:stCondLst>
                                    <p:cond delay="0"/>
                                  </p:stCondLst>
                                  <p:childTnLst>
                                    <p:animScale>
                                      <p:cBhvr>
                                        <p:cTn id="27" dur="2000" fill="hold"/>
                                        <p:tgtEl>
                                          <p:spTgt spid="4">
                                            <p:txEl>
                                              <p:pRg st="1" end="1"/>
                                            </p:txEl>
                                          </p:spTgt>
                                        </p:tgtEl>
                                      </p:cBhvr>
                                      <p:by x="150000" y="150000"/>
                                    </p:animScale>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500" fill="hold"/>
                                        <p:tgtEl>
                                          <p:spTgt spid="17"/>
                                        </p:tgtEl>
                                        <p:attrNameLst>
                                          <p:attrName>ppt_x</p:attrName>
                                        </p:attrNameLst>
                                      </p:cBhvr>
                                      <p:tavLst>
                                        <p:tav tm="0">
                                          <p:val>
                                            <p:strVal val="#ppt_x"/>
                                          </p:val>
                                        </p:tav>
                                        <p:tav tm="100000">
                                          <p:val>
                                            <p:strVal val="#ppt_x"/>
                                          </p:val>
                                        </p:tav>
                                      </p:tavLst>
                                    </p:anim>
                                    <p:anim calcmode="lin" valueType="num">
                                      <p:cBhvr additive="base">
                                        <p:cTn id="3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grpId="1" nodeType="clickEffect">
                                  <p:stCondLst>
                                    <p:cond delay="0"/>
                                  </p:stCondLst>
                                  <p:childTnLst>
                                    <p:set>
                                      <p:cBhvr>
                                        <p:cTn id="37" dur="1" fill="hold">
                                          <p:stCondLst>
                                            <p:cond delay="0"/>
                                          </p:stCondLst>
                                        </p:cTn>
                                        <p:tgtEl>
                                          <p:spTgt spid="3"/>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1" nodeType="clickEffect">
                                  <p:stCondLst>
                                    <p:cond delay="0"/>
                                  </p:stCondLst>
                                  <p:childTnLst>
                                    <p:set>
                                      <p:cBhvr>
                                        <p:cTn id="41" dur="1" fill="hold">
                                          <p:stCondLst>
                                            <p:cond delay="0"/>
                                          </p:stCondLst>
                                        </p:cTn>
                                        <p:tgtEl>
                                          <p:spTgt spid="12"/>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17"/>
                                        </p:tgtEl>
                                        <p:attrNameLst>
                                          <p:attrName>style.visibility</p:attrName>
                                        </p:attrNameLst>
                                      </p:cBhvr>
                                      <p:to>
                                        <p:strVal val="hidden"/>
                                      </p:to>
                                    </p:set>
                                  </p:childTnLst>
                                </p:cTn>
                              </p:par>
                              <p:par>
                                <p:cTn id="46" presetID="1" presetClass="exit" presetSubtype="0" fill="hold" grpId="0" nodeType="withEffect">
                                  <p:stCondLst>
                                    <p:cond delay="0"/>
                                  </p:stCondLst>
                                  <p:childTnLst>
                                    <p:set>
                                      <p:cBhvr>
                                        <p:cTn id="47" dur="1" fill="hold">
                                          <p:stCondLst>
                                            <p:cond delay="0"/>
                                          </p:stCondLst>
                                        </p:cTn>
                                        <p:tgtEl>
                                          <p:spTgt spid="13"/>
                                        </p:tgtEl>
                                        <p:attrNameLst>
                                          <p:attrName>style.visibility</p:attrName>
                                        </p:attrNameLst>
                                      </p:cBhvr>
                                      <p:to>
                                        <p:strVal val="hidden"/>
                                      </p:to>
                                    </p:set>
                                  </p:childTnLst>
                                </p:cTn>
                              </p:par>
                              <p:par>
                                <p:cTn id="48" presetID="1" presetClass="exit"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42" presetClass="path" presetSubtype="0" accel="50000" decel="50000" fill="hold" grpId="1" nodeType="clickEffect">
                                  <p:stCondLst>
                                    <p:cond delay="0"/>
                                  </p:stCondLst>
                                  <p:childTnLst>
                                    <p:animMotion origin="layout" path="M -3.33333E-6 2.96296E-6 L -0.00338 0.21296 " pathEditMode="relative" rAng="0" ptsTypes="AA">
                                      <p:cBhvr>
                                        <p:cTn id="53" dur="2000" fill="hold"/>
                                        <p:tgtEl>
                                          <p:spTgt spid="6"/>
                                        </p:tgtEl>
                                        <p:attrNameLst>
                                          <p:attrName>ppt_x</p:attrName>
                                          <p:attrName>ppt_y</p:attrName>
                                        </p:attrNameLst>
                                      </p:cBhvr>
                                      <p:rCtr x="-169" y="10648"/>
                                    </p:animMotion>
                                  </p:childTnLst>
                                </p:cTn>
                              </p:par>
                            </p:childTnLst>
                          </p:cTn>
                        </p:par>
                      </p:childTnLst>
                    </p:cTn>
                  </p:par>
                  <p:par>
                    <p:cTn id="54" fill="hold">
                      <p:stCondLst>
                        <p:cond delay="indefinite"/>
                      </p:stCondLst>
                      <p:childTnLst>
                        <p:par>
                          <p:cTn id="55" fill="hold">
                            <p:stCondLst>
                              <p:cond delay="0"/>
                            </p:stCondLst>
                            <p:childTnLst>
                              <p:par>
                                <p:cTn id="56" presetID="32" presetClass="emph" presetSubtype="0" fill="hold" grpId="2" nodeType="clickEffect">
                                  <p:stCondLst>
                                    <p:cond delay="0"/>
                                  </p:stCondLst>
                                  <p:childTnLst>
                                    <p:animRot by="120000">
                                      <p:cBhvr>
                                        <p:cTn id="57" dur="100" fill="hold">
                                          <p:stCondLst>
                                            <p:cond delay="0"/>
                                          </p:stCondLst>
                                        </p:cTn>
                                        <p:tgtEl>
                                          <p:spTgt spid="6"/>
                                        </p:tgtEl>
                                        <p:attrNameLst>
                                          <p:attrName>r</p:attrName>
                                        </p:attrNameLst>
                                      </p:cBhvr>
                                    </p:animRot>
                                    <p:animRot by="-240000">
                                      <p:cBhvr>
                                        <p:cTn id="58" dur="200" fill="hold">
                                          <p:stCondLst>
                                            <p:cond delay="200"/>
                                          </p:stCondLst>
                                        </p:cTn>
                                        <p:tgtEl>
                                          <p:spTgt spid="6"/>
                                        </p:tgtEl>
                                        <p:attrNameLst>
                                          <p:attrName>r</p:attrName>
                                        </p:attrNameLst>
                                      </p:cBhvr>
                                    </p:animRot>
                                    <p:animRot by="240000">
                                      <p:cBhvr>
                                        <p:cTn id="59" dur="200" fill="hold">
                                          <p:stCondLst>
                                            <p:cond delay="400"/>
                                          </p:stCondLst>
                                        </p:cTn>
                                        <p:tgtEl>
                                          <p:spTgt spid="6"/>
                                        </p:tgtEl>
                                        <p:attrNameLst>
                                          <p:attrName>r</p:attrName>
                                        </p:attrNameLst>
                                      </p:cBhvr>
                                    </p:animRot>
                                    <p:animRot by="-240000">
                                      <p:cBhvr>
                                        <p:cTn id="60" dur="200" fill="hold">
                                          <p:stCondLst>
                                            <p:cond delay="600"/>
                                          </p:stCondLst>
                                        </p:cTn>
                                        <p:tgtEl>
                                          <p:spTgt spid="6"/>
                                        </p:tgtEl>
                                        <p:attrNameLst>
                                          <p:attrName>r</p:attrName>
                                        </p:attrNameLst>
                                      </p:cBhvr>
                                    </p:animRot>
                                    <p:animRot by="120000">
                                      <p:cBhvr>
                                        <p:cTn id="61" dur="200" fill="hold">
                                          <p:stCondLst>
                                            <p:cond delay="800"/>
                                          </p:stCondLst>
                                        </p:cTn>
                                        <p:tgtEl>
                                          <p:spTgt spid="6"/>
                                        </p:tgtEl>
                                        <p:attrNameLst>
                                          <p:attrName>r</p:attrName>
                                        </p:attrNameLst>
                                      </p:cBhvr>
                                    </p:animRot>
                                  </p:childTnLst>
                                </p:cTn>
                              </p:par>
                            </p:childTnLst>
                          </p:cTn>
                        </p:par>
                      </p:childTnLst>
                    </p:cTn>
                  </p:par>
                  <p:par>
                    <p:cTn id="62" fill="hold">
                      <p:stCondLst>
                        <p:cond delay="indefinite"/>
                      </p:stCondLst>
                      <p:childTnLst>
                        <p:par>
                          <p:cTn id="63" fill="hold">
                            <p:stCondLst>
                              <p:cond delay="0"/>
                            </p:stCondLst>
                            <p:childTnLst>
                              <p:par>
                                <p:cTn id="64" presetID="6" presetClass="emph" presetSubtype="0" autoRev="1" fill="hold" nodeType="clickEffect">
                                  <p:stCondLst>
                                    <p:cond delay="0"/>
                                  </p:stCondLst>
                                  <p:childTnLst>
                                    <p:animScale>
                                      <p:cBhvr>
                                        <p:cTn id="65" dur="2000" fill="hold"/>
                                        <p:tgtEl>
                                          <p:spTgt spid="4">
                                            <p:txEl>
                                              <p:pRg st="4" end="4"/>
                                            </p:txEl>
                                          </p:spTgt>
                                        </p:tgtEl>
                                      </p:cBhvr>
                                      <p:by x="150000" y="150000"/>
                                    </p:animScale>
                                  </p:childTnLst>
                                </p:cTn>
                              </p:par>
                            </p:childTnLst>
                          </p:cTn>
                        </p:par>
                      </p:childTnLst>
                    </p:cTn>
                  </p:par>
                  <p:par>
                    <p:cTn id="66" fill="hold">
                      <p:stCondLst>
                        <p:cond delay="indefinite"/>
                      </p:stCondLst>
                      <p:childTnLst>
                        <p:par>
                          <p:cTn id="67" fill="hold">
                            <p:stCondLst>
                              <p:cond delay="0"/>
                            </p:stCondLst>
                            <p:childTnLst>
                              <p:par>
                                <p:cTn id="68" presetID="42" presetClass="path" presetSubtype="0" accel="50000" decel="50000" fill="hold" grpId="3" nodeType="clickEffect">
                                  <p:stCondLst>
                                    <p:cond delay="0"/>
                                  </p:stCondLst>
                                  <p:childTnLst>
                                    <p:animMotion origin="layout" path="M -0.00078 0.09166 L -0.00208 0.21412 " pathEditMode="relative" rAng="0" ptsTypes="AA">
                                      <p:cBhvr>
                                        <p:cTn id="69" dur="2000" spd="-100000" fill="hold"/>
                                        <p:tgtEl>
                                          <p:spTgt spid="6"/>
                                        </p:tgtEl>
                                        <p:attrNameLst>
                                          <p:attrName>ppt_x</p:attrName>
                                          <p:attrName>ppt_y</p:attrName>
                                        </p:attrNameLst>
                                      </p:cBhvr>
                                      <p:rCtr x="-65" y="6111"/>
                                    </p:animMotion>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1" nodeType="click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1000"/>
                                        <p:tgtEl>
                                          <p:spTgt spid="14"/>
                                        </p:tgtEl>
                                      </p:cBhvr>
                                    </p:animEffect>
                                    <p:anim calcmode="lin" valueType="num">
                                      <p:cBhvr>
                                        <p:cTn id="75" dur="1000" fill="hold"/>
                                        <p:tgtEl>
                                          <p:spTgt spid="14"/>
                                        </p:tgtEl>
                                        <p:attrNameLst>
                                          <p:attrName>ppt_x</p:attrName>
                                        </p:attrNameLst>
                                      </p:cBhvr>
                                      <p:tavLst>
                                        <p:tav tm="0">
                                          <p:val>
                                            <p:strVal val="#ppt_x"/>
                                          </p:val>
                                        </p:tav>
                                        <p:tav tm="100000">
                                          <p:val>
                                            <p:strVal val="#ppt_x"/>
                                          </p:val>
                                        </p:tav>
                                      </p:tavLst>
                                    </p:anim>
                                    <p:anim calcmode="lin" valueType="num">
                                      <p:cBhvr>
                                        <p:cTn id="7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6" grpId="2"/>
      <p:bldP spid="6" grpId="3"/>
      <p:bldP spid="3" grpId="0"/>
      <p:bldP spid="3" grpId="1"/>
      <p:bldP spid="12" grpId="0" animBg="1"/>
      <p:bldP spid="12" grpId="1" animBg="1"/>
      <p:bldP spid="13" grpId="0"/>
      <p:bldP spid="14" grpId="0"/>
      <p:bldP spid="14" grpId="1"/>
      <p:bldP spid="17" grpId="0" animBg="1"/>
      <p:bldP spid="17"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solidFill>
                  <a:srgbClr val="FF0000"/>
                </a:solidFill>
                <a:latin typeface="MV Boli" panose="02000500030200090000" pitchFamily="2" charset="0"/>
                <a:cs typeface="MV Boli" panose="02000500030200090000" pitchFamily="2" charset="0"/>
              </a:rPr>
              <a:t>Pop Operation</a:t>
            </a:r>
            <a:endParaRPr lang="en-US" u="sng" dirty="0">
              <a:solidFill>
                <a:srgbClr val="FF0000"/>
              </a:solidFill>
              <a:latin typeface="MV Boli" panose="02000500030200090000" pitchFamily="2" charset="0"/>
              <a:cs typeface="MV Boli" panose="02000500030200090000" pitchFamily="2"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299250420"/>
              </p:ext>
            </p:extLst>
          </p:nvPr>
        </p:nvGraphicFramePr>
        <p:xfrm>
          <a:off x="457200" y="1980474"/>
          <a:ext cx="8128001" cy="10363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643682513"/>
                    </a:ext>
                  </a:extLst>
                </a:gridCol>
                <a:gridCol w="1161143">
                  <a:extLst>
                    <a:ext uri="{9D8B030D-6E8A-4147-A177-3AD203B41FA5}">
                      <a16:colId xmlns:a16="http://schemas.microsoft.com/office/drawing/2014/main" val="3726143715"/>
                    </a:ext>
                  </a:extLst>
                </a:gridCol>
                <a:gridCol w="1161143">
                  <a:extLst>
                    <a:ext uri="{9D8B030D-6E8A-4147-A177-3AD203B41FA5}">
                      <a16:colId xmlns:a16="http://schemas.microsoft.com/office/drawing/2014/main" val="1992198482"/>
                    </a:ext>
                  </a:extLst>
                </a:gridCol>
                <a:gridCol w="1161143">
                  <a:extLst>
                    <a:ext uri="{9D8B030D-6E8A-4147-A177-3AD203B41FA5}">
                      <a16:colId xmlns:a16="http://schemas.microsoft.com/office/drawing/2014/main" val="804275624"/>
                    </a:ext>
                  </a:extLst>
                </a:gridCol>
                <a:gridCol w="1161143">
                  <a:extLst>
                    <a:ext uri="{9D8B030D-6E8A-4147-A177-3AD203B41FA5}">
                      <a16:colId xmlns:a16="http://schemas.microsoft.com/office/drawing/2014/main" val="2972460688"/>
                    </a:ext>
                  </a:extLst>
                </a:gridCol>
                <a:gridCol w="1161143">
                  <a:extLst>
                    <a:ext uri="{9D8B030D-6E8A-4147-A177-3AD203B41FA5}">
                      <a16:colId xmlns:a16="http://schemas.microsoft.com/office/drawing/2014/main" val="2570576882"/>
                    </a:ext>
                  </a:extLst>
                </a:gridCol>
                <a:gridCol w="1161143">
                  <a:extLst>
                    <a:ext uri="{9D8B030D-6E8A-4147-A177-3AD203B41FA5}">
                      <a16:colId xmlns:a16="http://schemas.microsoft.com/office/drawing/2014/main" val="2273809226"/>
                    </a:ext>
                  </a:extLst>
                </a:gridCol>
              </a:tblGrid>
              <a:tr h="370840">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1</a:t>
                      </a:r>
                    </a:p>
                  </a:txBody>
                  <a:tcPr>
                    <a:lnB w="38100" cmpd="sng">
                      <a:noFill/>
                    </a:lnB>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2</a:t>
                      </a:r>
                    </a:p>
                  </a:txBody>
                  <a:tcPr>
                    <a:lnB w="38100" cmpd="sng">
                      <a:noFill/>
                    </a:lnB>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3</a:t>
                      </a:r>
                    </a:p>
                  </a:txBody>
                  <a:tcPr>
                    <a:lnB w="38100" cmpd="sng">
                      <a:noFill/>
                    </a:lnB>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4</a:t>
                      </a:r>
                    </a:p>
                  </a:txBody>
                  <a:tcPr>
                    <a:lnB w="38100" cmpd="sng">
                      <a:noFill/>
                    </a:lnB>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5</a:t>
                      </a:r>
                    </a:p>
                  </a:txBody>
                  <a:tcPr>
                    <a:lnB w="38100" cmpd="sng">
                      <a:noFill/>
                    </a:lnB>
                  </a:tcPr>
                </a:tc>
                <a:tc>
                  <a:txBody>
                    <a:bodyPr/>
                    <a:lstStyle/>
                    <a:p>
                      <a:pPr marL="0" algn="ctr" defTabSz="914400" rtl="0" eaLnBrk="1" latinLnBrk="0" hangingPunct="1"/>
                      <a:endParaRPr lang="en-IN" sz="2800" kern="1200" dirty="0">
                        <a:solidFill>
                          <a:schemeClr val="dk1"/>
                        </a:solidFill>
                        <a:latin typeface="Calibri" panose="020F0502020204030204" pitchFamily="34" charset="0"/>
                        <a:ea typeface="+mn-ea"/>
                        <a:cs typeface="Calibri" panose="020F0502020204030204" pitchFamily="34" charset="0"/>
                      </a:endParaRPr>
                    </a:p>
                  </a:txBody>
                  <a:tcPr>
                    <a:lnB w="38100" cmpd="sng">
                      <a:noFill/>
                    </a:lnB>
                  </a:tcPr>
                </a:tc>
                <a:tc>
                  <a:txBody>
                    <a:bodyPr/>
                    <a:lstStyle/>
                    <a:p>
                      <a:pPr marL="0" algn="ctr" defTabSz="914400" rtl="0" eaLnBrk="1" latinLnBrk="0" hangingPunct="1"/>
                      <a:endParaRPr lang="en-IN" sz="2800" kern="1200" dirty="0">
                        <a:solidFill>
                          <a:schemeClr val="dk1"/>
                        </a:solidFill>
                        <a:latin typeface="Calibri" panose="020F0502020204030204" pitchFamily="34" charset="0"/>
                        <a:ea typeface="+mn-ea"/>
                        <a:cs typeface="Calibri" panose="020F0502020204030204" pitchFamily="34" charset="0"/>
                      </a:endParaRPr>
                    </a:p>
                  </a:txBody>
                  <a:tcPr>
                    <a:lnB w="38100" cmpd="sng">
                      <a:noFill/>
                    </a:lnB>
                  </a:tcPr>
                </a:tc>
                <a:extLst>
                  <a:ext uri="{0D108BD9-81ED-4DB2-BD59-A6C34878D82A}">
                    <a16:rowId xmlns:a16="http://schemas.microsoft.com/office/drawing/2014/main" val="2497629343"/>
                  </a:ext>
                </a:extLst>
              </a:tr>
              <a:tr h="370840">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0</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1</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2</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3</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TOP=4</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5</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algn="ctr" defTabSz="914400" rtl="0" eaLnBrk="1" latinLnBrk="0" hangingPunct="1"/>
                      <a:r>
                        <a:rPr lang="en-IN" sz="2800" kern="1200" dirty="0">
                          <a:solidFill>
                            <a:schemeClr val="dk1"/>
                          </a:solidFill>
                          <a:latin typeface="Calibri" panose="020F0502020204030204" pitchFamily="34" charset="0"/>
                          <a:ea typeface="+mn-ea"/>
                          <a:cs typeface="Calibri" panose="020F0502020204030204" pitchFamily="34" charset="0"/>
                        </a:rPr>
                        <a:t>6</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0984343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320738308"/>
              </p:ext>
            </p:extLst>
          </p:nvPr>
        </p:nvGraphicFramePr>
        <p:xfrm>
          <a:off x="457199" y="4016895"/>
          <a:ext cx="8128001" cy="103632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1643682513"/>
                    </a:ext>
                  </a:extLst>
                </a:gridCol>
                <a:gridCol w="1161143">
                  <a:extLst>
                    <a:ext uri="{9D8B030D-6E8A-4147-A177-3AD203B41FA5}">
                      <a16:colId xmlns:a16="http://schemas.microsoft.com/office/drawing/2014/main" val="3726143715"/>
                    </a:ext>
                  </a:extLst>
                </a:gridCol>
                <a:gridCol w="1161143">
                  <a:extLst>
                    <a:ext uri="{9D8B030D-6E8A-4147-A177-3AD203B41FA5}">
                      <a16:colId xmlns:a16="http://schemas.microsoft.com/office/drawing/2014/main" val="1992198482"/>
                    </a:ext>
                  </a:extLst>
                </a:gridCol>
                <a:gridCol w="1161143">
                  <a:extLst>
                    <a:ext uri="{9D8B030D-6E8A-4147-A177-3AD203B41FA5}">
                      <a16:colId xmlns:a16="http://schemas.microsoft.com/office/drawing/2014/main" val="804275624"/>
                    </a:ext>
                  </a:extLst>
                </a:gridCol>
                <a:gridCol w="1161143">
                  <a:extLst>
                    <a:ext uri="{9D8B030D-6E8A-4147-A177-3AD203B41FA5}">
                      <a16:colId xmlns:a16="http://schemas.microsoft.com/office/drawing/2014/main" val="2972460688"/>
                    </a:ext>
                  </a:extLst>
                </a:gridCol>
                <a:gridCol w="1161143">
                  <a:extLst>
                    <a:ext uri="{9D8B030D-6E8A-4147-A177-3AD203B41FA5}">
                      <a16:colId xmlns:a16="http://schemas.microsoft.com/office/drawing/2014/main" val="2570576882"/>
                    </a:ext>
                  </a:extLst>
                </a:gridCol>
                <a:gridCol w="1161143">
                  <a:extLst>
                    <a:ext uri="{9D8B030D-6E8A-4147-A177-3AD203B41FA5}">
                      <a16:colId xmlns:a16="http://schemas.microsoft.com/office/drawing/2014/main" val="2273809226"/>
                    </a:ext>
                  </a:extLst>
                </a:gridCol>
              </a:tblGrid>
              <a:tr h="370840">
                <a:tc>
                  <a:txBody>
                    <a:bodyPr/>
                    <a:lstStyle/>
                    <a:p>
                      <a:pPr algn="ctr"/>
                      <a:r>
                        <a:rPr lang="en-IN" sz="2800" dirty="0">
                          <a:solidFill>
                            <a:schemeClr val="tx1"/>
                          </a:solidFill>
                          <a:latin typeface="Calibri" panose="020F0502020204030204" pitchFamily="34" charset="0"/>
                          <a:cs typeface="Calibri" panose="020F0502020204030204" pitchFamily="34" charset="0"/>
                        </a:rPr>
                        <a:t>1</a:t>
                      </a:r>
                    </a:p>
                  </a:txBody>
                  <a:tcPr/>
                </a:tc>
                <a:tc>
                  <a:txBody>
                    <a:bodyPr/>
                    <a:lstStyle/>
                    <a:p>
                      <a:pPr algn="ctr"/>
                      <a:r>
                        <a:rPr lang="en-IN" sz="2800" dirty="0">
                          <a:solidFill>
                            <a:schemeClr val="tx1"/>
                          </a:solidFill>
                          <a:latin typeface="Calibri" panose="020F0502020204030204" pitchFamily="34" charset="0"/>
                          <a:cs typeface="Calibri" panose="020F0502020204030204" pitchFamily="34" charset="0"/>
                        </a:rPr>
                        <a:t>2</a:t>
                      </a:r>
                    </a:p>
                  </a:txBody>
                  <a:tcPr/>
                </a:tc>
                <a:tc>
                  <a:txBody>
                    <a:bodyPr/>
                    <a:lstStyle/>
                    <a:p>
                      <a:pPr algn="ctr"/>
                      <a:r>
                        <a:rPr lang="en-IN" sz="2800" dirty="0">
                          <a:solidFill>
                            <a:schemeClr val="tx1"/>
                          </a:solidFill>
                          <a:latin typeface="Calibri" panose="020F0502020204030204" pitchFamily="34" charset="0"/>
                          <a:cs typeface="Calibri" panose="020F0502020204030204" pitchFamily="34" charset="0"/>
                        </a:rPr>
                        <a:t>3</a:t>
                      </a:r>
                    </a:p>
                  </a:txBody>
                  <a:tcPr/>
                </a:tc>
                <a:tc>
                  <a:txBody>
                    <a:bodyPr/>
                    <a:lstStyle/>
                    <a:p>
                      <a:pPr algn="ctr"/>
                      <a:r>
                        <a:rPr lang="en-IN" sz="2800" dirty="0">
                          <a:solidFill>
                            <a:schemeClr val="tx1"/>
                          </a:solidFill>
                          <a:latin typeface="Calibri" panose="020F0502020204030204" pitchFamily="34" charset="0"/>
                          <a:cs typeface="Calibri" panose="020F0502020204030204" pitchFamily="34" charset="0"/>
                        </a:rPr>
                        <a:t>4</a:t>
                      </a:r>
                    </a:p>
                  </a:txBody>
                  <a:tcPr>
                    <a:solidFill>
                      <a:srgbClr val="00B0F0"/>
                    </a:solidFill>
                  </a:tcPr>
                </a:tc>
                <a:tc>
                  <a:txBody>
                    <a:bodyPr/>
                    <a:lstStyle/>
                    <a:p>
                      <a:pPr algn="ctr"/>
                      <a:endParaRPr lang="en-IN" sz="2800" dirty="0">
                        <a:solidFill>
                          <a:schemeClr val="tx1"/>
                        </a:solidFill>
                        <a:latin typeface="Calibri" panose="020F0502020204030204" pitchFamily="34" charset="0"/>
                        <a:cs typeface="Calibri" panose="020F0502020204030204" pitchFamily="34" charset="0"/>
                      </a:endParaRPr>
                    </a:p>
                  </a:txBody>
                  <a:tcPr/>
                </a:tc>
                <a:tc>
                  <a:txBody>
                    <a:bodyPr/>
                    <a:lstStyle/>
                    <a:p>
                      <a:pPr marL="0" algn="ctr" defTabSz="914400" rtl="0" eaLnBrk="1" latinLnBrk="0" hangingPunct="1"/>
                      <a:endParaRPr lang="en-IN" sz="2800" kern="1200" dirty="0">
                        <a:solidFill>
                          <a:schemeClr val="dk1"/>
                        </a:solidFill>
                        <a:latin typeface="Calibri" panose="020F0502020204030204" pitchFamily="34" charset="0"/>
                        <a:ea typeface="+mn-ea"/>
                        <a:cs typeface="Calibri" panose="020F0502020204030204" pitchFamily="34" charset="0"/>
                      </a:endParaRPr>
                    </a:p>
                  </a:txBody>
                  <a:tcPr>
                    <a:solidFill>
                      <a:srgbClr val="A6B727"/>
                    </a:solidFill>
                  </a:tcPr>
                </a:tc>
                <a:tc>
                  <a:txBody>
                    <a:bodyPr/>
                    <a:lstStyle/>
                    <a:p>
                      <a:pPr algn="ctr"/>
                      <a:endParaRPr lang="en-IN" sz="2800" dirty="0">
                        <a:solidFill>
                          <a:schemeClr val="tx1"/>
                        </a:solidFill>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2497629343"/>
                  </a:ext>
                </a:extLst>
              </a:tr>
              <a:tr h="370840">
                <a:tc>
                  <a:txBody>
                    <a:bodyPr/>
                    <a:lstStyle/>
                    <a:p>
                      <a:pPr algn="ctr"/>
                      <a:r>
                        <a:rPr lang="en-IN" sz="2800" dirty="0">
                          <a:latin typeface="Calibri" panose="020F0502020204030204" pitchFamily="34" charset="0"/>
                          <a:cs typeface="Calibri" panose="020F0502020204030204" pitchFamily="34" charset="0"/>
                        </a:rPr>
                        <a:t>0</a:t>
                      </a:r>
                    </a:p>
                  </a:txBody>
                  <a:tcPr/>
                </a:tc>
                <a:tc>
                  <a:txBody>
                    <a:bodyPr/>
                    <a:lstStyle/>
                    <a:p>
                      <a:pPr algn="ctr"/>
                      <a:r>
                        <a:rPr lang="en-IN" sz="2800" dirty="0">
                          <a:latin typeface="Calibri" panose="020F0502020204030204" pitchFamily="34" charset="0"/>
                          <a:cs typeface="Calibri" panose="020F0502020204030204" pitchFamily="34" charset="0"/>
                        </a:rPr>
                        <a:t>1</a:t>
                      </a:r>
                    </a:p>
                  </a:txBody>
                  <a:tcPr/>
                </a:tc>
                <a:tc>
                  <a:txBody>
                    <a:bodyPr/>
                    <a:lstStyle/>
                    <a:p>
                      <a:pPr algn="ctr"/>
                      <a:r>
                        <a:rPr lang="en-IN" sz="2800" dirty="0">
                          <a:latin typeface="Calibri" panose="020F0502020204030204" pitchFamily="34" charset="0"/>
                          <a:cs typeface="Calibri" panose="020F0502020204030204" pitchFamily="34" charset="0"/>
                        </a:rPr>
                        <a:t>2</a:t>
                      </a:r>
                    </a:p>
                  </a:txBody>
                  <a:tcPr/>
                </a:tc>
                <a:tc>
                  <a:txBody>
                    <a:bodyPr/>
                    <a:lstStyle/>
                    <a:p>
                      <a:pPr algn="ctr"/>
                      <a:r>
                        <a:rPr lang="en-IN" sz="2800" dirty="0">
                          <a:latin typeface="Calibri" panose="020F0502020204030204" pitchFamily="34" charset="0"/>
                          <a:cs typeface="Calibri" panose="020F0502020204030204" pitchFamily="34" charset="0"/>
                        </a:rPr>
                        <a:t>TOP=3</a:t>
                      </a:r>
                    </a:p>
                  </a:txBody>
                  <a:tcPr>
                    <a:solidFill>
                      <a:srgbClr val="00B0F0"/>
                    </a:solidFill>
                  </a:tcPr>
                </a:tc>
                <a:tc>
                  <a:txBody>
                    <a:bodyPr/>
                    <a:lstStyle/>
                    <a:p>
                      <a:pPr algn="ctr"/>
                      <a:endParaRPr lang="en-IN" sz="2800" dirty="0">
                        <a:latin typeface="Calibri" panose="020F0502020204030204" pitchFamily="34" charset="0"/>
                        <a:cs typeface="Calibri" panose="020F0502020204030204" pitchFamily="34" charset="0"/>
                      </a:endParaRPr>
                    </a:p>
                  </a:txBody>
                  <a:tcPr/>
                </a:tc>
                <a:tc>
                  <a:txBody>
                    <a:bodyPr/>
                    <a:lstStyle/>
                    <a:p>
                      <a:pPr marL="0" algn="ctr" defTabSz="914400" rtl="0" eaLnBrk="1" latinLnBrk="0" hangingPunct="1"/>
                      <a:endParaRPr lang="en-IN" sz="2800" kern="1200" dirty="0">
                        <a:solidFill>
                          <a:schemeClr val="dk1"/>
                        </a:solidFill>
                        <a:latin typeface="Calibri" panose="020F0502020204030204" pitchFamily="34" charset="0"/>
                        <a:ea typeface="+mn-ea"/>
                        <a:cs typeface="Calibri" panose="020F0502020204030204" pitchFamily="34" charset="0"/>
                      </a:endParaRPr>
                    </a:p>
                  </a:txBody>
                  <a:tcPr>
                    <a:solidFill>
                      <a:srgbClr val="E1E6CD"/>
                    </a:solidFill>
                  </a:tcPr>
                </a:tc>
                <a:tc>
                  <a:txBody>
                    <a:bodyPr/>
                    <a:lstStyle/>
                    <a:p>
                      <a:pPr algn="ctr"/>
                      <a:endParaRPr lang="en-IN" sz="2800" dirty="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681960073"/>
                  </a:ext>
                </a:extLst>
              </a:tr>
            </a:tbl>
          </a:graphicData>
        </a:graphic>
      </p:graphicFrame>
      <p:sp>
        <p:nvSpPr>
          <p:cNvPr id="7" name="TextBox 6"/>
          <p:cNvSpPr txBox="1"/>
          <p:nvPr/>
        </p:nvSpPr>
        <p:spPr>
          <a:xfrm>
            <a:off x="486229" y="3273937"/>
            <a:ext cx="3128917" cy="461665"/>
          </a:xfrm>
          <a:prstGeom prst="rect">
            <a:avLst/>
          </a:prstGeom>
          <a:solidFill>
            <a:srgbClr val="00B0F0"/>
          </a:solidFill>
        </p:spPr>
        <p:txBody>
          <a:bodyPr wrap="square" rtlCol="0">
            <a:spAutoFit/>
          </a:bodyPr>
          <a:lstStyle/>
          <a:p>
            <a:r>
              <a:rPr lang="en-IN" sz="2400" b="1" dirty="0">
                <a:solidFill>
                  <a:srgbClr val="CC0066"/>
                </a:solidFill>
              </a:rPr>
              <a:t>Figure: Stack</a:t>
            </a:r>
          </a:p>
        </p:txBody>
      </p:sp>
      <p:sp>
        <p:nvSpPr>
          <p:cNvPr id="8" name="TextBox 7"/>
          <p:cNvSpPr txBox="1"/>
          <p:nvPr/>
        </p:nvSpPr>
        <p:spPr>
          <a:xfrm>
            <a:off x="486229" y="5334508"/>
            <a:ext cx="4267200" cy="461665"/>
          </a:xfrm>
          <a:prstGeom prst="rect">
            <a:avLst/>
          </a:prstGeom>
          <a:solidFill>
            <a:srgbClr val="00B0F0"/>
          </a:solidFill>
        </p:spPr>
        <p:txBody>
          <a:bodyPr wrap="square" rtlCol="0">
            <a:spAutoFit/>
          </a:bodyPr>
          <a:lstStyle/>
          <a:p>
            <a:r>
              <a:rPr lang="en-IN" sz="2400" b="1" dirty="0">
                <a:solidFill>
                  <a:srgbClr val="CC0066"/>
                </a:solidFill>
              </a:rPr>
              <a:t>Figure: Stack after Deletion</a:t>
            </a:r>
          </a:p>
        </p:txBody>
      </p:sp>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mph" presetSubtype="0" fill="hold" grpId="0" nodeType="clickEffect">
                                  <p:stCondLst>
                                    <p:cond delay="0"/>
                                  </p:stCondLst>
                                  <p:childTnLst>
                                    <p:animRot by="21600000">
                                      <p:cBhvr>
                                        <p:cTn id="12" dur="2000" fill="hold"/>
                                        <p:tgtEl>
                                          <p:spTgt spid="7"/>
                                        </p:tgtEl>
                                        <p:attrNameLst>
                                          <p:attrName>r</p:attrName>
                                        </p:attrNameLst>
                                      </p:cBhvr>
                                    </p:animRo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8" presetClass="emph" presetSubtype="0" fill="hold" grpId="0" nodeType="clickEffect">
                                  <p:stCondLst>
                                    <p:cond delay="0"/>
                                  </p:stCondLst>
                                  <p:childTnLst>
                                    <p:animRot by="21600000">
                                      <p:cBhvr>
                                        <p:cTn id="23" dur="2000" fill="hold"/>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7542" y="3443953"/>
            <a:ext cx="9875520" cy="2984407"/>
          </a:xfrm>
          <a:prstGeom prst="rect">
            <a:avLst/>
          </a:prstGeom>
        </p:spPr>
        <p:txBody>
          <a:bodyPr wrap="square">
            <a:spAutoFit/>
          </a:bodyPr>
          <a:lstStyle/>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1: IF TOP == -1</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		PRINT UNDERFLOW</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		[END OF IF]</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2: SET VAL = STACK[TOP]</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3: SET TOP = TOP - 1</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4: END</a:t>
            </a:r>
          </a:p>
        </p:txBody>
      </p:sp>
      <p:sp>
        <p:nvSpPr>
          <p:cNvPr id="4" name="Title 3"/>
          <p:cNvSpPr>
            <a:spLocks noGrp="1"/>
          </p:cNvSpPr>
          <p:nvPr>
            <p:ph type="title"/>
          </p:nvPr>
        </p:nvSpPr>
        <p:spPr>
          <a:xfrm>
            <a:off x="762000" y="152400"/>
            <a:ext cx="10637520" cy="1356360"/>
          </a:xfrm>
        </p:spPr>
        <p:txBody>
          <a:bodyPr>
            <a:normAutofit/>
          </a:bodyPr>
          <a:lstStyle/>
          <a:p>
            <a:r>
              <a:rPr lang="en-IN" u="sng" dirty="0">
                <a:ln w="0"/>
                <a:solidFill>
                  <a:srgbClr val="CC0066"/>
                </a:solidFill>
                <a:effectLst>
                  <a:outerShdw blurRad="38100" dist="19050" dir="2700000" algn="tl" rotWithShape="0">
                    <a:schemeClr val="dk1">
                      <a:alpha val="40000"/>
                    </a:schemeClr>
                  </a:outerShdw>
                </a:effectLst>
              </a:rPr>
              <a:t>Algorithm to delete an element from a stack</a:t>
            </a:r>
          </a:p>
        </p:txBody>
      </p:sp>
      <p:graphicFrame>
        <p:nvGraphicFramePr>
          <p:cNvPr id="2" name="Table 1"/>
          <p:cNvGraphicFramePr>
            <a:graphicFrameLocks noGrp="1"/>
          </p:cNvGraphicFramePr>
          <p:nvPr>
            <p:extLst>
              <p:ext uri="{D42A27DB-BD31-4B8C-83A1-F6EECF244321}">
                <p14:modId xmlns:p14="http://schemas.microsoft.com/office/powerpoint/2010/main" val="2956728564"/>
              </p:ext>
            </p:extLst>
          </p:nvPr>
        </p:nvGraphicFramePr>
        <p:xfrm>
          <a:off x="8198362" y="2030184"/>
          <a:ext cx="3175000" cy="2996832"/>
        </p:xfrm>
        <a:graphic>
          <a:graphicData uri="http://schemas.openxmlformats.org/drawingml/2006/table">
            <a:tbl>
              <a:tblPr firstRow="1" bandRow="1">
                <a:tableStyleId>{5940675A-B579-460E-94D1-54222C63F5DA}</a:tableStyleId>
              </a:tblPr>
              <a:tblGrid>
                <a:gridCol w="3175000">
                  <a:extLst>
                    <a:ext uri="{9D8B030D-6E8A-4147-A177-3AD203B41FA5}">
                      <a16:colId xmlns:a16="http://schemas.microsoft.com/office/drawing/2014/main" val="4077937010"/>
                    </a:ext>
                  </a:extLst>
                </a:gridCol>
              </a:tblGrid>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70562426"/>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950666"/>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1407867"/>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2469971"/>
                  </a:ext>
                </a:extLst>
              </a:tr>
            </a:tbl>
          </a:graphicData>
        </a:graphic>
      </p:graphicFrame>
      <p:sp>
        <p:nvSpPr>
          <p:cNvPr id="5" name="TextBox 4"/>
          <p:cNvSpPr txBox="1"/>
          <p:nvPr/>
        </p:nvSpPr>
        <p:spPr>
          <a:xfrm>
            <a:off x="9366762" y="2122592"/>
            <a:ext cx="838200" cy="646331"/>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25</a:t>
            </a:r>
          </a:p>
        </p:txBody>
      </p:sp>
      <p:sp>
        <p:nvSpPr>
          <p:cNvPr id="6" name="TextBox 5"/>
          <p:cNvSpPr txBox="1"/>
          <p:nvPr/>
        </p:nvSpPr>
        <p:spPr>
          <a:xfrm>
            <a:off x="9328662" y="2797622"/>
            <a:ext cx="914400" cy="646331"/>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68</a:t>
            </a:r>
          </a:p>
        </p:txBody>
      </p:sp>
      <p:sp>
        <p:nvSpPr>
          <p:cNvPr id="8" name="TextBox 7"/>
          <p:cNvSpPr txBox="1"/>
          <p:nvPr/>
        </p:nvSpPr>
        <p:spPr>
          <a:xfrm>
            <a:off x="9252462" y="3589153"/>
            <a:ext cx="1066800" cy="646331"/>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95</a:t>
            </a:r>
          </a:p>
        </p:txBody>
      </p:sp>
      <p:sp>
        <p:nvSpPr>
          <p:cNvPr id="9" name="TextBox 8"/>
          <p:cNvSpPr txBox="1"/>
          <p:nvPr/>
        </p:nvSpPr>
        <p:spPr>
          <a:xfrm>
            <a:off x="9206742" y="4256321"/>
            <a:ext cx="1158240" cy="923330"/>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10</a:t>
            </a:r>
          </a:p>
          <a:p>
            <a:endParaRPr lang="en-IN" dirty="0"/>
          </a:p>
        </p:txBody>
      </p:sp>
      <p:sp>
        <p:nvSpPr>
          <p:cNvPr id="10" name="TextBox 9"/>
          <p:cNvSpPr txBox="1"/>
          <p:nvPr/>
        </p:nvSpPr>
        <p:spPr>
          <a:xfrm>
            <a:off x="6318762" y="2245451"/>
            <a:ext cx="914400" cy="369332"/>
          </a:xfrm>
          <a:prstGeom prst="rect">
            <a:avLst/>
          </a:prstGeom>
          <a:noFill/>
        </p:spPr>
        <p:txBody>
          <a:bodyPr wrap="square" rtlCol="0">
            <a:spAutoFit/>
          </a:bodyPr>
          <a:lstStyle/>
          <a:p>
            <a:r>
              <a:rPr lang="en-IN" dirty="0"/>
              <a:t>TOP-&gt;</a:t>
            </a:r>
          </a:p>
        </p:txBody>
      </p:sp>
      <p:sp>
        <p:nvSpPr>
          <p:cNvPr id="12" name="TextBox 11"/>
          <p:cNvSpPr txBox="1"/>
          <p:nvPr/>
        </p:nvSpPr>
        <p:spPr>
          <a:xfrm>
            <a:off x="7233162" y="2060931"/>
            <a:ext cx="762000" cy="646331"/>
          </a:xfrm>
          <a:prstGeom prst="rect">
            <a:avLst/>
          </a:prstGeom>
          <a:noFill/>
        </p:spPr>
        <p:txBody>
          <a:bodyPr wrap="square" rtlCol="0">
            <a:spAutoFit/>
          </a:bodyPr>
          <a:lstStyle/>
          <a:p>
            <a:r>
              <a:rPr lang="en-IN" sz="3600" dirty="0"/>
              <a:t>3</a:t>
            </a:r>
          </a:p>
        </p:txBody>
      </p:sp>
      <p:sp>
        <p:nvSpPr>
          <p:cNvPr id="13" name="TextBox 12"/>
          <p:cNvSpPr txBox="1"/>
          <p:nvPr/>
        </p:nvSpPr>
        <p:spPr>
          <a:xfrm>
            <a:off x="7233162" y="2899131"/>
            <a:ext cx="685800" cy="646331"/>
          </a:xfrm>
          <a:prstGeom prst="rect">
            <a:avLst/>
          </a:prstGeom>
          <a:noFill/>
        </p:spPr>
        <p:txBody>
          <a:bodyPr wrap="square" rtlCol="0">
            <a:spAutoFit/>
          </a:bodyPr>
          <a:lstStyle/>
          <a:p>
            <a:r>
              <a:rPr lang="en-IN" sz="3600" dirty="0"/>
              <a:t>2</a:t>
            </a:r>
          </a:p>
        </p:txBody>
      </p:sp>
      <p:sp>
        <p:nvSpPr>
          <p:cNvPr id="14" name="TextBox 13"/>
          <p:cNvSpPr txBox="1"/>
          <p:nvPr/>
        </p:nvSpPr>
        <p:spPr>
          <a:xfrm>
            <a:off x="7233162" y="3584931"/>
            <a:ext cx="533400" cy="646331"/>
          </a:xfrm>
          <a:prstGeom prst="rect">
            <a:avLst/>
          </a:prstGeom>
          <a:noFill/>
        </p:spPr>
        <p:txBody>
          <a:bodyPr wrap="square" rtlCol="0">
            <a:spAutoFit/>
          </a:bodyPr>
          <a:lstStyle/>
          <a:p>
            <a:r>
              <a:rPr lang="en-IN" sz="3600" dirty="0"/>
              <a:t>1</a:t>
            </a:r>
          </a:p>
        </p:txBody>
      </p:sp>
      <p:sp>
        <p:nvSpPr>
          <p:cNvPr id="15" name="TextBox 14"/>
          <p:cNvSpPr txBox="1"/>
          <p:nvPr/>
        </p:nvSpPr>
        <p:spPr>
          <a:xfrm>
            <a:off x="7233162" y="4346931"/>
            <a:ext cx="685800" cy="646331"/>
          </a:xfrm>
          <a:prstGeom prst="rect">
            <a:avLst/>
          </a:prstGeom>
          <a:noFill/>
        </p:spPr>
        <p:txBody>
          <a:bodyPr wrap="square" rtlCol="0">
            <a:spAutoFit/>
          </a:bodyPr>
          <a:lstStyle/>
          <a:p>
            <a:r>
              <a:rPr lang="en-IN" sz="3600" dirty="0"/>
              <a:t>0</a:t>
            </a:r>
          </a:p>
        </p:txBody>
      </p:sp>
      <p:sp>
        <p:nvSpPr>
          <p:cNvPr id="7" name="TextBox 6"/>
          <p:cNvSpPr txBox="1"/>
          <p:nvPr/>
        </p:nvSpPr>
        <p:spPr>
          <a:xfrm>
            <a:off x="7152480" y="5108931"/>
            <a:ext cx="609600" cy="646331"/>
          </a:xfrm>
          <a:prstGeom prst="rect">
            <a:avLst/>
          </a:prstGeom>
          <a:noFill/>
        </p:spPr>
        <p:txBody>
          <a:bodyPr wrap="square" rtlCol="0">
            <a:spAutoFit/>
          </a:bodyPr>
          <a:lstStyle/>
          <a:p>
            <a:r>
              <a:rPr lang="en-IN" sz="3600" dirty="0"/>
              <a:t>-1</a:t>
            </a:r>
          </a:p>
        </p:txBody>
      </p:sp>
    </p:spTree>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xit" presetSubtype="0" fill="hold" grpId="1" nodeType="withEffect">
                                  <p:stCondLst>
                                    <p:cond delay="0"/>
                                  </p:stCondLst>
                                  <p:childTnLst>
                                    <p:set>
                                      <p:cBhvr>
                                        <p:cTn id="8" dur="1" fill="hold">
                                          <p:stCondLst>
                                            <p:cond delay="0"/>
                                          </p:stCondLst>
                                        </p:cTn>
                                        <p:tgtEl>
                                          <p:spTgt spid="1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2"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par>
                                <p:cTn id="22" presetID="42" presetClass="entr" presetSubtype="0" fill="hold" grpId="2"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grpId="1"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par>
                                <p:cTn id="32" presetID="42" presetClass="entr" presetSubtype="0" fill="hold" grpId="1"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par>
                                <p:cTn id="37" presetID="42" presetClass="entr" presetSubtype="0" fill="hold" grpId="1"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xit" presetSubtype="4" fill="hold" grpId="0" nodeType="clickEffect">
                                  <p:stCondLst>
                                    <p:cond delay="0"/>
                                  </p:stCondLst>
                                  <p:childTnLst>
                                    <p:anim calcmode="lin" valueType="num">
                                      <p:cBhvr additive="base">
                                        <p:cTn id="45" dur="500"/>
                                        <p:tgtEl>
                                          <p:spTgt spid="5"/>
                                        </p:tgtEl>
                                        <p:attrNameLst>
                                          <p:attrName>ppt_x</p:attrName>
                                        </p:attrNameLst>
                                      </p:cBhvr>
                                      <p:tavLst>
                                        <p:tav tm="0">
                                          <p:val>
                                            <p:strVal val="ppt_x"/>
                                          </p:val>
                                        </p:tav>
                                        <p:tav tm="100000">
                                          <p:val>
                                            <p:strVal val="ppt_x"/>
                                          </p:val>
                                        </p:tav>
                                      </p:tavLst>
                                    </p:anim>
                                    <p:anim calcmode="lin" valueType="num">
                                      <p:cBhvr additive="base">
                                        <p:cTn id="46" dur="500"/>
                                        <p:tgtEl>
                                          <p:spTgt spid="5"/>
                                        </p:tgtEl>
                                        <p:attrNameLst>
                                          <p:attrName>ppt_y</p:attrName>
                                        </p:attrNameLst>
                                      </p:cBhvr>
                                      <p:tavLst>
                                        <p:tav tm="0">
                                          <p:val>
                                            <p:strVal val="ppt_y"/>
                                          </p:val>
                                        </p:tav>
                                        <p:tav tm="100000">
                                          <p:val>
                                            <p:strVal val="1+ppt_h/2"/>
                                          </p:val>
                                        </p:tav>
                                      </p:tavLst>
                                    </p:anim>
                                    <p:set>
                                      <p:cBhvr>
                                        <p:cTn id="47" dur="1" fill="hold">
                                          <p:stCondLst>
                                            <p:cond delay="499"/>
                                          </p:stCondLst>
                                        </p:cTn>
                                        <p:tgtEl>
                                          <p:spTgt spid="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grpId="0" nodeType="clickEffect">
                                  <p:stCondLst>
                                    <p:cond delay="0"/>
                                  </p:stCondLst>
                                  <p:childTnLst>
                                    <p:animMotion origin="layout" path="M 8.33333E-7 3.33333E-6 L 0.00052 0.12129 " pathEditMode="relative" rAng="0" ptsTypes="AA">
                                      <p:cBhvr>
                                        <p:cTn id="51" dur="2000" fill="hold"/>
                                        <p:tgtEl>
                                          <p:spTgt spid="10"/>
                                        </p:tgtEl>
                                        <p:attrNameLst>
                                          <p:attrName>ppt_x</p:attrName>
                                          <p:attrName>ppt_y</p:attrName>
                                        </p:attrNameLst>
                                      </p:cBhvr>
                                      <p:rCtr x="26" y="6065"/>
                                    </p:animMotion>
                                  </p:childTnLst>
                                </p:cTn>
                              </p:par>
                            </p:childTnLst>
                          </p:cTn>
                        </p:par>
                      </p:childTnLst>
                    </p:cTn>
                  </p:par>
                  <p:par>
                    <p:cTn id="52" fill="hold">
                      <p:stCondLst>
                        <p:cond delay="indefinite"/>
                      </p:stCondLst>
                      <p:childTnLst>
                        <p:par>
                          <p:cTn id="53" fill="hold">
                            <p:stCondLst>
                              <p:cond delay="0"/>
                            </p:stCondLst>
                            <p:childTnLst>
                              <p:par>
                                <p:cTn id="54" presetID="6" presetClass="emph" presetSubtype="0" autoRev="1" fill="hold" nodeType="clickEffect">
                                  <p:stCondLst>
                                    <p:cond delay="0"/>
                                  </p:stCondLst>
                                  <p:childTnLst>
                                    <p:animScale>
                                      <p:cBhvr>
                                        <p:cTn id="55" dur="2000" fill="hold"/>
                                        <p:tgtEl>
                                          <p:spTgt spid="3">
                                            <p:txEl>
                                              <p:pRg st="4" end="4"/>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5" grpId="2"/>
      <p:bldP spid="6" grpId="0"/>
      <p:bldP spid="6" grpId="1"/>
      <p:bldP spid="8" grpId="0"/>
      <p:bldP spid="8" grpId="1"/>
      <p:bldP spid="9" grpId="0"/>
      <p:bldP spid="9" grpId="1"/>
      <p:bldP spid="10" grpId="0"/>
      <p:bldP spid="10" grpId="1"/>
      <p:bldP spid="10" grpId="2"/>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7542" y="3443953"/>
            <a:ext cx="9875520" cy="2984407"/>
          </a:xfrm>
          <a:prstGeom prst="rect">
            <a:avLst/>
          </a:prstGeom>
        </p:spPr>
        <p:txBody>
          <a:bodyPr wrap="square">
            <a:spAutoFit/>
          </a:bodyPr>
          <a:lstStyle/>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1: IF TOP == -1</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		PRINT UNDERFLOW</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		[END OF IF]</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2: SET VAL = STACK[TOP]</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3: SET TOP = TOP - 1</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4: END</a:t>
            </a:r>
          </a:p>
        </p:txBody>
      </p:sp>
      <p:sp>
        <p:nvSpPr>
          <p:cNvPr id="4" name="Title 3"/>
          <p:cNvSpPr>
            <a:spLocks noGrp="1"/>
          </p:cNvSpPr>
          <p:nvPr>
            <p:ph type="title"/>
          </p:nvPr>
        </p:nvSpPr>
        <p:spPr>
          <a:xfrm>
            <a:off x="762000" y="152400"/>
            <a:ext cx="10637520" cy="1356360"/>
          </a:xfrm>
        </p:spPr>
        <p:txBody>
          <a:bodyPr>
            <a:normAutofit/>
          </a:bodyPr>
          <a:lstStyle/>
          <a:p>
            <a:r>
              <a:rPr lang="en-IN" u="sng" dirty="0">
                <a:ln w="0"/>
                <a:solidFill>
                  <a:srgbClr val="CC0066"/>
                </a:solidFill>
                <a:effectLst>
                  <a:outerShdw blurRad="38100" dist="19050" dir="2700000" algn="tl" rotWithShape="0">
                    <a:schemeClr val="dk1">
                      <a:alpha val="40000"/>
                    </a:schemeClr>
                  </a:outerShdw>
                </a:effectLst>
              </a:rPr>
              <a:t>Algorithm to delete an element from a stack</a:t>
            </a:r>
          </a:p>
        </p:txBody>
      </p:sp>
      <p:graphicFrame>
        <p:nvGraphicFramePr>
          <p:cNvPr id="2" name="Table 1"/>
          <p:cNvGraphicFramePr>
            <a:graphicFrameLocks noGrp="1"/>
          </p:cNvGraphicFramePr>
          <p:nvPr/>
        </p:nvGraphicFramePr>
        <p:xfrm>
          <a:off x="8198362" y="2030184"/>
          <a:ext cx="3175000" cy="2996832"/>
        </p:xfrm>
        <a:graphic>
          <a:graphicData uri="http://schemas.openxmlformats.org/drawingml/2006/table">
            <a:tbl>
              <a:tblPr firstRow="1" bandRow="1">
                <a:tableStyleId>{5940675A-B579-460E-94D1-54222C63F5DA}</a:tableStyleId>
              </a:tblPr>
              <a:tblGrid>
                <a:gridCol w="3175000">
                  <a:extLst>
                    <a:ext uri="{9D8B030D-6E8A-4147-A177-3AD203B41FA5}">
                      <a16:colId xmlns:a16="http://schemas.microsoft.com/office/drawing/2014/main" val="4077937010"/>
                    </a:ext>
                  </a:extLst>
                </a:gridCol>
              </a:tblGrid>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70562426"/>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950666"/>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1407867"/>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2469971"/>
                  </a:ext>
                </a:extLst>
              </a:tr>
            </a:tbl>
          </a:graphicData>
        </a:graphic>
      </p:graphicFrame>
      <p:sp>
        <p:nvSpPr>
          <p:cNvPr id="10" name="TextBox 9"/>
          <p:cNvSpPr txBox="1"/>
          <p:nvPr/>
        </p:nvSpPr>
        <p:spPr>
          <a:xfrm>
            <a:off x="6400800" y="5295989"/>
            <a:ext cx="914400" cy="369332"/>
          </a:xfrm>
          <a:prstGeom prst="rect">
            <a:avLst/>
          </a:prstGeom>
          <a:noFill/>
        </p:spPr>
        <p:txBody>
          <a:bodyPr wrap="square" rtlCol="0">
            <a:spAutoFit/>
          </a:bodyPr>
          <a:lstStyle/>
          <a:p>
            <a:r>
              <a:rPr lang="en-IN" dirty="0"/>
              <a:t>TOP-&gt;</a:t>
            </a:r>
          </a:p>
        </p:txBody>
      </p:sp>
      <p:sp>
        <p:nvSpPr>
          <p:cNvPr id="12" name="TextBox 11"/>
          <p:cNvSpPr txBox="1"/>
          <p:nvPr/>
        </p:nvSpPr>
        <p:spPr>
          <a:xfrm>
            <a:off x="7233162" y="2060931"/>
            <a:ext cx="762000" cy="646331"/>
          </a:xfrm>
          <a:prstGeom prst="rect">
            <a:avLst/>
          </a:prstGeom>
          <a:noFill/>
        </p:spPr>
        <p:txBody>
          <a:bodyPr wrap="square" rtlCol="0">
            <a:spAutoFit/>
          </a:bodyPr>
          <a:lstStyle/>
          <a:p>
            <a:r>
              <a:rPr lang="en-IN" sz="3600" dirty="0"/>
              <a:t>3</a:t>
            </a:r>
          </a:p>
        </p:txBody>
      </p:sp>
      <p:sp>
        <p:nvSpPr>
          <p:cNvPr id="13" name="TextBox 12"/>
          <p:cNvSpPr txBox="1"/>
          <p:nvPr/>
        </p:nvSpPr>
        <p:spPr>
          <a:xfrm>
            <a:off x="7233162" y="2899131"/>
            <a:ext cx="685800" cy="646331"/>
          </a:xfrm>
          <a:prstGeom prst="rect">
            <a:avLst/>
          </a:prstGeom>
          <a:noFill/>
        </p:spPr>
        <p:txBody>
          <a:bodyPr wrap="square" rtlCol="0">
            <a:spAutoFit/>
          </a:bodyPr>
          <a:lstStyle/>
          <a:p>
            <a:r>
              <a:rPr lang="en-IN" sz="3600" dirty="0"/>
              <a:t>2</a:t>
            </a:r>
          </a:p>
        </p:txBody>
      </p:sp>
      <p:sp>
        <p:nvSpPr>
          <p:cNvPr id="14" name="TextBox 13"/>
          <p:cNvSpPr txBox="1"/>
          <p:nvPr/>
        </p:nvSpPr>
        <p:spPr>
          <a:xfrm>
            <a:off x="7233162" y="3584931"/>
            <a:ext cx="533400" cy="646331"/>
          </a:xfrm>
          <a:prstGeom prst="rect">
            <a:avLst/>
          </a:prstGeom>
          <a:noFill/>
        </p:spPr>
        <p:txBody>
          <a:bodyPr wrap="square" rtlCol="0">
            <a:spAutoFit/>
          </a:bodyPr>
          <a:lstStyle/>
          <a:p>
            <a:r>
              <a:rPr lang="en-IN" sz="3600" dirty="0"/>
              <a:t>1</a:t>
            </a:r>
          </a:p>
        </p:txBody>
      </p:sp>
      <p:sp>
        <p:nvSpPr>
          <p:cNvPr id="15" name="TextBox 14"/>
          <p:cNvSpPr txBox="1"/>
          <p:nvPr/>
        </p:nvSpPr>
        <p:spPr>
          <a:xfrm>
            <a:off x="7233162" y="4346931"/>
            <a:ext cx="685800" cy="646331"/>
          </a:xfrm>
          <a:prstGeom prst="rect">
            <a:avLst/>
          </a:prstGeom>
          <a:noFill/>
        </p:spPr>
        <p:txBody>
          <a:bodyPr wrap="square" rtlCol="0">
            <a:spAutoFit/>
          </a:bodyPr>
          <a:lstStyle/>
          <a:p>
            <a:r>
              <a:rPr lang="en-IN" sz="3600" dirty="0"/>
              <a:t>0</a:t>
            </a:r>
          </a:p>
        </p:txBody>
      </p:sp>
      <p:sp>
        <p:nvSpPr>
          <p:cNvPr id="7" name="TextBox 6"/>
          <p:cNvSpPr txBox="1"/>
          <p:nvPr/>
        </p:nvSpPr>
        <p:spPr>
          <a:xfrm>
            <a:off x="7152480" y="5108931"/>
            <a:ext cx="609600" cy="646331"/>
          </a:xfrm>
          <a:prstGeom prst="rect">
            <a:avLst/>
          </a:prstGeom>
          <a:noFill/>
        </p:spPr>
        <p:txBody>
          <a:bodyPr wrap="square" rtlCol="0">
            <a:spAutoFit/>
          </a:bodyPr>
          <a:lstStyle/>
          <a:p>
            <a:r>
              <a:rPr lang="en-IN" sz="3600" dirty="0"/>
              <a:t>-1</a:t>
            </a:r>
          </a:p>
        </p:txBody>
      </p:sp>
      <p:sp>
        <p:nvSpPr>
          <p:cNvPr id="16" name="Cloud 15"/>
          <p:cNvSpPr/>
          <p:nvPr/>
        </p:nvSpPr>
        <p:spPr>
          <a:xfrm>
            <a:off x="762000" y="1261930"/>
            <a:ext cx="5073650" cy="1967042"/>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b="1" dirty="0"/>
              <a:t>THIS IS UNDERFLOW CONDITION</a:t>
            </a:r>
          </a:p>
        </p:txBody>
      </p:sp>
    </p:spTree>
    <p:extLst>
      <p:ext uri="{BB962C8B-B14F-4D97-AF65-F5344CB8AC3E}">
        <p14:creationId xmlns:p14="http://schemas.microsoft.com/office/powerpoint/2010/main" val="131908468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ppt_x"/>
                                          </p:val>
                                        </p:tav>
                                        <p:tav tm="100000">
                                          <p:val>
                                            <p:strVal val="#ppt_x"/>
                                          </p:val>
                                        </p:tav>
                                      </p:tavLst>
                                    </p:anim>
                                    <p:anim calcmode="lin" valueType="num">
                                      <p:cBhvr additive="base">
                                        <p:cTn id="8"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6"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MV Boli" panose="02000500030200090000" pitchFamily="2" charset="0"/>
                <a:cs typeface="MV Boli" panose="02000500030200090000" pitchFamily="2" charset="0"/>
              </a:rPr>
              <a:t>Peek Operation</a:t>
            </a:r>
            <a:endParaRPr lang="en-US" dirty="0">
              <a:solidFill>
                <a:srgbClr val="FF0000"/>
              </a:solidFill>
              <a:latin typeface="MV Boli" panose="02000500030200090000" pitchFamily="2" charset="0"/>
              <a:cs typeface="MV Boli" panose="02000500030200090000" pitchFamily="2" charset="0"/>
            </a:endParaRPr>
          </a:p>
        </p:txBody>
      </p:sp>
      <p:pic>
        <p:nvPicPr>
          <p:cNvPr id="5122" name="Picture 2"/>
          <p:cNvPicPr>
            <a:picLocks noGrp="1" noChangeAspect="1" noChangeArrowheads="1"/>
          </p:cNvPicPr>
          <p:nvPr>
            <p:ph idx="1"/>
          </p:nvPr>
        </p:nvPicPr>
        <p:blipFill>
          <a:blip r:embed="rId3" cstate="print"/>
          <a:srcRect/>
          <a:stretch>
            <a:fillRect/>
          </a:stretch>
        </p:blipFill>
        <p:spPr bwMode="auto">
          <a:xfrm>
            <a:off x="304800" y="4038599"/>
            <a:ext cx="8153400" cy="1999129"/>
          </a:xfrm>
          <a:prstGeom prst="rect">
            <a:avLst/>
          </a:prstGeom>
          <a:noFill/>
          <a:ln w="9525">
            <a:noFill/>
            <a:miter lim="800000"/>
            <a:headEnd/>
            <a:tailEnd/>
          </a:ln>
        </p:spPr>
      </p:pic>
      <p:sp>
        <p:nvSpPr>
          <p:cNvPr id="6" name="Cloud Callout 5"/>
          <p:cNvSpPr/>
          <p:nvPr/>
        </p:nvSpPr>
        <p:spPr>
          <a:xfrm>
            <a:off x="2971800" y="2235200"/>
            <a:ext cx="4343400" cy="1828800"/>
          </a:xfrm>
          <a:prstGeom prst="cloudCallout">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IN" sz="2800" dirty="0"/>
              <a:t>Outputs  the value in the </a:t>
            </a:r>
          </a:p>
          <a:p>
            <a:pPr algn="ctr"/>
            <a:r>
              <a:rPr lang="en-IN" sz="2800" dirty="0"/>
              <a:t>top =4 which is 5</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122"/>
                                        </p:tgtEl>
                                        <p:attrNameLst>
                                          <p:attrName>style.visibility</p:attrName>
                                        </p:attrNameLst>
                                      </p:cBhvr>
                                      <p:to>
                                        <p:strVal val="visible"/>
                                      </p:to>
                                    </p:set>
                                    <p:anim calcmode="lin" valueType="num">
                                      <p:cBhvr additive="base">
                                        <p:cTn id="14" dur="500" fill="hold"/>
                                        <p:tgtEl>
                                          <p:spTgt spid="5122"/>
                                        </p:tgtEl>
                                        <p:attrNameLst>
                                          <p:attrName>ppt_x</p:attrName>
                                        </p:attrNameLst>
                                      </p:cBhvr>
                                      <p:tavLst>
                                        <p:tav tm="0">
                                          <p:val>
                                            <p:strVal val="#ppt_x"/>
                                          </p:val>
                                        </p:tav>
                                        <p:tav tm="100000">
                                          <p:val>
                                            <p:strVal val="#ppt_x"/>
                                          </p:val>
                                        </p:tav>
                                      </p:tavLst>
                                    </p:anim>
                                    <p:anim calcmode="lin" valueType="num">
                                      <p:cBhvr additive="base">
                                        <p:cTn id="15"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7542" y="3443953"/>
            <a:ext cx="9875520" cy="2472472"/>
          </a:xfrm>
          <a:prstGeom prst="rect">
            <a:avLst/>
          </a:prstGeom>
        </p:spPr>
        <p:txBody>
          <a:bodyPr wrap="square">
            <a:spAutoFit/>
          </a:bodyPr>
          <a:lstStyle/>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1: IF TOP == -1</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		PRINT Empty</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            ELSE</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           		 PRINT STACK[TOP]</a:t>
            </a:r>
          </a:p>
          <a:p>
            <a:pPr marL="45720">
              <a:lnSpc>
                <a:spcPct val="90000"/>
              </a:lnSpc>
              <a:spcBef>
                <a:spcPts val="1400"/>
              </a:spcBef>
              <a:buClr>
                <a:schemeClr val="accent1"/>
              </a:buClr>
              <a:buSzPct val="80000"/>
            </a:pPr>
            <a:r>
              <a:rPr lang="en-IN" sz="2400" dirty="0">
                <a:ln w="0"/>
                <a:solidFill>
                  <a:srgbClr val="002060"/>
                </a:solidFill>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rPr>
              <a:t>Step 3: END</a:t>
            </a:r>
          </a:p>
        </p:txBody>
      </p:sp>
      <p:sp>
        <p:nvSpPr>
          <p:cNvPr id="4" name="Title 3"/>
          <p:cNvSpPr>
            <a:spLocks noGrp="1"/>
          </p:cNvSpPr>
          <p:nvPr>
            <p:ph type="title"/>
          </p:nvPr>
        </p:nvSpPr>
        <p:spPr>
          <a:xfrm>
            <a:off x="762000" y="152400"/>
            <a:ext cx="10637520" cy="1356360"/>
          </a:xfrm>
        </p:spPr>
        <p:txBody>
          <a:bodyPr>
            <a:normAutofit/>
          </a:bodyPr>
          <a:lstStyle/>
          <a:p>
            <a:r>
              <a:rPr lang="en-IN" u="sng" dirty="0">
                <a:ln w="0"/>
                <a:solidFill>
                  <a:srgbClr val="CC0066"/>
                </a:solidFill>
                <a:effectLst>
                  <a:outerShdw blurRad="38100" dist="19050" dir="2700000" algn="tl" rotWithShape="0">
                    <a:schemeClr val="dk1">
                      <a:alpha val="40000"/>
                    </a:schemeClr>
                  </a:outerShdw>
                </a:effectLst>
              </a:rPr>
              <a:t>Peek element from a stack</a:t>
            </a:r>
          </a:p>
        </p:txBody>
      </p:sp>
      <p:graphicFrame>
        <p:nvGraphicFramePr>
          <p:cNvPr id="2" name="Table 1"/>
          <p:cNvGraphicFramePr>
            <a:graphicFrameLocks noGrp="1"/>
          </p:cNvGraphicFramePr>
          <p:nvPr/>
        </p:nvGraphicFramePr>
        <p:xfrm>
          <a:off x="8198362" y="2030184"/>
          <a:ext cx="3175000" cy="2996832"/>
        </p:xfrm>
        <a:graphic>
          <a:graphicData uri="http://schemas.openxmlformats.org/drawingml/2006/table">
            <a:tbl>
              <a:tblPr firstRow="1" bandRow="1">
                <a:tableStyleId>{5940675A-B579-460E-94D1-54222C63F5DA}</a:tableStyleId>
              </a:tblPr>
              <a:tblGrid>
                <a:gridCol w="3175000">
                  <a:extLst>
                    <a:ext uri="{9D8B030D-6E8A-4147-A177-3AD203B41FA5}">
                      <a16:colId xmlns:a16="http://schemas.microsoft.com/office/drawing/2014/main" val="4077937010"/>
                    </a:ext>
                  </a:extLst>
                </a:gridCol>
              </a:tblGrid>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70562426"/>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950666"/>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1407867"/>
                  </a:ext>
                </a:extLst>
              </a:tr>
              <a:tr h="749208">
                <a:tc>
                  <a:txBody>
                    <a:bodyPr/>
                    <a:lstStyle/>
                    <a:p>
                      <a:pPr algn="ctr"/>
                      <a:endParaRPr lang="en-IN" sz="3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2469971"/>
                  </a:ext>
                </a:extLst>
              </a:tr>
            </a:tbl>
          </a:graphicData>
        </a:graphic>
      </p:graphicFrame>
      <p:sp>
        <p:nvSpPr>
          <p:cNvPr id="5" name="TextBox 4"/>
          <p:cNvSpPr txBox="1"/>
          <p:nvPr/>
        </p:nvSpPr>
        <p:spPr>
          <a:xfrm>
            <a:off x="9366762" y="2122592"/>
            <a:ext cx="838200" cy="646331"/>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25</a:t>
            </a:r>
          </a:p>
        </p:txBody>
      </p:sp>
      <p:sp>
        <p:nvSpPr>
          <p:cNvPr id="6" name="TextBox 5"/>
          <p:cNvSpPr txBox="1"/>
          <p:nvPr/>
        </p:nvSpPr>
        <p:spPr>
          <a:xfrm>
            <a:off x="9328662" y="2797622"/>
            <a:ext cx="914400" cy="646331"/>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68</a:t>
            </a:r>
          </a:p>
        </p:txBody>
      </p:sp>
      <p:sp>
        <p:nvSpPr>
          <p:cNvPr id="8" name="TextBox 7"/>
          <p:cNvSpPr txBox="1"/>
          <p:nvPr/>
        </p:nvSpPr>
        <p:spPr>
          <a:xfrm>
            <a:off x="9252462" y="3589153"/>
            <a:ext cx="1066800" cy="646331"/>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95</a:t>
            </a:r>
          </a:p>
        </p:txBody>
      </p:sp>
      <p:sp>
        <p:nvSpPr>
          <p:cNvPr id="9" name="TextBox 8"/>
          <p:cNvSpPr txBox="1"/>
          <p:nvPr/>
        </p:nvSpPr>
        <p:spPr>
          <a:xfrm>
            <a:off x="9206742" y="4256321"/>
            <a:ext cx="1158240" cy="923330"/>
          </a:xfrm>
          <a:prstGeom prst="rect">
            <a:avLst/>
          </a:prstGeom>
          <a:noFill/>
        </p:spPr>
        <p:txBody>
          <a:bodyPr wrap="square" rtlCol="0">
            <a:spAutoFit/>
          </a:bodyPr>
          <a:lstStyle/>
          <a:p>
            <a:pPr lvl="0" algn="ctr"/>
            <a:r>
              <a:rPr lang="en-IN" sz="3600" b="1" dirty="0">
                <a:solidFill>
                  <a:srgbClr val="000000"/>
                </a:solidFill>
                <a:latin typeface="Times New Roman" panose="02020603050405020304" pitchFamily="18" charset="0"/>
                <a:cs typeface="Times New Roman" panose="02020603050405020304" pitchFamily="18" charset="0"/>
              </a:rPr>
              <a:t>10</a:t>
            </a:r>
          </a:p>
          <a:p>
            <a:endParaRPr lang="en-IN" dirty="0"/>
          </a:p>
        </p:txBody>
      </p:sp>
      <p:sp>
        <p:nvSpPr>
          <p:cNvPr id="10" name="TextBox 9"/>
          <p:cNvSpPr txBox="1"/>
          <p:nvPr/>
        </p:nvSpPr>
        <p:spPr>
          <a:xfrm>
            <a:off x="6318762" y="2245451"/>
            <a:ext cx="914400" cy="369332"/>
          </a:xfrm>
          <a:prstGeom prst="rect">
            <a:avLst/>
          </a:prstGeom>
          <a:noFill/>
        </p:spPr>
        <p:txBody>
          <a:bodyPr wrap="square" rtlCol="0">
            <a:spAutoFit/>
          </a:bodyPr>
          <a:lstStyle/>
          <a:p>
            <a:r>
              <a:rPr lang="en-IN" dirty="0"/>
              <a:t>TOP-&gt;</a:t>
            </a:r>
          </a:p>
        </p:txBody>
      </p:sp>
      <p:sp>
        <p:nvSpPr>
          <p:cNvPr id="12" name="TextBox 11"/>
          <p:cNvSpPr txBox="1"/>
          <p:nvPr/>
        </p:nvSpPr>
        <p:spPr>
          <a:xfrm>
            <a:off x="7233162" y="2060931"/>
            <a:ext cx="762000" cy="646331"/>
          </a:xfrm>
          <a:prstGeom prst="rect">
            <a:avLst/>
          </a:prstGeom>
          <a:noFill/>
        </p:spPr>
        <p:txBody>
          <a:bodyPr wrap="square" rtlCol="0">
            <a:spAutoFit/>
          </a:bodyPr>
          <a:lstStyle/>
          <a:p>
            <a:r>
              <a:rPr lang="en-IN" sz="3600" dirty="0"/>
              <a:t>3</a:t>
            </a:r>
          </a:p>
        </p:txBody>
      </p:sp>
      <p:sp>
        <p:nvSpPr>
          <p:cNvPr id="13" name="TextBox 12"/>
          <p:cNvSpPr txBox="1"/>
          <p:nvPr/>
        </p:nvSpPr>
        <p:spPr>
          <a:xfrm>
            <a:off x="7233162" y="2899131"/>
            <a:ext cx="685800" cy="646331"/>
          </a:xfrm>
          <a:prstGeom prst="rect">
            <a:avLst/>
          </a:prstGeom>
          <a:noFill/>
        </p:spPr>
        <p:txBody>
          <a:bodyPr wrap="square" rtlCol="0">
            <a:spAutoFit/>
          </a:bodyPr>
          <a:lstStyle/>
          <a:p>
            <a:r>
              <a:rPr lang="en-IN" sz="3600" dirty="0"/>
              <a:t>2</a:t>
            </a:r>
          </a:p>
        </p:txBody>
      </p:sp>
      <p:sp>
        <p:nvSpPr>
          <p:cNvPr id="14" name="TextBox 13"/>
          <p:cNvSpPr txBox="1"/>
          <p:nvPr/>
        </p:nvSpPr>
        <p:spPr>
          <a:xfrm>
            <a:off x="7233162" y="3584931"/>
            <a:ext cx="533400" cy="646331"/>
          </a:xfrm>
          <a:prstGeom prst="rect">
            <a:avLst/>
          </a:prstGeom>
          <a:noFill/>
        </p:spPr>
        <p:txBody>
          <a:bodyPr wrap="square" rtlCol="0">
            <a:spAutoFit/>
          </a:bodyPr>
          <a:lstStyle/>
          <a:p>
            <a:r>
              <a:rPr lang="en-IN" sz="3600" dirty="0"/>
              <a:t>1</a:t>
            </a:r>
          </a:p>
        </p:txBody>
      </p:sp>
      <p:sp>
        <p:nvSpPr>
          <p:cNvPr id="15" name="TextBox 14"/>
          <p:cNvSpPr txBox="1"/>
          <p:nvPr/>
        </p:nvSpPr>
        <p:spPr>
          <a:xfrm>
            <a:off x="7233162" y="4346931"/>
            <a:ext cx="685800" cy="646331"/>
          </a:xfrm>
          <a:prstGeom prst="rect">
            <a:avLst/>
          </a:prstGeom>
          <a:noFill/>
        </p:spPr>
        <p:txBody>
          <a:bodyPr wrap="square" rtlCol="0">
            <a:spAutoFit/>
          </a:bodyPr>
          <a:lstStyle/>
          <a:p>
            <a:r>
              <a:rPr lang="en-IN" sz="3600" dirty="0"/>
              <a:t>0</a:t>
            </a:r>
          </a:p>
        </p:txBody>
      </p:sp>
      <p:sp>
        <p:nvSpPr>
          <p:cNvPr id="7" name="TextBox 6"/>
          <p:cNvSpPr txBox="1"/>
          <p:nvPr/>
        </p:nvSpPr>
        <p:spPr>
          <a:xfrm>
            <a:off x="7152480" y="5108931"/>
            <a:ext cx="609600" cy="646331"/>
          </a:xfrm>
          <a:prstGeom prst="rect">
            <a:avLst/>
          </a:prstGeom>
          <a:noFill/>
        </p:spPr>
        <p:txBody>
          <a:bodyPr wrap="square" rtlCol="0">
            <a:spAutoFit/>
          </a:bodyPr>
          <a:lstStyle/>
          <a:p>
            <a:r>
              <a:rPr lang="en-IN" sz="3600" dirty="0"/>
              <a:t>-1</a:t>
            </a:r>
          </a:p>
        </p:txBody>
      </p:sp>
    </p:spTree>
    <p:extLst>
      <p:ext uri="{BB962C8B-B14F-4D97-AF65-F5344CB8AC3E}">
        <p14:creationId xmlns:p14="http://schemas.microsoft.com/office/powerpoint/2010/main" val="3441929634"/>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579" y="457200"/>
            <a:ext cx="8915400" cy="1356360"/>
          </a:xfrm>
        </p:spPr>
        <p:txBody>
          <a:bodyPr>
            <a:normAutofit/>
          </a:bodyPr>
          <a:lstStyle/>
          <a:p>
            <a:r>
              <a:rPr lang="en-US" b="1" dirty="0">
                <a:solidFill>
                  <a:srgbClr val="CC0066"/>
                </a:solidFill>
              </a:rPr>
              <a:t>LINKED REPRESENTATION OF STACK</a:t>
            </a:r>
            <a:endParaRPr lang="en-US" dirty="0">
              <a:solidFill>
                <a:srgbClr val="CC0066"/>
              </a:solidFill>
            </a:endParaRPr>
          </a:p>
        </p:txBody>
      </p:sp>
      <p:pic>
        <p:nvPicPr>
          <p:cNvPr id="10242" name="Picture 2"/>
          <p:cNvPicPr>
            <a:picLocks noGrp="1" noChangeAspect="1" noChangeArrowheads="1"/>
          </p:cNvPicPr>
          <p:nvPr>
            <p:ph idx="1"/>
          </p:nvPr>
        </p:nvPicPr>
        <p:blipFill>
          <a:blip r:embed="rId3" cstate="print"/>
          <a:srcRect/>
          <a:stretch>
            <a:fillRect/>
          </a:stretch>
        </p:blipFill>
        <p:spPr bwMode="auto">
          <a:xfrm>
            <a:off x="609600" y="2209800"/>
            <a:ext cx="6096001" cy="1577181"/>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10134600" cy="1356360"/>
          </a:xfrm>
        </p:spPr>
        <p:txBody>
          <a:bodyPr/>
          <a:lstStyle/>
          <a:p>
            <a:r>
              <a:rPr lang="en-US" b="1" dirty="0">
                <a:solidFill>
                  <a:srgbClr val="CC0066"/>
                </a:solidFill>
              </a:rPr>
              <a:t>OPERATIONS ON A LINKED STACK</a:t>
            </a:r>
            <a:endParaRPr lang="en-US" dirty="0">
              <a:solidFill>
                <a:srgbClr val="CC0066"/>
              </a:solidFill>
            </a:endParaRPr>
          </a:p>
        </p:txBody>
      </p:sp>
      <p:sp>
        <p:nvSpPr>
          <p:cNvPr id="3" name="Content Placeholder 2"/>
          <p:cNvSpPr>
            <a:spLocks noGrp="1"/>
          </p:cNvSpPr>
          <p:nvPr>
            <p:ph idx="1"/>
          </p:nvPr>
        </p:nvSpPr>
        <p:spPr>
          <a:xfrm>
            <a:off x="680085" y="1668780"/>
            <a:ext cx="8229600" cy="838200"/>
          </a:xfrm>
        </p:spPr>
        <p:txBody>
          <a:bodyPr>
            <a:normAutofit/>
          </a:bodyPr>
          <a:lstStyle/>
          <a:p>
            <a:r>
              <a:rPr lang="en-US" sz="2800" b="1" dirty="0">
                <a:latin typeface="MV Boli" panose="02000500030200090000" pitchFamily="2" charset="0"/>
                <a:cs typeface="MV Boli" panose="02000500030200090000" pitchFamily="2" charset="0"/>
              </a:rPr>
              <a:t>Push Operation</a:t>
            </a:r>
            <a:endParaRPr lang="en-US" sz="2800" dirty="0">
              <a:latin typeface="MV Boli" panose="02000500030200090000" pitchFamily="2" charset="0"/>
              <a:cs typeface="MV Boli" panose="02000500030200090000" pitchFamily="2" charset="0"/>
            </a:endParaRPr>
          </a:p>
        </p:txBody>
      </p:sp>
      <p:pic>
        <p:nvPicPr>
          <p:cNvPr id="6146" name="Picture 2"/>
          <p:cNvPicPr>
            <a:picLocks noChangeAspect="1" noChangeArrowheads="1"/>
          </p:cNvPicPr>
          <p:nvPr/>
        </p:nvPicPr>
        <p:blipFill>
          <a:blip r:embed="rId3" cstate="print"/>
          <a:srcRect/>
          <a:stretch>
            <a:fillRect/>
          </a:stretch>
        </p:blipFill>
        <p:spPr bwMode="auto">
          <a:xfrm>
            <a:off x="1969770" y="2514600"/>
            <a:ext cx="5650230" cy="1676400"/>
          </a:xfrm>
          <a:prstGeom prst="rect">
            <a:avLst/>
          </a:prstGeom>
          <a:noFill/>
          <a:ln w="9525">
            <a:noFill/>
            <a:miter lim="800000"/>
            <a:headEnd/>
            <a:tailEnd/>
          </a:ln>
        </p:spPr>
      </p:pic>
      <p:pic>
        <p:nvPicPr>
          <p:cNvPr id="6147" name="Picture 3"/>
          <p:cNvPicPr>
            <a:picLocks noChangeAspect="1" noChangeArrowheads="1"/>
          </p:cNvPicPr>
          <p:nvPr/>
        </p:nvPicPr>
        <p:blipFill>
          <a:blip r:embed="rId4" cstate="print"/>
          <a:srcRect/>
          <a:stretch>
            <a:fillRect/>
          </a:stretch>
        </p:blipFill>
        <p:spPr bwMode="auto">
          <a:xfrm>
            <a:off x="1969770" y="4114800"/>
            <a:ext cx="5650230" cy="17526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0" y="0"/>
            <a:ext cx="11188700" cy="762000"/>
          </a:xfrm>
        </p:spPr>
        <p:txBody>
          <a:bodyPr>
            <a:noAutofit/>
          </a:bodyPr>
          <a:lstStyle/>
          <a:p>
            <a:pPr eaLnBrk="1" hangingPunct="1"/>
            <a:br>
              <a:rPr lang="en-US" altLang="en-US" sz="2800" b="1" dirty="0">
                <a:solidFill>
                  <a:srgbClr val="FFFF00"/>
                </a:solidFill>
                <a:highlight>
                  <a:srgbClr val="000080"/>
                </a:highlight>
                <a:latin typeface="Times New Roman" panose="02020603050405020304" pitchFamily="18" charset="0"/>
                <a:cs typeface="Times New Roman" panose="02020603050405020304" pitchFamily="18" charset="0"/>
              </a:rPr>
            </a:br>
            <a:r>
              <a:rPr lang="en-US" altLang="en-US" sz="2800" b="1" dirty="0">
                <a:solidFill>
                  <a:srgbClr val="FFFF00"/>
                </a:solidFill>
                <a:highlight>
                  <a:srgbClr val="000080"/>
                </a:highlight>
                <a:latin typeface="Times New Roman" panose="02020603050405020304" pitchFamily="18" charset="0"/>
                <a:cs typeface="Times New Roman" panose="02020603050405020304" pitchFamily="18" charset="0"/>
              </a:rPr>
              <a:t>   </a:t>
            </a:r>
            <a:r>
              <a:rPr lang="en-US" altLang="en-US" sz="2800" b="1" dirty="0">
                <a:solidFill>
                  <a:schemeClr val="bg1"/>
                </a:solidFill>
                <a:highlight>
                  <a:srgbClr val="000080"/>
                </a:highlight>
                <a:latin typeface="Times New Roman" panose="02020603050405020304" pitchFamily="18" charset="0"/>
                <a:cs typeface="Times New Roman" panose="02020603050405020304" pitchFamily="18" charset="0"/>
              </a:rPr>
              <a:t>Push: </a:t>
            </a:r>
            <a:r>
              <a:rPr lang="en-US" altLang="en-US" sz="2800" b="1" dirty="0">
                <a:solidFill>
                  <a:srgbClr val="FFFF00"/>
                </a:solidFill>
                <a:highlight>
                  <a:srgbClr val="000080"/>
                </a:highlight>
                <a:latin typeface="Times New Roman" panose="02020603050405020304" pitchFamily="18" charset="0"/>
                <a:cs typeface="Times New Roman" panose="02020603050405020304" pitchFamily="18" charset="0"/>
              </a:rPr>
              <a:t>Inserting a Node at the Beginning of a Linked List</a:t>
            </a:r>
            <a:br>
              <a:rPr lang="en-US" altLang="en-US" sz="2800" dirty="0">
                <a:solidFill>
                  <a:srgbClr val="FFFF00"/>
                </a:solidFill>
                <a:highlight>
                  <a:srgbClr val="000080"/>
                </a:highlight>
                <a:latin typeface="Times New Roman" panose="02020603050405020304" pitchFamily="18" charset="0"/>
                <a:cs typeface="Times New Roman" panose="02020603050405020304" pitchFamily="18" charset="0"/>
              </a:rPr>
            </a:br>
            <a:endParaRPr lang="en-US" altLang="en-US" sz="2800" b="1" dirty="0">
              <a:solidFill>
                <a:srgbClr val="FFFF00"/>
              </a:solidFill>
              <a:highlight>
                <a:srgbClr val="000080"/>
              </a:highlight>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2805376" y="1028636"/>
          <a:ext cx="1625600" cy="512736"/>
        </p:xfrm>
        <a:graphic>
          <a:graphicData uri="http://schemas.openxmlformats.org/drawingml/2006/table">
            <a:tbl>
              <a:tblPr firstRow="1" bandRow="1">
                <a:tableStyleId>{18603FDC-E32A-4AB5-989C-0864C3EAD2B8}</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512736">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6" name="Rectangle 5"/>
          <p:cNvSpPr/>
          <p:nvPr/>
        </p:nvSpPr>
        <p:spPr>
          <a:xfrm>
            <a:off x="2802497" y="1054100"/>
            <a:ext cx="613954" cy="523220"/>
          </a:xfrm>
          <a:prstGeom prst="rect">
            <a:avLst/>
          </a:prstGeom>
          <a:noFill/>
        </p:spPr>
        <p:txBody>
          <a:bodyPr wrap="square" lIns="91440" tIns="45720" rIns="91440" bIns="45720">
            <a:spAutoFit/>
          </a:bodyPr>
          <a:lstStyle/>
          <a:p>
            <a:pPr algn="ctr"/>
            <a:r>
              <a:rPr lang="en-US" sz="2800" b="0" cap="none" spc="0" dirty="0">
                <a:ln w="0"/>
                <a:solidFill>
                  <a:srgbClr val="FFFF00"/>
                </a:solidFill>
                <a:effectLst>
                  <a:outerShdw blurRad="38100" dist="25400" dir="5400000" algn="ctr" rotWithShape="0">
                    <a:srgbClr val="6E747A">
                      <a:alpha val="43000"/>
                    </a:srgbClr>
                  </a:outerShdw>
                </a:effectLst>
              </a:rPr>
              <a:t>10</a:t>
            </a:r>
          </a:p>
        </p:txBody>
      </p:sp>
      <p:graphicFrame>
        <p:nvGraphicFramePr>
          <p:cNvPr id="7" name="Table 6"/>
          <p:cNvGraphicFramePr>
            <a:graphicFrameLocks noGrp="1"/>
          </p:cNvGraphicFramePr>
          <p:nvPr/>
        </p:nvGraphicFramePr>
        <p:xfrm>
          <a:off x="5629139" y="1018152"/>
          <a:ext cx="1632858" cy="523220"/>
        </p:xfrm>
        <a:graphic>
          <a:graphicData uri="http://schemas.openxmlformats.org/drawingml/2006/table">
            <a:tbl>
              <a:tblPr firstRow="1" bandRow="1">
                <a:tableStyleId>{18603FDC-E32A-4AB5-989C-0864C3EAD2B8}</a:tableStyleId>
              </a:tblPr>
              <a:tblGrid>
                <a:gridCol w="816429">
                  <a:extLst>
                    <a:ext uri="{9D8B030D-6E8A-4147-A177-3AD203B41FA5}">
                      <a16:colId xmlns:a16="http://schemas.microsoft.com/office/drawing/2014/main" val="20000"/>
                    </a:ext>
                  </a:extLst>
                </a:gridCol>
                <a:gridCol w="816429">
                  <a:extLst>
                    <a:ext uri="{9D8B030D-6E8A-4147-A177-3AD203B41FA5}">
                      <a16:colId xmlns:a16="http://schemas.microsoft.com/office/drawing/2014/main" val="20001"/>
                    </a:ext>
                  </a:extLst>
                </a:gridCol>
              </a:tblGrid>
              <a:tr h="52322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8" name="Rectangle 7"/>
          <p:cNvSpPr/>
          <p:nvPr/>
        </p:nvSpPr>
        <p:spPr>
          <a:xfrm>
            <a:off x="5708778" y="1018152"/>
            <a:ext cx="550151" cy="523220"/>
          </a:xfrm>
          <a:prstGeom prst="rect">
            <a:avLst/>
          </a:prstGeom>
          <a:noFill/>
        </p:spPr>
        <p:txBody>
          <a:bodyPr wrap="none" lIns="91440" tIns="45720" rIns="91440" bIns="45720">
            <a:spAutoFit/>
          </a:bodyPr>
          <a:lstStyle/>
          <a:p>
            <a:pPr algn="ctr"/>
            <a:r>
              <a:rPr lang="en-US" sz="2800" b="0" cap="none" spc="0" dirty="0">
                <a:ln w="0"/>
                <a:solidFill>
                  <a:srgbClr val="FFFF00"/>
                </a:solidFill>
                <a:effectLst>
                  <a:outerShdw blurRad="38100" dist="25400" dir="5400000" algn="ctr" rotWithShape="0">
                    <a:srgbClr val="6E747A">
                      <a:alpha val="43000"/>
                    </a:srgbClr>
                  </a:outerShdw>
                </a:effectLst>
              </a:rPr>
              <a:t>20</a:t>
            </a:r>
          </a:p>
        </p:txBody>
      </p:sp>
      <p:graphicFrame>
        <p:nvGraphicFramePr>
          <p:cNvPr id="9" name="Table 8"/>
          <p:cNvGraphicFramePr>
            <a:graphicFrameLocks noGrp="1"/>
          </p:cNvGraphicFramePr>
          <p:nvPr/>
        </p:nvGraphicFramePr>
        <p:xfrm>
          <a:off x="8524908" y="1033669"/>
          <a:ext cx="1815738" cy="822960"/>
        </p:xfrm>
        <a:graphic>
          <a:graphicData uri="http://schemas.openxmlformats.org/drawingml/2006/table">
            <a:tbl>
              <a:tblPr firstRow="1" bandRow="1">
                <a:tableStyleId>{18603FDC-E32A-4AB5-989C-0864C3EAD2B8}</a:tableStyleId>
              </a:tblPr>
              <a:tblGrid>
                <a:gridCol w="907869">
                  <a:extLst>
                    <a:ext uri="{9D8B030D-6E8A-4147-A177-3AD203B41FA5}">
                      <a16:colId xmlns:a16="http://schemas.microsoft.com/office/drawing/2014/main" val="20000"/>
                    </a:ext>
                  </a:extLst>
                </a:gridCol>
                <a:gridCol w="907869">
                  <a:extLst>
                    <a:ext uri="{9D8B030D-6E8A-4147-A177-3AD203B41FA5}">
                      <a16:colId xmlns:a16="http://schemas.microsoft.com/office/drawing/2014/main" val="20001"/>
                    </a:ext>
                  </a:extLst>
                </a:gridCol>
              </a:tblGrid>
              <a:tr h="50770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0" name="Rectangle 9"/>
          <p:cNvSpPr/>
          <p:nvPr/>
        </p:nvSpPr>
        <p:spPr>
          <a:xfrm>
            <a:off x="8718833" y="1054100"/>
            <a:ext cx="550151" cy="523220"/>
          </a:xfrm>
          <a:prstGeom prst="rect">
            <a:avLst/>
          </a:prstGeom>
          <a:noFill/>
        </p:spPr>
        <p:txBody>
          <a:bodyPr wrap="none" lIns="91440" tIns="45720" rIns="91440" bIns="45720">
            <a:spAutoFit/>
          </a:bodyPr>
          <a:lstStyle/>
          <a:p>
            <a:pPr algn="ctr"/>
            <a:r>
              <a:rPr lang="en-US" sz="2800" b="0" cap="none" spc="0" dirty="0">
                <a:ln w="0"/>
                <a:solidFill>
                  <a:srgbClr val="FFFF00"/>
                </a:solidFill>
                <a:effectLst>
                  <a:outerShdw blurRad="38100" dist="25400" dir="5400000" algn="ctr" rotWithShape="0">
                    <a:srgbClr val="6E747A">
                      <a:alpha val="43000"/>
                    </a:srgbClr>
                  </a:outerShdw>
                </a:effectLst>
              </a:rPr>
              <a:t>30</a:t>
            </a:r>
          </a:p>
        </p:txBody>
      </p:sp>
      <p:cxnSp>
        <p:nvCxnSpPr>
          <p:cNvPr id="11" name="Straight Arrow Connector 10"/>
          <p:cNvCxnSpPr/>
          <p:nvPr/>
        </p:nvCxnSpPr>
        <p:spPr>
          <a:xfrm>
            <a:off x="4285911" y="1214056"/>
            <a:ext cx="1376644" cy="7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cxnSpLocks/>
          </p:cNvCxnSpPr>
          <p:nvPr/>
        </p:nvCxnSpPr>
        <p:spPr>
          <a:xfrm>
            <a:off x="6879366" y="1226549"/>
            <a:ext cx="166470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2838649" y="2366396"/>
            <a:ext cx="691215" cy="523220"/>
          </a:xfrm>
          <a:prstGeom prst="rect">
            <a:avLst/>
          </a:prstGeom>
          <a:noFill/>
          <a:ln>
            <a:solidFill>
              <a:srgbClr val="FFFF00"/>
            </a:solidFill>
          </a:ln>
        </p:spPr>
        <p:txBody>
          <a:bodyPr wrap="none" lIns="91440" tIns="45720" rIns="91440" bIns="45720">
            <a:spAutoFit/>
          </a:bodyPr>
          <a:lstStyle/>
          <a:p>
            <a:pPr algn="ctr"/>
            <a:r>
              <a:rPr lang="en-US" sz="2800" dirty="0">
                <a:ln w="0"/>
                <a:solidFill>
                  <a:srgbClr val="FFFF00"/>
                </a:solidFill>
                <a:effectLst>
                  <a:outerShdw blurRad="38100" dist="25400" dir="5400000" algn="ctr" rotWithShape="0">
                    <a:srgbClr val="6E747A">
                      <a:alpha val="43000"/>
                    </a:srgbClr>
                  </a:outerShdw>
                </a:effectLst>
                <a:highlight>
                  <a:srgbClr val="800000"/>
                </a:highlight>
              </a:rPr>
              <a:t>top</a:t>
            </a:r>
            <a:endParaRPr lang="en-US" sz="2800" b="0" cap="none" spc="0" dirty="0">
              <a:ln w="0"/>
              <a:solidFill>
                <a:srgbClr val="FFFF00"/>
              </a:solidFill>
              <a:effectLst>
                <a:outerShdw blurRad="38100" dist="25400" dir="5400000" algn="ctr" rotWithShape="0">
                  <a:srgbClr val="6E747A">
                    <a:alpha val="43000"/>
                  </a:srgbClr>
                </a:outerShdw>
              </a:effectLst>
              <a:highlight>
                <a:srgbClr val="800000"/>
              </a:highlight>
            </a:endParaRPr>
          </a:p>
        </p:txBody>
      </p:sp>
      <p:cxnSp>
        <p:nvCxnSpPr>
          <p:cNvPr id="14" name="Straight Arrow Connector 13"/>
          <p:cNvCxnSpPr/>
          <p:nvPr/>
        </p:nvCxnSpPr>
        <p:spPr>
          <a:xfrm flipV="1">
            <a:off x="3184256" y="1602784"/>
            <a:ext cx="8586" cy="7621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Table 23"/>
          <p:cNvGraphicFramePr>
            <a:graphicFrameLocks noGrp="1"/>
          </p:cNvGraphicFramePr>
          <p:nvPr/>
        </p:nvGraphicFramePr>
        <p:xfrm>
          <a:off x="431505" y="1043538"/>
          <a:ext cx="1339404" cy="497833"/>
        </p:xfrm>
        <a:graphic>
          <a:graphicData uri="http://schemas.openxmlformats.org/drawingml/2006/table">
            <a:tbl>
              <a:tblPr firstRow="1" bandRow="1">
                <a:tableStyleId>{18603FDC-E32A-4AB5-989C-0864C3EAD2B8}</a:tableStyleId>
              </a:tblPr>
              <a:tblGrid>
                <a:gridCol w="669702">
                  <a:extLst>
                    <a:ext uri="{9D8B030D-6E8A-4147-A177-3AD203B41FA5}">
                      <a16:colId xmlns:a16="http://schemas.microsoft.com/office/drawing/2014/main" val="20000"/>
                    </a:ext>
                  </a:extLst>
                </a:gridCol>
                <a:gridCol w="669702">
                  <a:extLst>
                    <a:ext uri="{9D8B030D-6E8A-4147-A177-3AD203B41FA5}">
                      <a16:colId xmlns:a16="http://schemas.microsoft.com/office/drawing/2014/main" val="20001"/>
                    </a:ext>
                  </a:extLst>
                </a:gridCol>
              </a:tblGrid>
              <a:tr h="497833">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25" name="Rectangle 24"/>
          <p:cNvSpPr/>
          <p:nvPr/>
        </p:nvSpPr>
        <p:spPr>
          <a:xfrm>
            <a:off x="478390" y="1030832"/>
            <a:ext cx="550151" cy="523220"/>
          </a:xfrm>
          <a:prstGeom prst="rect">
            <a:avLst/>
          </a:prstGeom>
          <a:noFill/>
        </p:spPr>
        <p:txBody>
          <a:bodyPr wrap="none" lIns="91440" tIns="45720" rIns="91440" bIns="45720">
            <a:spAutoFit/>
          </a:bodyPr>
          <a:lstStyle/>
          <a:p>
            <a:pPr algn="ctr"/>
            <a:r>
              <a:rPr lang="en-US" sz="2800" b="0" cap="none" spc="0" dirty="0">
                <a:ln w="0"/>
                <a:solidFill>
                  <a:srgbClr val="FFFF00"/>
                </a:solidFill>
                <a:effectLst>
                  <a:outerShdw blurRad="38100" dist="25400" dir="5400000" algn="ctr" rotWithShape="0">
                    <a:srgbClr val="6E747A">
                      <a:alpha val="43000"/>
                    </a:srgbClr>
                  </a:outerShdw>
                </a:effectLst>
              </a:rPr>
              <a:t>98</a:t>
            </a:r>
          </a:p>
        </p:txBody>
      </p:sp>
      <p:cxnSp>
        <p:nvCxnSpPr>
          <p:cNvPr id="26" name="Straight Arrow Connector 25"/>
          <p:cNvCxnSpPr/>
          <p:nvPr/>
        </p:nvCxnSpPr>
        <p:spPr>
          <a:xfrm flipV="1">
            <a:off x="1430729" y="1585047"/>
            <a:ext cx="12879" cy="76210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692099" y="2347151"/>
            <a:ext cx="1459246" cy="446276"/>
          </a:xfrm>
          <a:prstGeom prst="rect">
            <a:avLst/>
          </a:prstGeom>
          <a:noFill/>
          <a:ln>
            <a:solidFill>
              <a:srgbClr val="FFFF00"/>
            </a:solidFill>
          </a:ln>
        </p:spPr>
        <p:txBody>
          <a:bodyPr wrap="none" lIns="91440" tIns="45720" rIns="91440" bIns="45720">
            <a:spAutoFit/>
          </a:bodyPr>
          <a:lstStyle/>
          <a:p>
            <a:pPr algn="ctr"/>
            <a:r>
              <a:rPr lang="en-US" sz="2300" dirty="0" err="1">
                <a:ln w="0"/>
                <a:solidFill>
                  <a:srgbClr val="FFFF00"/>
                </a:solidFill>
                <a:highlight>
                  <a:srgbClr val="800000"/>
                </a:highlight>
              </a:rPr>
              <a:t>new_node</a:t>
            </a:r>
            <a:endParaRPr lang="en-US" sz="2300" b="0" cap="none" spc="0" dirty="0">
              <a:ln w="0"/>
              <a:solidFill>
                <a:srgbClr val="FFFF00"/>
              </a:solidFill>
              <a:highlight>
                <a:srgbClr val="800000"/>
              </a:highlight>
            </a:endParaRPr>
          </a:p>
        </p:txBody>
      </p:sp>
      <p:cxnSp>
        <p:nvCxnSpPr>
          <p:cNvPr id="28" name="Straight Arrow Connector 27"/>
          <p:cNvCxnSpPr>
            <a:cxnSpLocks/>
            <a:endCxn id="5" idx="1"/>
          </p:cNvCxnSpPr>
          <p:nvPr/>
        </p:nvCxnSpPr>
        <p:spPr>
          <a:xfrm flipV="1">
            <a:off x="1539586" y="1285004"/>
            <a:ext cx="1265790" cy="74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3"/>
          <p:cNvSpPr txBox="1">
            <a:spLocks noChangeArrowheads="1"/>
          </p:cNvSpPr>
          <p:nvPr/>
        </p:nvSpPr>
        <p:spPr>
          <a:xfrm>
            <a:off x="-1" y="3401848"/>
            <a:ext cx="11488995" cy="51631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defRPr/>
            </a:pPr>
            <a:r>
              <a:rPr lang="en-US" sz="2400" b="1" dirty="0">
                <a:solidFill>
                  <a:schemeClr val="bg1"/>
                </a:solidFill>
              </a:rPr>
              <a:t>Algorithm</a:t>
            </a:r>
          </a:p>
          <a:p>
            <a:pPr lvl="1">
              <a:buFontTx/>
              <a:buNone/>
              <a:defRPr/>
            </a:pPr>
            <a:r>
              <a:rPr lang="en-US" dirty="0">
                <a:solidFill>
                  <a:schemeClr val="bg1"/>
                </a:solidFill>
                <a:highlight>
                  <a:srgbClr val="000080"/>
                </a:highlight>
                <a:latin typeface="Times New Roman" panose="02020603050405020304" pitchFamily="18" charset="0"/>
                <a:cs typeface="Times New Roman" panose="02020603050405020304" pitchFamily="18" charset="0"/>
              </a:rPr>
              <a:t>Step 1:   </a:t>
            </a:r>
            <a:r>
              <a:rPr lang="en-US" dirty="0">
                <a:solidFill>
                  <a:srgbClr val="FFC000"/>
                </a:solidFill>
                <a:highlight>
                  <a:srgbClr val="000080"/>
                </a:highlight>
                <a:latin typeface="Times New Roman" panose="02020603050405020304" pitchFamily="18" charset="0"/>
                <a:cs typeface="Times New Roman" panose="02020603050405020304" pitchFamily="18" charset="0"/>
              </a:rPr>
              <a:t>SET </a:t>
            </a:r>
            <a:r>
              <a:rPr lang="en-US" dirty="0" err="1">
                <a:solidFill>
                  <a:srgbClr val="FFC000"/>
                </a:solidFill>
                <a:highlight>
                  <a:srgbClr val="000080"/>
                </a:highlight>
                <a:latin typeface="Times New Roman" panose="02020603050405020304" pitchFamily="18" charset="0"/>
                <a:cs typeface="Times New Roman" panose="02020603050405020304" pitchFamily="18" charset="0"/>
              </a:rPr>
              <a:t>new_node</a:t>
            </a:r>
            <a:r>
              <a:rPr lang="en-US" dirty="0">
                <a:solidFill>
                  <a:srgbClr val="FFC000"/>
                </a:solidFill>
                <a:highlight>
                  <a:srgbClr val="000080"/>
                </a:highlight>
                <a:latin typeface="Times New Roman" panose="02020603050405020304" pitchFamily="18" charset="0"/>
                <a:cs typeface="Times New Roman" panose="02020603050405020304" pitchFamily="18" charset="0"/>
              </a:rPr>
              <a:t> </a:t>
            </a:r>
            <a:r>
              <a:rPr lang="en-US" dirty="0">
                <a:solidFill>
                  <a:srgbClr val="FFFF00"/>
                </a:solidFill>
                <a:highlight>
                  <a:srgbClr val="000080"/>
                </a:highlight>
                <a:latin typeface="Times New Roman" panose="02020603050405020304" pitchFamily="18" charset="0"/>
                <a:cs typeface="Times New Roman" panose="02020603050405020304" pitchFamily="18" charset="0"/>
              </a:rPr>
              <a:t>= (struct node*) malloc(</a:t>
            </a:r>
            <a:r>
              <a:rPr lang="en-US" dirty="0" err="1">
                <a:solidFill>
                  <a:srgbClr val="FFFF00"/>
                </a:solidFill>
                <a:highlight>
                  <a:srgbClr val="000080"/>
                </a:highlight>
                <a:latin typeface="Times New Roman" panose="02020603050405020304" pitchFamily="18" charset="0"/>
                <a:cs typeface="Times New Roman" panose="02020603050405020304" pitchFamily="18" charset="0"/>
              </a:rPr>
              <a:t>sizeof</a:t>
            </a:r>
            <a:r>
              <a:rPr lang="en-US" dirty="0">
                <a:solidFill>
                  <a:srgbClr val="FFFF00"/>
                </a:solidFill>
                <a:highlight>
                  <a:srgbClr val="000080"/>
                </a:highlight>
                <a:latin typeface="Times New Roman" panose="02020603050405020304" pitchFamily="18" charset="0"/>
                <a:cs typeface="Times New Roman" panose="02020603050405020304" pitchFamily="18" charset="0"/>
              </a:rPr>
              <a:t>(struct Node)</a:t>
            </a:r>
          </a:p>
          <a:p>
            <a:pPr lvl="1">
              <a:buFontTx/>
              <a:buNone/>
              <a:defRPr/>
            </a:pPr>
            <a:r>
              <a:rPr lang="en-US" dirty="0">
                <a:solidFill>
                  <a:schemeClr val="bg1"/>
                </a:solidFill>
                <a:highlight>
                  <a:srgbClr val="000080"/>
                </a:highlight>
                <a:latin typeface="Times New Roman" panose="02020603050405020304" pitchFamily="18" charset="0"/>
                <a:cs typeface="Times New Roman" panose="02020603050405020304" pitchFamily="18" charset="0"/>
              </a:rPr>
              <a:t>Step 2</a:t>
            </a:r>
            <a:r>
              <a:rPr lang="en-US" dirty="0">
                <a:solidFill>
                  <a:srgbClr val="FFFF00"/>
                </a:solidFill>
                <a:highlight>
                  <a:srgbClr val="000080"/>
                </a:highlight>
                <a:latin typeface="Times New Roman" panose="02020603050405020304" pitchFamily="18" charset="0"/>
                <a:cs typeface="Times New Roman" panose="02020603050405020304" pitchFamily="18" charset="0"/>
              </a:rPr>
              <a:t>:   </a:t>
            </a:r>
            <a:r>
              <a:rPr lang="en-US" dirty="0">
                <a:solidFill>
                  <a:srgbClr val="FFC000"/>
                </a:solidFill>
                <a:highlight>
                  <a:srgbClr val="000080"/>
                </a:highlight>
                <a:latin typeface="Times New Roman" panose="02020603050405020304" pitchFamily="18" charset="0"/>
                <a:cs typeface="Times New Roman" panose="02020603050405020304" pitchFamily="18" charset="0"/>
              </a:rPr>
              <a:t>SET </a:t>
            </a:r>
            <a:r>
              <a:rPr lang="en-US" dirty="0" err="1">
                <a:solidFill>
                  <a:srgbClr val="FFC000"/>
                </a:solidFill>
                <a:highlight>
                  <a:srgbClr val="000080"/>
                </a:highlight>
                <a:latin typeface="Times New Roman" panose="02020603050405020304" pitchFamily="18" charset="0"/>
                <a:cs typeface="Times New Roman" panose="02020603050405020304" pitchFamily="18" charset="0"/>
              </a:rPr>
              <a:t>new_node</a:t>
            </a:r>
            <a:r>
              <a:rPr lang="en-US" dirty="0">
                <a:solidFill>
                  <a:srgbClr val="FFC000"/>
                </a:solidFill>
                <a:highlight>
                  <a:srgbClr val="000080"/>
                </a:highlight>
                <a:latin typeface="Times New Roman" panose="02020603050405020304" pitchFamily="18" charset="0"/>
                <a:cs typeface="Times New Roman" panose="02020603050405020304" pitchFamily="18" charset="0"/>
              </a:rPr>
              <a:t> </a:t>
            </a:r>
            <a:r>
              <a:rPr lang="en-US" dirty="0">
                <a:solidFill>
                  <a:srgbClr val="FFC000"/>
                </a:solidFill>
                <a:highlight>
                  <a:srgbClr val="000080"/>
                </a:highlight>
                <a:latin typeface="Times New Roman" panose="02020603050405020304" pitchFamily="18" charset="0"/>
                <a:cs typeface="Times New Roman" panose="02020603050405020304" pitchFamily="18" charset="0"/>
                <a:sym typeface="Wingdings"/>
              </a:rPr>
              <a:t></a:t>
            </a:r>
            <a:r>
              <a:rPr lang="en-US" dirty="0">
                <a:solidFill>
                  <a:srgbClr val="FFC000"/>
                </a:solidFill>
                <a:highlight>
                  <a:srgbClr val="000080"/>
                </a:highlight>
                <a:latin typeface="Times New Roman" panose="02020603050405020304" pitchFamily="18" charset="0"/>
                <a:cs typeface="Times New Roman" panose="02020603050405020304" pitchFamily="18" charset="0"/>
              </a:rPr>
              <a:t>DATA = VAL</a:t>
            </a:r>
          </a:p>
          <a:p>
            <a:pPr lvl="1">
              <a:buFontTx/>
              <a:buNone/>
              <a:defRPr/>
            </a:pPr>
            <a:r>
              <a:rPr lang="en-US" dirty="0">
                <a:solidFill>
                  <a:schemeClr val="bg1"/>
                </a:solidFill>
                <a:highlight>
                  <a:srgbClr val="000080"/>
                </a:highlight>
                <a:latin typeface="Times New Roman" panose="02020603050405020304" pitchFamily="18" charset="0"/>
                <a:cs typeface="Times New Roman" panose="02020603050405020304" pitchFamily="18" charset="0"/>
              </a:rPr>
              <a:t>Step 3:   </a:t>
            </a:r>
            <a:r>
              <a:rPr lang="en-US" dirty="0">
                <a:solidFill>
                  <a:srgbClr val="FFC000"/>
                </a:solidFill>
                <a:highlight>
                  <a:srgbClr val="000080"/>
                </a:highlight>
                <a:latin typeface="Times New Roman" panose="02020603050405020304" pitchFamily="18" charset="0"/>
                <a:cs typeface="Times New Roman" panose="02020603050405020304" pitchFamily="18" charset="0"/>
              </a:rPr>
              <a:t>SET </a:t>
            </a:r>
            <a:r>
              <a:rPr lang="en-US" dirty="0" err="1">
                <a:solidFill>
                  <a:srgbClr val="FFC000"/>
                </a:solidFill>
                <a:highlight>
                  <a:srgbClr val="000080"/>
                </a:highlight>
                <a:latin typeface="Times New Roman" panose="02020603050405020304" pitchFamily="18" charset="0"/>
                <a:cs typeface="Times New Roman" panose="02020603050405020304" pitchFamily="18" charset="0"/>
              </a:rPr>
              <a:t>new_node</a:t>
            </a:r>
            <a:r>
              <a:rPr lang="en-US" dirty="0">
                <a:solidFill>
                  <a:srgbClr val="FFC000"/>
                </a:solidFill>
                <a:highlight>
                  <a:srgbClr val="000080"/>
                </a:highlight>
                <a:latin typeface="Times New Roman" panose="02020603050405020304" pitchFamily="18" charset="0"/>
                <a:cs typeface="Times New Roman" panose="02020603050405020304" pitchFamily="18" charset="0"/>
              </a:rPr>
              <a:t>-&gt;next=top</a:t>
            </a:r>
          </a:p>
          <a:p>
            <a:pPr lvl="1">
              <a:buFontTx/>
              <a:buNone/>
              <a:defRPr/>
            </a:pPr>
            <a:r>
              <a:rPr lang="en-US" dirty="0">
                <a:solidFill>
                  <a:schemeClr val="bg1"/>
                </a:solidFill>
                <a:highlight>
                  <a:srgbClr val="000080"/>
                </a:highlight>
                <a:latin typeface="Times New Roman" panose="02020603050405020304" pitchFamily="18" charset="0"/>
                <a:cs typeface="Times New Roman" panose="02020603050405020304" pitchFamily="18" charset="0"/>
              </a:rPr>
              <a:t>Step 4:   </a:t>
            </a:r>
            <a:r>
              <a:rPr lang="en-US" dirty="0">
                <a:solidFill>
                  <a:srgbClr val="FFC000"/>
                </a:solidFill>
                <a:highlight>
                  <a:srgbClr val="000080"/>
                </a:highlight>
                <a:latin typeface="Times New Roman" panose="02020603050405020304" pitchFamily="18" charset="0"/>
                <a:cs typeface="Times New Roman" panose="02020603050405020304" pitchFamily="18" charset="0"/>
              </a:rPr>
              <a:t>SET top=</a:t>
            </a:r>
            <a:r>
              <a:rPr lang="en-US" dirty="0" err="1">
                <a:solidFill>
                  <a:srgbClr val="FFC000"/>
                </a:solidFill>
                <a:highlight>
                  <a:srgbClr val="000080"/>
                </a:highlight>
                <a:latin typeface="Times New Roman" panose="02020603050405020304" pitchFamily="18" charset="0"/>
                <a:cs typeface="Times New Roman" panose="02020603050405020304" pitchFamily="18" charset="0"/>
              </a:rPr>
              <a:t>new_node</a:t>
            </a:r>
            <a:endParaRPr lang="en-US" dirty="0">
              <a:solidFill>
                <a:srgbClr val="FFC000"/>
              </a:solidFill>
              <a:highlight>
                <a:srgbClr val="000080"/>
              </a:highlight>
              <a:latin typeface="Times New Roman" panose="02020603050405020304" pitchFamily="18" charset="0"/>
              <a:cs typeface="Times New Roman" panose="02020603050405020304" pitchFamily="18" charset="0"/>
            </a:endParaRPr>
          </a:p>
          <a:p>
            <a:pPr lvl="1">
              <a:buFontTx/>
              <a:buNone/>
              <a:defRPr/>
            </a:pPr>
            <a:r>
              <a:rPr lang="en-US" dirty="0">
                <a:solidFill>
                  <a:schemeClr val="bg1"/>
                </a:solidFill>
                <a:highlight>
                  <a:srgbClr val="000080"/>
                </a:highlight>
                <a:latin typeface="Times New Roman" panose="02020603050405020304" pitchFamily="18" charset="0"/>
                <a:cs typeface="Times New Roman" panose="02020603050405020304" pitchFamily="18" charset="0"/>
              </a:rPr>
              <a:t>Step 5</a:t>
            </a:r>
            <a:r>
              <a:rPr lang="en-US" dirty="0">
                <a:solidFill>
                  <a:srgbClr val="FFFF00"/>
                </a:solidFill>
                <a:highlight>
                  <a:srgbClr val="000080"/>
                </a:highlight>
                <a:latin typeface="Times New Roman" panose="02020603050405020304" pitchFamily="18" charset="0"/>
                <a:cs typeface="Times New Roman" panose="02020603050405020304" pitchFamily="18" charset="0"/>
              </a:rPr>
              <a:t>:   EXIT</a:t>
            </a:r>
          </a:p>
          <a:p>
            <a:pPr>
              <a:buFont typeface="Wingdings" panose="05000000000000000000" pitchFamily="2" charset="2"/>
              <a:buNone/>
              <a:defRPr/>
            </a:pPr>
            <a:endParaRPr lang="en-US" sz="2400" dirty="0"/>
          </a:p>
        </p:txBody>
      </p:sp>
    </p:spTree>
    <p:extLst>
      <p:ext uri="{BB962C8B-B14F-4D97-AF65-F5344CB8AC3E}">
        <p14:creationId xmlns:p14="http://schemas.microsoft.com/office/powerpoint/2010/main" val="3813223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fade">
                                      <p:cBhvr>
                                        <p:cTn id="13" dur="1000"/>
                                        <p:tgtEl>
                                          <p:spTgt spid="26"/>
                                        </p:tgtEl>
                                      </p:cBhvr>
                                    </p:animEffect>
                                    <p:anim calcmode="lin" valueType="num">
                                      <p:cBhvr>
                                        <p:cTn id="14" dur="1000" fill="hold"/>
                                        <p:tgtEl>
                                          <p:spTgt spid="26"/>
                                        </p:tgtEl>
                                        <p:attrNameLst>
                                          <p:attrName>ppt_x</p:attrName>
                                        </p:attrNameLst>
                                      </p:cBhvr>
                                      <p:tavLst>
                                        <p:tav tm="0">
                                          <p:val>
                                            <p:strVal val="#ppt_x"/>
                                          </p:val>
                                        </p:tav>
                                        <p:tav tm="100000">
                                          <p:val>
                                            <p:strVal val="#ppt_x"/>
                                          </p:val>
                                        </p:tav>
                                      </p:tavLst>
                                    </p:anim>
                                    <p:anim calcmode="lin" valueType="num">
                                      <p:cBhvr>
                                        <p:cTn id="15" dur="1000" fill="hold"/>
                                        <p:tgtEl>
                                          <p:spTgt spid="26"/>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fade">
                                      <p:cBhvr>
                                        <p:cTn id="18" dur="1000"/>
                                        <p:tgtEl>
                                          <p:spTgt spid="27"/>
                                        </p:tgtEl>
                                      </p:cBhvr>
                                    </p:animEffect>
                                    <p:anim calcmode="lin" valueType="num">
                                      <p:cBhvr>
                                        <p:cTn id="19" dur="1000" fill="hold"/>
                                        <p:tgtEl>
                                          <p:spTgt spid="27"/>
                                        </p:tgtEl>
                                        <p:attrNameLst>
                                          <p:attrName>ppt_x</p:attrName>
                                        </p:attrNameLst>
                                      </p:cBhvr>
                                      <p:tavLst>
                                        <p:tav tm="0">
                                          <p:val>
                                            <p:strVal val="#ppt_x"/>
                                          </p:val>
                                        </p:tav>
                                        <p:tav tm="100000">
                                          <p:val>
                                            <p:strVal val="#ppt_x"/>
                                          </p:val>
                                        </p:tav>
                                      </p:tavLst>
                                    </p:anim>
                                    <p:anim calcmode="lin" valueType="num">
                                      <p:cBhvr>
                                        <p:cTn id="20"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1000"/>
                                        <p:tgtEl>
                                          <p:spTgt spid="25"/>
                                        </p:tgtEl>
                                      </p:cBhvr>
                                    </p:animEffect>
                                    <p:anim calcmode="lin" valueType="num">
                                      <p:cBhvr>
                                        <p:cTn id="26" dur="1000" fill="hold"/>
                                        <p:tgtEl>
                                          <p:spTgt spid="25"/>
                                        </p:tgtEl>
                                        <p:attrNameLst>
                                          <p:attrName>ppt_x</p:attrName>
                                        </p:attrNameLst>
                                      </p:cBhvr>
                                      <p:tavLst>
                                        <p:tav tm="0">
                                          <p:val>
                                            <p:strVal val="#ppt_x"/>
                                          </p:val>
                                        </p:tav>
                                        <p:tav tm="100000">
                                          <p:val>
                                            <p:strVal val="#ppt_x"/>
                                          </p:val>
                                        </p:tav>
                                      </p:tavLst>
                                    </p:anim>
                                    <p:anim calcmode="lin" valueType="num">
                                      <p:cBhvr>
                                        <p:cTn id="27"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1000"/>
                                        <p:tgtEl>
                                          <p:spTgt spid="28"/>
                                        </p:tgtEl>
                                      </p:cBhvr>
                                    </p:animEffect>
                                    <p:anim calcmode="lin" valueType="num">
                                      <p:cBhvr>
                                        <p:cTn id="33" dur="1000" fill="hold"/>
                                        <p:tgtEl>
                                          <p:spTgt spid="28"/>
                                        </p:tgtEl>
                                        <p:attrNameLst>
                                          <p:attrName>ppt_x</p:attrName>
                                        </p:attrNameLst>
                                      </p:cBhvr>
                                      <p:tavLst>
                                        <p:tav tm="0">
                                          <p:val>
                                            <p:strVal val="#ppt_x"/>
                                          </p:val>
                                        </p:tav>
                                        <p:tav tm="100000">
                                          <p:val>
                                            <p:strVal val="#ppt_x"/>
                                          </p:val>
                                        </p:tav>
                                      </p:tavLst>
                                    </p:anim>
                                    <p:anim calcmode="lin" valueType="num">
                                      <p:cBhvr>
                                        <p:cTn id="3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5" presetClass="path" presetSubtype="0" accel="50000" decel="50000" fill="hold" nodeType="clickEffect">
                                  <p:stCondLst>
                                    <p:cond delay="0"/>
                                  </p:stCondLst>
                                  <p:childTnLst>
                                    <p:animMotion origin="layout" path="M 1.66667E-6 -1.85185E-6 L -0.20833 0.01019 " pathEditMode="relative" rAng="0" ptsTypes="AA">
                                      <p:cBhvr>
                                        <p:cTn id="38" dur="2000" fill="hold"/>
                                        <p:tgtEl>
                                          <p:spTgt spid="14"/>
                                        </p:tgtEl>
                                        <p:attrNameLst>
                                          <p:attrName>ppt_x</p:attrName>
                                          <p:attrName>ppt_y</p:attrName>
                                        </p:attrNameLst>
                                      </p:cBhvr>
                                      <p:rCtr x="-10417" y="509"/>
                                    </p:animMotion>
                                  </p:childTnLst>
                                </p:cTn>
                              </p:par>
                              <p:par>
                                <p:cTn id="39" presetID="35" presetClass="path" presetSubtype="0" accel="50000" decel="50000" fill="hold" grpId="0" nodeType="withEffect">
                                  <p:stCondLst>
                                    <p:cond delay="0"/>
                                  </p:stCondLst>
                                  <p:childTnLst>
                                    <p:animMotion origin="layout" path="M 2.08333E-6 -1.85185E-6 L -0.22201 0.00347 " pathEditMode="relative" rAng="0" ptsTypes="AA">
                                      <p:cBhvr>
                                        <p:cTn id="40" dur="2000" fill="hold"/>
                                        <p:tgtEl>
                                          <p:spTgt spid="13"/>
                                        </p:tgtEl>
                                        <p:attrNameLst>
                                          <p:attrName>ppt_x</p:attrName>
                                          <p:attrName>ppt_y</p:attrName>
                                        </p:attrNameLst>
                                      </p:cBhvr>
                                      <p:rCtr x="-11107" y="16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5" grpId="0"/>
      <p:bldP spid="2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a:solidFill>
                  <a:srgbClr val="CC0066"/>
                </a:solidFill>
                <a:latin typeface="MV Boli" panose="02000500030200090000" pitchFamily="2" charset="0"/>
                <a:ea typeface="+mn-ea"/>
                <a:cs typeface="MV Boli" panose="02000500030200090000" pitchFamily="2" charset="0"/>
              </a:rPr>
              <a:t>Pop Operation</a:t>
            </a:r>
          </a:p>
        </p:txBody>
      </p:sp>
      <p:pic>
        <p:nvPicPr>
          <p:cNvPr id="8194" name="Picture 2"/>
          <p:cNvPicPr>
            <a:picLocks noGrp="1" noChangeAspect="1" noChangeArrowheads="1"/>
          </p:cNvPicPr>
          <p:nvPr>
            <p:ph idx="1"/>
          </p:nvPr>
        </p:nvPicPr>
        <p:blipFill>
          <a:blip r:embed="rId3" cstate="print"/>
          <a:srcRect/>
          <a:stretch>
            <a:fillRect/>
          </a:stretch>
        </p:blipFill>
        <p:spPr bwMode="auto">
          <a:xfrm>
            <a:off x="1905000" y="1965960"/>
            <a:ext cx="5638800" cy="1981200"/>
          </a:xfrm>
          <a:prstGeom prst="rect">
            <a:avLst/>
          </a:prstGeom>
          <a:noFill/>
          <a:ln w="9525">
            <a:noFill/>
            <a:miter lim="800000"/>
            <a:headEnd/>
            <a:tailEnd/>
          </a:ln>
        </p:spPr>
      </p:pic>
      <p:pic>
        <p:nvPicPr>
          <p:cNvPr id="8195" name="Picture 3"/>
          <p:cNvPicPr>
            <a:picLocks noChangeAspect="1" noChangeArrowheads="1"/>
          </p:cNvPicPr>
          <p:nvPr/>
        </p:nvPicPr>
        <p:blipFill>
          <a:blip r:embed="rId4" cstate="print"/>
          <a:srcRect/>
          <a:stretch>
            <a:fillRect/>
          </a:stretch>
        </p:blipFill>
        <p:spPr bwMode="auto">
          <a:xfrm>
            <a:off x="1905000" y="3733800"/>
            <a:ext cx="5715000" cy="1752600"/>
          </a:xfrm>
          <a:prstGeom prst="rect">
            <a:avLst/>
          </a:prstGeom>
          <a:noFill/>
          <a:ln w="9525">
            <a:noFill/>
            <a:miter lim="800000"/>
            <a:headEnd/>
            <a:tailEnd/>
          </a:ln>
        </p:spPr>
      </p:pic>
    </p:spTree>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76021" y="1502229"/>
          <a:ext cx="1241944" cy="674150"/>
        </p:xfrm>
        <a:graphic>
          <a:graphicData uri="http://schemas.openxmlformats.org/drawingml/2006/table">
            <a:tbl>
              <a:tblPr firstRow="1" bandRow="1">
                <a:tableStyleId>{18603FDC-E32A-4AB5-989C-0864C3EAD2B8}</a:tableStyleId>
              </a:tblPr>
              <a:tblGrid>
                <a:gridCol w="620972">
                  <a:extLst>
                    <a:ext uri="{9D8B030D-6E8A-4147-A177-3AD203B41FA5}">
                      <a16:colId xmlns:a16="http://schemas.microsoft.com/office/drawing/2014/main" val="20000"/>
                    </a:ext>
                  </a:extLst>
                </a:gridCol>
                <a:gridCol w="620972">
                  <a:extLst>
                    <a:ext uri="{9D8B030D-6E8A-4147-A177-3AD203B41FA5}">
                      <a16:colId xmlns:a16="http://schemas.microsoft.com/office/drawing/2014/main" val="20001"/>
                    </a:ext>
                  </a:extLst>
                </a:gridCol>
              </a:tblGrid>
              <a:tr h="67415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nvGraphicFramePr>
        <p:xfrm>
          <a:off x="2059759" y="1502229"/>
          <a:ext cx="1107634" cy="668900"/>
        </p:xfrm>
        <a:graphic>
          <a:graphicData uri="http://schemas.openxmlformats.org/drawingml/2006/table">
            <a:tbl>
              <a:tblPr firstRow="1" bandRow="1">
                <a:tableStyleId>{18603FDC-E32A-4AB5-989C-0864C3EAD2B8}</a:tableStyleId>
              </a:tblPr>
              <a:tblGrid>
                <a:gridCol w="553817">
                  <a:extLst>
                    <a:ext uri="{9D8B030D-6E8A-4147-A177-3AD203B41FA5}">
                      <a16:colId xmlns:a16="http://schemas.microsoft.com/office/drawing/2014/main" val="20000"/>
                    </a:ext>
                  </a:extLst>
                </a:gridCol>
                <a:gridCol w="553817">
                  <a:extLst>
                    <a:ext uri="{9D8B030D-6E8A-4147-A177-3AD203B41FA5}">
                      <a16:colId xmlns:a16="http://schemas.microsoft.com/office/drawing/2014/main" val="20001"/>
                    </a:ext>
                  </a:extLst>
                </a:gridCol>
              </a:tblGrid>
              <a:tr h="66890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7918321" y="1502229"/>
          <a:ext cx="1205006" cy="701040"/>
        </p:xfrm>
        <a:graphic>
          <a:graphicData uri="http://schemas.openxmlformats.org/drawingml/2006/table">
            <a:tbl>
              <a:tblPr firstRow="1" bandRow="1">
                <a:tableStyleId>{18603FDC-E32A-4AB5-989C-0864C3EAD2B8}</a:tableStyleId>
              </a:tblPr>
              <a:tblGrid>
                <a:gridCol w="602503">
                  <a:extLst>
                    <a:ext uri="{9D8B030D-6E8A-4147-A177-3AD203B41FA5}">
                      <a16:colId xmlns:a16="http://schemas.microsoft.com/office/drawing/2014/main" val="20000"/>
                    </a:ext>
                  </a:extLst>
                </a:gridCol>
                <a:gridCol w="602503">
                  <a:extLst>
                    <a:ext uri="{9D8B030D-6E8A-4147-A177-3AD203B41FA5}">
                      <a16:colId xmlns:a16="http://schemas.microsoft.com/office/drawing/2014/main" val="20001"/>
                    </a:ext>
                  </a:extLst>
                </a:gridCol>
              </a:tblGrid>
              <a:tr h="66175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4000" dirty="0"/>
                        <a:t>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nvGraphicFramePr>
        <p:xfrm>
          <a:off x="5740670" y="1502229"/>
          <a:ext cx="1320166" cy="665861"/>
        </p:xfrm>
        <a:graphic>
          <a:graphicData uri="http://schemas.openxmlformats.org/drawingml/2006/table">
            <a:tbl>
              <a:tblPr firstRow="1" bandRow="1">
                <a:tableStyleId>{18603FDC-E32A-4AB5-989C-0864C3EAD2B8}</a:tableStyleId>
              </a:tblPr>
              <a:tblGrid>
                <a:gridCol w="660083">
                  <a:extLst>
                    <a:ext uri="{9D8B030D-6E8A-4147-A177-3AD203B41FA5}">
                      <a16:colId xmlns:a16="http://schemas.microsoft.com/office/drawing/2014/main" val="20000"/>
                    </a:ext>
                  </a:extLst>
                </a:gridCol>
                <a:gridCol w="660083">
                  <a:extLst>
                    <a:ext uri="{9D8B030D-6E8A-4147-A177-3AD203B41FA5}">
                      <a16:colId xmlns:a16="http://schemas.microsoft.com/office/drawing/2014/main" val="20001"/>
                    </a:ext>
                  </a:extLst>
                </a:gridCol>
              </a:tblGrid>
              <a:tr h="66586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8" name="Table 7"/>
          <p:cNvGraphicFramePr>
            <a:graphicFrameLocks noGrp="1"/>
          </p:cNvGraphicFramePr>
          <p:nvPr/>
        </p:nvGraphicFramePr>
        <p:xfrm>
          <a:off x="3760485" y="1502229"/>
          <a:ext cx="1181332" cy="667412"/>
        </p:xfrm>
        <a:graphic>
          <a:graphicData uri="http://schemas.openxmlformats.org/drawingml/2006/table">
            <a:tbl>
              <a:tblPr firstRow="1" bandRow="1">
                <a:tableStyleId>{18603FDC-E32A-4AB5-989C-0864C3EAD2B8}</a:tableStyleId>
              </a:tblPr>
              <a:tblGrid>
                <a:gridCol w="590666">
                  <a:extLst>
                    <a:ext uri="{9D8B030D-6E8A-4147-A177-3AD203B41FA5}">
                      <a16:colId xmlns:a16="http://schemas.microsoft.com/office/drawing/2014/main" val="20000"/>
                    </a:ext>
                  </a:extLst>
                </a:gridCol>
                <a:gridCol w="590666">
                  <a:extLst>
                    <a:ext uri="{9D8B030D-6E8A-4147-A177-3AD203B41FA5}">
                      <a16:colId xmlns:a16="http://schemas.microsoft.com/office/drawing/2014/main" val="20001"/>
                    </a:ext>
                  </a:extLst>
                </a:gridCol>
              </a:tblGrid>
              <a:tr h="66741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9" name="Rectangle 8"/>
          <p:cNvSpPr/>
          <p:nvPr/>
        </p:nvSpPr>
        <p:spPr>
          <a:xfrm>
            <a:off x="153361" y="1482736"/>
            <a:ext cx="704039" cy="70788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w="0"/>
                <a:solidFill>
                  <a:srgbClr val="FFFF00"/>
                </a:solidFill>
                <a:effectLst>
                  <a:outerShdw blurRad="38100" dist="25400" dir="5400000" algn="ctr" rotWithShape="0">
                    <a:srgbClr val="6E747A">
                      <a:alpha val="43000"/>
                    </a:srgbClr>
                  </a:outerShdw>
                </a:effectLst>
                <a:uLnTx/>
                <a:uFillTx/>
                <a:latin typeface="Calibri" panose="020F0502020204030204"/>
                <a:ea typeface="+mn-ea"/>
                <a:cs typeface="+mn-cs"/>
              </a:rPr>
              <a:t>10</a:t>
            </a:r>
          </a:p>
        </p:txBody>
      </p:sp>
      <p:sp>
        <p:nvSpPr>
          <p:cNvPr id="10" name="Rectangle 9"/>
          <p:cNvSpPr/>
          <p:nvPr/>
        </p:nvSpPr>
        <p:spPr>
          <a:xfrm>
            <a:off x="7859689" y="1463243"/>
            <a:ext cx="704039" cy="70788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w="0"/>
                <a:solidFill>
                  <a:srgbClr val="FFFF00"/>
                </a:solidFill>
                <a:effectLst>
                  <a:outerShdw blurRad="38100" dist="25400" dir="5400000" algn="ctr" rotWithShape="0">
                    <a:srgbClr val="6E747A">
                      <a:alpha val="43000"/>
                    </a:srgbClr>
                  </a:outerShdw>
                </a:effectLst>
                <a:uLnTx/>
                <a:uFillTx/>
                <a:latin typeface="Calibri" panose="020F0502020204030204"/>
                <a:ea typeface="+mn-ea"/>
                <a:cs typeface="+mn-cs"/>
              </a:rPr>
              <a:t>50</a:t>
            </a:r>
          </a:p>
        </p:txBody>
      </p:sp>
      <p:sp>
        <p:nvSpPr>
          <p:cNvPr id="11" name="Rectangle 10"/>
          <p:cNvSpPr/>
          <p:nvPr/>
        </p:nvSpPr>
        <p:spPr>
          <a:xfrm>
            <a:off x="3732825" y="1463243"/>
            <a:ext cx="704039" cy="70788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w="0"/>
                <a:solidFill>
                  <a:srgbClr val="FFFF00"/>
                </a:solidFill>
                <a:effectLst>
                  <a:outerShdw blurRad="38100" dist="25400" dir="5400000" algn="ctr" rotWithShape="0">
                    <a:srgbClr val="6E747A">
                      <a:alpha val="43000"/>
                    </a:srgbClr>
                  </a:outerShdw>
                </a:effectLst>
                <a:uLnTx/>
                <a:uFillTx/>
                <a:latin typeface="Calibri" panose="020F0502020204030204"/>
                <a:ea typeface="+mn-ea"/>
                <a:cs typeface="+mn-cs"/>
              </a:rPr>
              <a:t>30</a:t>
            </a:r>
          </a:p>
        </p:txBody>
      </p:sp>
      <p:sp>
        <p:nvSpPr>
          <p:cNvPr id="12" name="Rectangle 11"/>
          <p:cNvSpPr/>
          <p:nvPr/>
        </p:nvSpPr>
        <p:spPr>
          <a:xfrm>
            <a:off x="1975000" y="1502229"/>
            <a:ext cx="704039" cy="70788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w="0"/>
                <a:solidFill>
                  <a:srgbClr val="FFFF00"/>
                </a:solidFill>
                <a:effectLst>
                  <a:outerShdw blurRad="38100" dist="25400" dir="5400000" algn="ctr" rotWithShape="0">
                    <a:srgbClr val="6E747A">
                      <a:alpha val="43000"/>
                    </a:srgbClr>
                  </a:outerShdw>
                </a:effectLst>
                <a:uLnTx/>
                <a:uFillTx/>
                <a:latin typeface="Calibri" panose="020F0502020204030204"/>
                <a:ea typeface="+mn-ea"/>
                <a:cs typeface="+mn-cs"/>
              </a:rPr>
              <a:t>20</a:t>
            </a:r>
          </a:p>
        </p:txBody>
      </p:sp>
      <p:sp>
        <p:nvSpPr>
          <p:cNvPr id="13" name="Rectangle 12"/>
          <p:cNvSpPr/>
          <p:nvPr/>
        </p:nvSpPr>
        <p:spPr>
          <a:xfrm>
            <a:off x="5723325" y="1479161"/>
            <a:ext cx="704039" cy="707886"/>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w="0"/>
                <a:solidFill>
                  <a:srgbClr val="FFFF00"/>
                </a:solidFill>
                <a:effectLst>
                  <a:outerShdw blurRad="38100" dist="25400" dir="5400000" algn="ctr" rotWithShape="0">
                    <a:srgbClr val="6E747A">
                      <a:alpha val="43000"/>
                    </a:srgbClr>
                  </a:outerShdw>
                </a:effectLst>
                <a:uLnTx/>
                <a:uFillTx/>
                <a:latin typeface="Calibri" panose="020F0502020204030204"/>
                <a:ea typeface="+mn-ea"/>
                <a:cs typeface="+mn-cs"/>
              </a:rPr>
              <a:t>40</a:t>
            </a:r>
          </a:p>
        </p:txBody>
      </p:sp>
      <p:cxnSp>
        <p:nvCxnSpPr>
          <p:cNvPr id="14" name="Straight Arrow Connector 13"/>
          <p:cNvCxnSpPr>
            <a:endCxn id="5" idx="1"/>
          </p:cNvCxnSpPr>
          <p:nvPr/>
        </p:nvCxnSpPr>
        <p:spPr>
          <a:xfrm flipV="1">
            <a:off x="1305204" y="1836679"/>
            <a:ext cx="754555" cy="23212"/>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8" idx="3"/>
            <a:endCxn id="7" idx="1"/>
          </p:cNvCxnSpPr>
          <p:nvPr/>
        </p:nvCxnSpPr>
        <p:spPr>
          <a:xfrm flipV="1">
            <a:off x="4941817" y="1835159"/>
            <a:ext cx="798853" cy="77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8" idx="1"/>
          </p:cNvCxnSpPr>
          <p:nvPr/>
        </p:nvCxnSpPr>
        <p:spPr>
          <a:xfrm flipV="1">
            <a:off x="3140501" y="1835935"/>
            <a:ext cx="619984" cy="26661"/>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7" idx="3"/>
            <a:endCxn id="6" idx="1"/>
          </p:cNvCxnSpPr>
          <p:nvPr/>
        </p:nvCxnSpPr>
        <p:spPr>
          <a:xfrm>
            <a:off x="7060836" y="1835159"/>
            <a:ext cx="857485" cy="1759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163839" y="2909137"/>
            <a:ext cx="592150" cy="446276"/>
          </a:xfrm>
          <a:prstGeom prst="rect">
            <a:avLst/>
          </a:prstGeom>
          <a:noFill/>
          <a:ln>
            <a:solidFill>
              <a:srgbClr val="FFFF00"/>
            </a:solidFill>
          </a:ln>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a:ln w="0"/>
                <a:solidFill>
                  <a:srgbClr val="FFFF00"/>
                </a:solidFill>
                <a:effectLst>
                  <a:outerShdw blurRad="38100" dist="25400" dir="5400000" algn="ctr" rotWithShape="0">
                    <a:srgbClr val="6E747A">
                      <a:alpha val="43000"/>
                    </a:srgbClr>
                  </a:outerShdw>
                </a:effectLst>
                <a:uLnTx/>
                <a:uFillTx/>
                <a:latin typeface="Calibri" panose="020F0502020204030204"/>
                <a:ea typeface="+mn-ea"/>
                <a:cs typeface="+mn-cs"/>
              </a:rPr>
              <a:t>top</a:t>
            </a:r>
          </a:p>
        </p:txBody>
      </p:sp>
      <p:cxnSp>
        <p:nvCxnSpPr>
          <p:cNvPr id="26" name="Straight Arrow Connector 25"/>
          <p:cNvCxnSpPr>
            <a:stCxn id="25" idx="0"/>
          </p:cNvCxnSpPr>
          <p:nvPr/>
        </p:nvCxnSpPr>
        <p:spPr>
          <a:xfrm flipV="1">
            <a:off x="459914" y="2208665"/>
            <a:ext cx="131907" cy="700472"/>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1034777" y="2879117"/>
            <a:ext cx="540854" cy="446276"/>
          </a:xfrm>
          <a:prstGeom prst="rect">
            <a:avLst/>
          </a:prstGeom>
          <a:noFill/>
          <a:ln>
            <a:solidFill>
              <a:srgbClr val="FFFF00"/>
            </a:solidFill>
          </a:ln>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300" b="0" i="0" u="none" strike="noStrike" kern="1200" cap="none" spc="0" normalizeH="0" baseline="0" noProof="0" dirty="0" err="1">
                <a:ln w="0"/>
                <a:solidFill>
                  <a:srgbClr val="FFFF00"/>
                </a:solidFill>
                <a:effectLst>
                  <a:outerShdw blurRad="38100" dist="25400" dir="5400000" algn="ctr" rotWithShape="0">
                    <a:srgbClr val="6E747A">
                      <a:alpha val="43000"/>
                    </a:srgbClr>
                  </a:outerShdw>
                </a:effectLst>
                <a:uLnTx/>
                <a:uFillTx/>
                <a:latin typeface="Calibri" panose="020F0502020204030204"/>
                <a:ea typeface="+mn-ea"/>
                <a:cs typeface="+mn-cs"/>
              </a:rPr>
              <a:t>ptr</a:t>
            </a:r>
            <a:endParaRPr kumimoji="0" lang="en-US" sz="2300" b="0" i="0" u="none" strike="noStrike" kern="1200" cap="none" spc="0" normalizeH="0" baseline="0" noProof="0" dirty="0">
              <a:ln w="0"/>
              <a:solidFill>
                <a:srgbClr val="FFFF00"/>
              </a:solidFill>
              <a:effectLst>
                <a:outerShdw blurRad="38100" dist="25400" dir="5400000" algn="ctr" rotWithShape="0">
                  <a:srgbClr val="6E747A">
                    <a:alpha val="43000"/>
                  </a:srgbClr>
                </a:outerShdw>
              </a:effectLst>
              <a:uLnTx/>
              <a:uFillTx/>
              <a:latin typeface="Calibri" panose="020F0502020204030204"/>
              <a:ea typeface="+mn-ea"/>
              <a:cs typeface="+mn-cs"/>
            </a:endParaRPr>
          </a:p>
        </p:txBody>
      </p:sp>
      <p:cxnSp>
        <p:nvCxnSpPr>
          <p:cNvPr id="48" name="Straight Arrow Connector 47"/>
          <p:cNvCxnSpPr>
            <a:cxnSpLocks/>
          </p:cNvCxnSpPr>
          <p:nvPr/>
        </p:nvCxnSpPr>
        <p:spPr>
          <a:xfrm flipV="1">
            <a:off x="1219200" y="2168090"/>
            <a:ext cx="0" cy="717368"/>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
          <p:cNvSpPr>
            <a:spLocks noGrp="1" noChangeArrowheads="1"/>
          </p:cNvSpPr>
          <p:nvPr>
            <p:ph type="title"/>
          </p:nvPr>
        </p:nvSpPr>
        <p:spPr>
          <a:xfrm>
            <a:off x="153361" y="158162"/>
            <a:ext cx="10574740" cy="762000"/>
          </a:xfrm>
        </p:spPr>
        <p:txBody>
          <a:bodyPr>
            <a:normAutofit/>
          </a:bodyPr>
          <a:lstStyle/>
          <a:p>
            <a:pPr eaLnBrk="1" hangingPunct="1"/>
            <a:r>
              <a:rPr lang="en-US" altLang="en-US" sz="3200" b="1" dirty="0">
                <a:solidFill>
                  <a:srgbClr val="FFFF00"/>
                </a:solidFill>
              </a:rPr>
              <a:t> pop: </a:t>
            </a:r>
            <a:r>
              <a:rPr lang="en-US" altLang="en-US" sz="3200" b="1" dirty="0">
                <a:solidFill>
                  <a:schemeClr val="bg1"/>
                </a:solidFill>
              </a:rPr>
              <a:t>Deleting the First Node from a Singly Linked List</a:t>
            </a:r>
          </a:p>
        </p:txBody>
      </p:sp>
      <p:sp>
        <p:nvSpPr>
          <p:cNvPr id="31" name="Rectangle 3"/>
          <p:cNvSpPr txBox="1">
            <a:spLocks noChangeArrowheads="1"/>
          </p:cNvSpPr>
          <p:nvPr/>
        </p:nvSpPr>
        <p:spPr>
          <a:xfrm>
            <a:off x="7859689" y="3132275"/>
            <a:ext cx="4166922" cy="327281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a:pPr>
            <a:r>
              <a:rPr kumimoji="0" lang="en-US" sz="2400" b="0" i="0" u="sng" strike="noStrike" kern="1200" cap="none" spc="0" normalizeH="0" baseline="0" noProof="0" dirty="0">
                <a:ln>
                  <a:noFill/>
                </a:ln>
                <a:solidFill>
                  <a:srgbClr val="FFFF00"/>
                </a:solidFill>
                <a:effectLst/>
                <a:uLnTx/>
                <a:uFillTx/>
                <a:latin typeface="Calibri" panose="020F0502020204030204"/>
                <a:ea typeface="+mn-ea"/>
                <a:cs typeface="+mn-cs"/>
              </a:rPr>
              <a:t>Algorithm</a:t>
            </a:r>
          </a:p>
          <a:p>
            <a:pPr marL="685800" marR="0" lvl="1" indent="-228600" algn="l" defTabSz="914400" rtl="0" eaLnBrk="1" fontAlgn="auto" latinLnBrk="0" hangingPunct="1">
              <a:lnSpc>
                <a:spcPct val="90000"/>
              </a:lnSpc>
              <a:spcBef>
                <a:spcPts val="500"/>
              </a:spcBef>
              <a:spcAft>
                <a:spcPts val="0"/>
              </a:spcAft>
              <a:buClrTx/>
              <a:buSzTx/>
              <a:buFontTx/>
              <a:buNone/>
              <a:tabLst/>
              <a:defRPr/>
            </a:pP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rPr>
              <a:t>Step 1: </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IF top = NULL </a:t>
            </a:r>
          </a:p>
          <a:p>
            <a:pPr marL="685800" marR="0" lvl="1" indent="-228600" algn="l" defTabSz="914400" rtl="0" eaLnBrk="1" fontAlgn="auto" latinLnBrk="0" hangingPunct="1">
              <a:lnSpc>
                <a:spcPct val="90000"/>
              </a:lnSpc>
              <a:spcBef>
                <a:spcPts val="50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write UNDERFLOW</a:t>
            </a:r>
          </a:p>
          <a:p>
            <a:pPr marL="685800" marR="0" lvl="1" indent="-228600" algn="l" defTabSz="914400" rtl="0" eaLnBrk="1" fontAlgn="auto" latinLnBrk="0" hangingPunct="1">
              <a:lnSpc>
                <a:spcPct val="90000"/>
              </a:lnSpc>
              <a:spcBef>
                <a:spcPts val="50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Go to Step 5</a:t>
            </a:r>
          </a:p>
          <a:p>
            <a:pPr marL="685800" marR="0" lvl="1" indent="-228600" algn="l" defTabSz="914400" rtl="0" eaLnBrk="1" fontAlgn="auto" latinLnBrk="0" hangingPunct="1">
              <a:lnSpc>
                <a:spcPct val="90000"/>
              </a:lnSpc>
              <a:spcBef>
                <a:spcPts val="500"/>
              </a:spcBef>
              <a:spcAft>
                <a:spcPts val="0"/>
              </a:spcAft>
              <a:buClrTx/>
              <a:buSzTx/>
              <a:buFontTx/>
              <a:buNone/>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[END OF IF]</a:t>
            </a:r>
          </a:p>
          <a:p>
            <a:pPr marL="685800" marR="0" lvl="1" indent="-228600" algn="l" defTabSz="914400" rtl="0" eaLnBrk="1" fontAlgn="auto" latinLnBrk="0" hangingPunct="1">
              <a:lnSpc>
                <a:spcPct val="90000"/>
              </a:lnSpc>
              <a:spcBef>
                <a:spcPts val="500"/>
              </a:spcBef>
              <a:spcAft>
                <a:spcPts val="0"/>
              </a:spcAft>
              <a:buClrTx/>
              <a:buSzTx/>
              <a:buFontTx/>
              <a:buNone/>
              <a:tabLst/>
              <a:defRPr/>
            </a:pP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rPr>
              <a:t>Step 2:</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SET </a:t>
            </a: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ptr</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 = top</a:t>
            </a:r>
          </a:p>
          <a:p>
            <a:pPr marL="685800" marR="0" lvl="1" indent="-228600" algn="l" defTabSz="914400" rtl="0" eaLnBrk="1" fontAlgn="auto" latinLnBrk="0" hangingPunct="1">
              <a:lnSpc>
                <a:spcPct val="90000"/>
              </a:lnSpc>
              <a:spcBef>
                <a:spcPts val="500"/>
              </a:spcBef>
              <a:spcAft>
                <a:spcPts val="0"/>
              </a:spcAft>
              <a:buClrTx/>
              <a:buSzTx/>
              <a:buFontTx/>
              <a:buNone/>
              <a:tabLst/>
              <a:defRPr/>
            </a:pP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rPr>
              <a:t>Step 3: </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SET top = </a:t>
            </a: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top</a:t>
            </a: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sym typeface="Wingdings"/>
              </a:rPr>
              <a:t>next</a:t>
            </a: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Tx/>
              <a:buNone/>
              <a:tabLst/>
              <a:defRPr/>
            </a:pP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rPr>
              <a:t>Step 4: </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FREE </a:t>
            </a:r>
            <a:r>
              <a:rPr kumimoji="0" lang="en-US" sz="2000" b="0" i="0" u="none" strike="noStrike" kern="1200" cap="none" spc="0" normalizeH="0" baseline="0" noProof="0" dirty="0" err="1">
                <a:ln>
                  <a:noFill/>
                </a:ln>
                <a:solidFill>
                  <a:prstClr val="white"/>
                </a:solidFill>
                <a:effectLst/>
                <a:uLnTx/>
                <a:uFillTx/>
                <a:latin typeface="Calibri" panose="020F0502020204030204"/>
                <a:ea typeface="+mn-ea"/>
                <a:cs typeface="+mn-cs"/>
              </a:rPr>
              <a:t>ptr</a:t>
            </a:r>
            <a:endPar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Tx/>
              <a:buNone/>
              <a:tabLst/>
              <a:defRPr/>
            </a:pPr>
            <a:r>
              <a:rPr kumimoji="0" lang="en-US" sz="2000" b="0" i="0" u="none" strike="noStrike" kern="1200" cap="none" spc="0" normalizeH="0" baseline="0" noProof="0" dirty="0">
                <a:ln>
                  <a:noFill/>
                </a:ln>
                <a:solidFill>
                  <a:srgbClr val="FFFF00"/>
                </a:solidFill>
                <a:effectLst/>
                <a:uLnTx/>
                <a:uFillTx/>
                <a:latin typeface="Calibri" panose="020F0502020204030204"/>
                <a:ea typeface="+mn-ea"/>
                <a:cs typeface="+mn-cs"/>
              </a:rPr>
              <a:t>Step 5: </a:t>
            </a: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EXIT</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506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1000"/>
                                        <p:tgtEl>
                                          <p:spTgt spid="47"/>
                                        </p:tgtEl>
                                      </p:cBhvr>
                                    </p:animEffect>
                                    <p:anim calcmode="lin" valueType="num">
                                      <p:cBhvr>
                                        <p:cTn id="8" dur="1000" fill="hold"/>
                                        <p:tgtEl>
                                          <p:spTgt spid="47"/>
                                        </p:tgtEl>
                                        <p:attrNameLst>
                                          <p:attrName>ppt_x</p:attrName>
                                        </p:attrNameLst>
                                      </p:cBhvr>
                                      <p:tavLst>
                                        <p:tav tm="0">
                                          <p:val>
                                            <p:strVal val="#ppt_x"/>
                                          </p:val>
                                        </p:tav>
                                        <p:tav tm="100000">
                                          <p:val>
                                            <p:strVal val="#ppt_x"/>
                                          </p:val>
                                        </p:tav>
                                      </p:tavLst>
                                    </p:anim>
                                    <p:anim calcmode="lin" valueType="num">
                                      <p:cBhvr>
                                        <p:cTn id="9" dur="1000" fill="hold"/>
                                        <p:tgtEl>
                                          <p:spTgt spid="47"/>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8"/>
                                        </p:tgtEl>
                                        <p:attrNameLst>
                                          <p:attrName>style.visibility</p:attrName>
                                        </p:attrNameLst>
                                      </p:cBhvr>
                                      <p:to>
                                        <p:strVal val="visible"/>
                                      </p:to>
                                    </p:set>
                                    <p:animEffect transition="in" filter="fade">
                                      <p:cBhvr>
                                        <p:cTn id="12" dur="1000"/>
                                        <p:tgtEl>
                                          <p:spTgt spid="48"/>
                                        </p:tgtEl>
                                      </p:cBhvr>
                                    </p:animEffect>
                                    <p:anim calcmode="lin" valueType="num">
                                      <p:cBhvr>
                                        <p:cTn id="13" dur="1000" fill="hold"/>
                                        <p:tgtEl>
                                          <p:spTgt spid="48"/>
                                        </p:tgtEl>
                                        <p:attrNameLst>
                                          <p:attrName>ppt_x</p:attrName>
                                        </p:attrNameLst>
                                      </p:cBhvr>
                                      <p:tavLst>
                                        <p:tav tm="0">
                                          <p:val>
                                            <p:strVal val="#ppt_x"/>
                                          </p:val>
                                        </p:tav>
                                        <p:tav tm="100000">
                                          <p:val>
                                            <p:strVal val="#ppt_x"/>
                                          </p:val>
                                        </p:tav>
                                      </p:tavLst>
                                    </p:anim>
                                    <p:anim calcmode="lin" valueType="num">
                                      <p:cBhvr>
                                        <p:cTn id="14"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nodeType="clickEffect">
                                  <p:stCondLst>
                                    <p:cond delay="0"/>
                                  </p:stCondLst>
                                  <p:childTnLst>
                                    <p:animMotion origin="layout" path="M 1.04167E-6 1.85185E-6 L 1.04167E-6 0.00023 C 0.00273 0.00185 0.00534 0.00532 0.00833 0.00555 C 0.0112 0.00602 0.01484 0.00069 0.01784 1.85185E-6 C 0.02917 -0.00301 0.02279 -0.00162 0.03685 -0.00394 L 0.04635 -0.00949 C 0.04739 -0.01019 0.04844 -0.01134 0.04961 -0.01134 L 0.06224 -0.0132 C 0.07213 -0.01273 0.08203 -0.01296 0.0918 -0.01134 C 0.09401 -0.01111 0.09596 -0.0088 0.09818 -0.00764 L 0.1013 -0.00579 L 0.10443 -0.00394 C 0.10833 -0.0044 0.11224 -0.00417 0.11601 -0.00579 C 0.11732 -0.00625 0.1181 -0.00857 0.11927 -0.00949 C 0.12018 -0.01042 0.12135 -0.01088 0.12239 -0.01134 L 0.14349 -0.00949 C 0.15989 -0.00764 0.15 -0.00764 0.15521 -0.00764 L 0.15521 -0.00741 " pathEditMode="relative" rAng="0" ptsTypes="AAAAAAAAAAAAAAAAAA">
                                      <p:cBhvr>
                                        <p:cTn id="18" dur="2000" fill="hold"/>
                                        <p:tgtEl>
                                          <p:spTgt spid="26"/>
                                        </p:tgtEl>
                                        <p:attrNameLst>
                                          <p:attrName>ppt_x</p:attrName>
                                          <p:attrName>ppt_y</p:attrName>
                                        </p:attrNameLst>
                                      </p:cBhvr>
                                      <p:rCtr x="7760" y="-394"/>
                                    </p:animMotion>
                                  </p:childTnLst>
                                </p:cTn>
                              </p:par>
                              <p:par>
                                <p:cTn id="19" presetID="0" presetClass="path" presetSubtype="0" accel="50000" decel="50000" fill="hold" grpId="0" nodeType="withEffect">
                                  <p:stCondLst>
                                    <p:cond delay="0"/>
                                  </p:stCondLst>
                                  <p:childTnLst>
                                    <p:animMotion origin="layout" path="M -2.08333E-7 -2.96296E-6 L -2.08333E-7 0.00023 C 0.00273 0.00185 0.00534 0.00533 0.00833 0.00556 C 0.0112 0.00602 0.01484 0.0007 0.01784 -2.96296E-6 C 0.02917 -0.00301 0.02279 -0.00162 0.03685 -0.00393 L 0.04635 -0.00949 C 0.0474 -0.01018 0.04844 -0.01134 0.04961 -0.01134 L 0.06224 -0.01319 C 0.07214 -0.01273 0.08203 -0.01296 0.09167 -0.01134 C 0.09401 -0.01111 0.09596 -0.00879 0.09818 -0.00764 L 0.1013 -0.00578 L 0.10443 -0.00393 C 0.10833 -0.0044 0.11224 -0.00416 0.11602 -0.00578 C 0.11732 -0.00625 0.1181 -0.00856 0.11927 -0.00949 C 0.12018 -0.01041 0.12135 -0.01088 0.1224 -0.01134 L 0.14349 -0.00949 C 0.1599 -0.00764 0.15 -0.00764 0.15521 -0.00764 L 0.15521 -0.0074 " pathEditMode="relative" rAng="0" ptsTypes="AAAAAAAAAAAAAAAAAA">
                                      <p:cBhvr>
                                        <p:cTn id="20" dur="2000" fill="hold"/>
                                        <p:tgtEl>
                                          <p:spTgt spid="25"/>
                                        </p:tgtEl>
                                        <p:attrNameLst>
                                          <p:attrName>ppt_x</p:attrName>
                                          <p:attrName>ppt_y</p:attrName>
                                        </p:attrNameLst>
                                      </p:cBhvr>
                                      <p:rCtr x="7760" y="-394"/>
                                    </p:animMotion>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0.00065 -0.00046 L 0.00065 -0.00023 C -0.00013 0.01737 -0.00078 0.03542 -0.00156 0.05348 C -0.00221 0.06899 -0.00378 0.09977 -0.00378 0.1 C -0.00286 0.17431 -0.00664 0.16899 0.00169 0.21968 C 0.00417 0.23519 0.00846 0.25695 0.0125 0.27176 C 0.01445 0.27917 0.01706 0.28588 0.01901 0.29306 C 0.02096 0.3 0.02227 0.30764 0.02448 0.31436 C 0.03385 0.34306 0.03958 0.3625 0.05169 0.3838 C 0.06367 0.4051 0.08034 0.42524 0.09297 0.4419 C 0.09805 0.44838 0.10365 0.45348 0.1082 0.46112 C 0.11367 0.47014 0.11875 0.47987 0.12448 0.4882 C 0.15651 0.53519 0.1224 0.47755 0.15599 0.53079 C 0.1638 0.54306 0.17096 0.55672 0.17878 0.56922 C 0.18242 0.575 0.18646 0.5801 0.18971 0.58681 C 0.19349 0.59445 0.19596 0.60371 0.19948 0.61181 C 0.20508 0.62431 0.21107 0.63635 0.21693 0.64862 C 0.2194 0.65371 0.2207 0.6632 0.22448 0.66389 C 0.23359 0.66598 0.24271 0.66783 0.25169 0.67176 C 0.2625 0.67662 0.275 0.68519 0.28425 0.69491 C 0.29102 0.70186 0.3 0.70996 0.30599 0.71991 C 0.30938 0.72547 0.32096 0.75047 0.32344 0.75672 C 0.325 0.76088 0.33802 0.80278 0.34297 0.80301 C 0.48893 0.80996 0.6349 0.80301 0.78099 0.80301 " pathEditMode="relative" rAng="0" ptsTypes="AAAAAAAAAAAAAAAAAAAAAAAA">
                                      <p:cBhvr>
                                        <p:cTn id="24" dur="2000" fill="hold"/>
                                        <p:tgtEl>
                                          <p:spTgt spid="14"/>
                                        </p:tgtEl>
                                        <p:attrNameLst>
                                          <p:attrName>ppt_x</p:attrName>
                                          <p:attrName>ppt_y</p:attrName>
                                        </p:attrNameLst>
                                      </p:cBhvr>
                                      <p:rCtr x="38789" y="40324"/>
                                    </p:animMotion>
                                  </p:childTnLst>
                                </p:cTn>
                              </p:par>
                              <p:par>
                                <p:cTn id="25" presetID="0" presetClass="path" presetSubtype="0" accel="50000" decel="50000" fill="hold" nodeType="withEffect">
                                  <p:stCondLst>
                                    <p:cond delay="0"/>
                                  </p:stCondLst>
                                  <p:childTnLst>
                                    <p:animMotion origin="layout" path="M 3.54167E-6 2.22222E-6 L 3.54167E-6 0.00023 C 0.00351 0.0625 0.00182 0.025 3.54167E-6 0.15578 C -0.00013 0.16088 -0.00052 0.16574 -0.00105 0.17083 C -0.00196 0.1794 -0.00573 0.20995 -0.00743 0.21967 C -0.01003 0.23472 -0.01355 0.2493 -0.01589 0.26458 C -0.01993 0.29051 -0.02435 0.32083 -0.02956 0.34537 C -0.0323 0.35833 -0.03633 0.37014 -0.03907 0.38287 C -0.06224 0.49305 -0.0319 0.37245 -0.06433 0.50694 C -0.06953 0.52847 -0.07578 0.5493 -0.08112 0.57083 C -0.08568 0.58866 -0.08894 0.60764 -0.09388 0.62523 C -0.09883 0.64282 -0.10026 0.66967 -0.11081 0.67592 C -0.1323 0.68866 -0.15651 0.67592 -0.17943 0.67592 " pathEditMode="relative" rAng="0" ptsTypes="AAAAAAAAAAAAA">
                                      <p:cBhvr>
                                        <p:cTn id="26" dur="2000" fill="hold"/>
                                        <p:tgtEl>
                                          <p:spTgt spid="4"/>
                                        </p:tgtEl>
                                        <p:attrNameLst>
                                          <p:attrName>ppt_x</p:attrName>
                                          <p:attrName>ppt_y</p:attrName>
                                        </p:attrNameLst>
                                      </p:cBhvr>
                                      <p:rCtr x="-8867" y="34074"/>
                                    </p:animMotion>
                                  </p:childTnLst>
                                </p:cTn>
                              </p:par>
                              <p:par>
                                <p:cTn id="27" presetID="0" presetClass="path" presetSubtype="0" accel="50000" decel="50000" fill="hold" grpId="0" nodeType="withEffect">
                                  <p:stCondLst>
                                    <p:cond delay="0"/>
                                  </p:stCondLst>
                                  <p:childTnLst>
                                    <p:animMotion origin="layout" path="M 3.75E-6 -4.07407E-6 L 3.75E-6 0.00024 C 0.00351 0.0625 0.00182 0.025 3.75E-6 0.15579 C -0.00013 0.16088 -0.00052 0.16574 -0.00105 0.17084 C -0.00196 0.1794 -0.00573 0.20996 -0.00743 0.21968 C -0.01003 0.23473 -0.01355 0.24931 -0.01589 0.26459 C -0.01993 0.29051 -0.02435 0.32084 -0.02956 0.34537 C -0.0323 0.35834 -0.03633 0.37014 -0.03907 0.38287 C -0.06224 0.49306 -0.0319 0.37246 -0.06433 0.50695 C -0.06954 0.52848 -0.07579 0.54931 -0.08112 0.57084 C -0.08568 0.58866 -0.08894 0.60764 -0.09388 0.62524 C -0.09883 0.64283 -0.10026 0.66968 -0.11081 0.67593 C -0.13243 0.68866 -0.15651 0.67593 -0.17943 0.67593 " pathEditMode="relative" rAng="0" ptsTypes="AAAAAAAAAAAAA">
                                      <p:cBhvr>
                                        <p:cTn id="28" dur="2000" fill="hold"/>
                                        <p:tgtEl>
                                          <p:spTgt spid="9"/>
                                        </p:tgtEl>
                                        <p:attrNameLst>
                                          <p:attrName>ppt_x</p:attrName>
                                          <p:attrName>ppt_y</p:attrName>
                                        </p:attrNameLst>
                                      </p:cBhvr>
                                      <p:rCtr x="-8867" y="3407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5" grpId="0" animBg="1"/>
      <p:bldP spid="4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533400"/>
            <a:ext cx="8229600" cy="639762"/>
          </a:xfrm>
        </p:spPr>
        <p:txBody>
          <a:bodyPr>
            <a:normAutofit fontScale="90000"/>
          </a:bodyPr>
          <a:lstStyle/>
          <a:p>
            <a:r>
              <a:rPr lang="en-US" b="1">
                <a:solidFill>
                  <a:srgbClr val="CC0066"/>
                </a:solidFill>
              </a:rPr>
              <a:t>APPLICATIONS OF STACKS</a:t>
            </a:r>
            <a:br>
              <a:rPr lang="en-US" b="1">
                <a:solidFill>
                  <a:srgbClr val="CC0066"/>
                </a:solidFill>
              </a:rPr>
            </a:br>
            <a:endParaRPr lang="en-US">
              <a:solidFill>
                <a:srgbClr val="CC0066"/>
              </a:solidFill>
            </a:endParaRPr>
          </a:p>
        </p:txBody>
      </p:sp>
      <p:sp>
        <p:nvSpPr>
          <p:cNvPr id="3" name="Content Placeholder 2"/>
          <p:cNvSpPr>
            <a:spLocks noGrp="1"/>
          </p:cNvSpPr>
          <p:nvPr>
            <p:ph idx="1"/>
          </p:nvPr>
        </p:nvSpPr>
        <p:spPr>
          <a:xfrm>
            <a:off x="838200" y="990600"/>
            <a:ext cx="10210799" cy="4800600"/>
          </a:xfrm>
        </p:spPr>
        <p:txBody>
          <a:bodyPr>
            <a:noAutofit/>
          </a:bodyPr>
          <a:lstStyle/>
          <a:p>
            <a:pPr>
              <a:buNone/>
            </a:pPr>
            <a:r>
              <a:rPr lang="en-US" sz="2800" b="1" dirty="0">
                <a:solidFill>
                  <a:schemeClr val="tx1"/>
                </a:solidFill>
              </a:rPr>
              <a:t>Stacks can be easily applied for a simple and efficient solution like….</a:t>
            </a:r>
          </a:p>
          <a:p>
            <a:r>
              <a:rPr lang="en-US" sz="2800" dirty="0">
                <a:solidFill>
                  <a:schemeClr val="tx1"/>
                </a:solidFill>
              </a:rPr>
              <a:t> Reversing a list</a:t>
            </a:r>
          </a:p>
          <a:p>
            <a:r>
              <a:rPr lang="en-US" sz="2800" dirty="0">
                <a:solidFill>
                  <a:schemeClr val="tx1"/>
                </a:solidFill>
              </a:rPr>
              <a:t>Parentheses checker</a:t>
            </a:r>
          </a:p>
          <a:p>
            <a:r>
              <a:rPr lang="en-US" sz="2800" dirty="0">
                <a:solidFill>
                  <a:schemeClr val="tx1"/>
                </a:solidFill>
              </a:rPr>
              <a:t>Conversion of an infix expression into a postfix expression</a:t>
            </a:r>
          </a:p>
          <a:p>
            <a:r>
              <a:rPr lang="el-GR" sz="2800" dirty="0">
                <a:solidFill>
                  <a:schemeClr val="tx1"/>
                </a:solidFill>
              </a:rPr>
              <a:t> </a:t>
            </a:r>
            <a:r>
              <a:rPr lang="en-US" sz="2800" dirty="0">
                <a:solidFill>
                  <a:schemeClr val="tx1"/>
                </a:solidFill>
              </a:rPr>
              <a:t>Evaluation of a postfix expression</a:t>
            </a:r>
          </a:p>
          <a:p>
            <a:r>
              <a:rPr lang="el-GR" sz="2800" dirty="0">
                <a:solidFill>
                  <a:schemeClr val="tx1"/>
                </a:solidFill>
              </a:rPr>
              <a:t> </a:t>
            </a:r>
            <a:r>
              <a:rPr lang="en-US" sz="2800" dirty="0">
                <a:solidFill>
                  <a:schemeClr val="tx1"/>
                </a:solidFill>
              </a:rPr>
              <a:t>Conversion of an infix expression into a prefix expression</a:t>
            </a:r>
          </a:p>
          <a:p>
            <a:r>
              <a:rPr lang="el-GR" sz="2800" dirty="0">
                <a:solidFill>
                  <a:schemeClr val="tx1"/>
                </a:solidFill>
              </a:rPr>
              <a:t> </a:t>
            </a:r>
            <a:r>
              <a:rPr lang="en-US" sz="2800" dirty="0">
                <a:solidFill>
                  <a:schemeClr val="tx1"/>
                </a:solidFill>
              </a:rPr>
              <a:t>Evaluation of a prefix expression</a:t>
            </a:r>
          </a:p>
          <a:p>
            <a:r>
              <a:rPr lang="el-GR" sz="2800" dirty="0">
                <a:solidFill>
                  <a:schemeClr val="tx1"/>
                </a:solidFill>
              </a:rPr>
              <a:t> </a:t>
            </a:r>
            <a:r>
              <a:rPr lang="en-US" sz="2800" dirty="0">
                <a:solidFill>
                  <a:schemeClr val="tx1"/>
                </a:solidFill>
              </a:rPr>
              <a:t>Recursion</a:t>
            </a:r>
          </a:p>
          <a:p>
            <a:r>
              <a:rPr lang="el-GR" sz="2800" dirty="0">
                <a:solidFill>
                  <a:schemeClr val="tx1"/>
                </a:solidFill>
              </a:rPr>
              <a:t> </a:t>
            </a:r>
            <a:r>
              <a:rPr lang="en-US" sz="2800" dirty="0">
                <a:solidFill>
                  <a:schemeClr val="tx1"/>
                </a:solidFill>
              </a:rPr>
              <a:t>Tower of Hanoi</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grpSp>
        <p:nvGrpSpPr>
          <p:cNvPr id="4" name="Group 3"/>
          <p:cNvGrpSpPr/>
          <p:nvPr/>
        </p:nvGrpSpPr>
        <p:grpSpPr>
          <a:xfrm>
            <a:off x="304800" y="304800"/>
            <a:ext cx="11598965" cy="6337984"/>
            <a:chOff x="-97697" y="0"/>
            <a:chExt cx="12324561" cy="6872513"/>
          </a:xfrm>
          <a:solidFill>
            <a:srgbClr val="0B0B0B"/>
          </a:solidFill>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97" y="0"/>
              <a:ext cx="12324561" cy="6872513"/>
            </a:xfrm>
            <a:prstGeom prst="rect">
              <a:avLst/>
            </a:prstGeom>
            <a:grpFill/>
            <a:ln w="76200">
              <a:solidFill>
                <a:srgbClr val="0B0B0B"/>
              </a:solidFill>
            </a:ln>
          </p:spPr>
        </p:pic>
        <p:sp>
          <p:nvSpPr>
            <p:cNvPr id="6" name="Rectangle 5"/>
            <p:cNvSpPr/>
            <p:nvPr/>
          </p:nvSpPr>
          <p:spPr>
            <a:xfrm>
              <a:off x="143618" y="5868495"/>
              <a:ext cx="3505200" cy="822240"/>
            </a:xfrm>
            <a:prstGeom prst="rect">
              <a:avLst/>
            </a:prstGeom>
            <a:grpFill/>
            <a:ln>
              <a:solidFill>
                <a:srgbClr val="0B0B0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91298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198272"/>
            <a:ext cx="9753600" cy="639762"/>
          </a:xfrm>
        </p:spPr>
        <p:txBody>
          <a:bodyPr>
            <a:normAutofit fontScale="90000"/>
          </a:bodyPr>
          <a:lstStyle/>
          <a:p>
            <a:r>
              <a:rPr lang="en-US" b="1" dirty="0">
                <a:solidFill>
                  <a:srgbClr val="FF0000"/>
                </a:solidFill>
              </a:rPr>
              <a:t>Evaluation of Arithmetic Expressions</a:t>
            </a:r>
            <a:endParaRPr lang="en-US" dirty="0">
              <a:solidFill>
                <a:srgbClr val="FF0000"/>
              </a:solidFill>
            </a:endParaRPr>
          </a:p>
        </p:txBody>
      </p:sp>
      <p:sp>
        <p:nvSpPr>
          <p:cNvPr id="3" name="Content Placeholder 2"/>
          <p:cNvSpPr>
            <a:spLocks noGrp="1"/>
          </p:cNvSpPr>
          <p:nvPr>
            <p:ph idx="1"/>
          </p:nvPr>
        </p:nvSpPr>
        <p:spPr>
          <a:xfrm>
            <a:off x="381000" y="868362"/>
            <a:ext cx="8153400" cy="5684838"/>
          </a:xfrm>
        </p:spPr>
        <p:txBody>
          <a:bodyPr>
            <a:normAutofit/>
          </a:bodyPr>
          <a:lstStyle/>
          <a:p>
            <a:pPr indent="-228600"/>
            <a:r>
              <a:rPr lang="en-US" sz="2400" dirty="0">
                <a:solidFill>
                  <a:schemeClr val="tx1"/>
                </a:solidFill>
              </a:rPr>
              <a:t>Infix, prefix, and postfix notations are three different but equivalent notations of writing ALGEBRAIC EXPRESSIONS.</a:t>
            </a:r>
          </a:p>
          <a:p>
            <a:pPr>
              <a:lnSpc>
                <a:spcPct val="107000"/>
              </a:lnSpc>
              <a:spcAft>
                <a:spcPts val="800"/>
              </a:spcAft>
            </a:pPr>
            <a:r>
              <a:rPr lang="en-IN" sz="3600" dirty="0">
                <a:solidFill>
                  <a:schemeClr val="tx1"/>
                </a:solidFill>
              </a:rPr>
              <a:t>In</a:t>
            </a:r>
            <a:r>
              <a:rPr lang="en-IN" sz="3600" b="1" dirty="0">
                <a:solidFill>
                  <a:schemeClr val="tx1"/>
                </a:solidFill>
              </a:rPr>
              <a:t> Infix </a:t>
            </a:r>
            <a:r>
              <a:rPr lang="en-IN" sz="3600" dirty="0">
                <a:solidFill>
                  <a:schemeClr val="tx1"/>
                </a:solidFill>
              </a:rPr>
              <a:t>notation, the operator is placed </a:t>
            </a:r>
            <a:r>
              <a:rPr lang="en-IN" sz="3600" dirty="0">
                <a:solidFill>
                  <a:schemeClr val="tx1"/>
                </a:solidFill>
                <a:highlight>
                  <a:srgbClr val="00FF00"/>
                </a:highlight>
                <a:latin typeface="Calibri" panose="020F0502020204030204" pitchFamily="34" charset="0"/>
                <a:ea typeface="Calibri" panose="020F0502020204030204" pitchFamily="34" charset="0"/>
                <a:cs typeface="Times New Roman" panose="02020603050405020304" pitchFamily="18" charset="0"/>
              </a:rPr>
              <a:t>in-between the operands.</a:t>
            </a:r>
            <a:r>
              <a:rPr lang="en-IN" sz="3600" dirty="0">
                <a:solidFill>
                  <a:schemeClr val="tx1"/>
                </a:solidFill>
              </a:rPr>
              <a:t>                           For example, </a:t>
            </a:r>
            <a:r>
              <a:rPr lang="en-IN" sz="3600" dirty="0">
                <a:solidFill>
                  <a:schemeClr val="tx1"/>
                </a:solidFill>
                <a:highlight>
                  <a:srgbClr val="00FF00"/>
                </a:highlight>
                <a:latin typeface="Calibri" panose="020F0502020204030204" pitchFamily="34" charset="0"/>
                <a:ea typeface="Calibri" panose="020F0502020204030204" pitchFamily="34" charset="0"/>
                <a:cs typeface="Times New Roman" panose="02020603050405020304" pitchFamily="18" charset="0"/>
              </a:rPr>
              <a:t>A+B</a:t>
            </a:r>
            <a:endParaRPr lang="en-US" sz="3600" dirty="0">
              <a:solidFill>
                <a:schemeClr val="tx1"/>
              </a:solidFill>
              <a:highlight>
                <a:srgbClr val="00FF00"/>
              </a:highlight>
              <a:latin typeface="Calibri" panose="020F0502020204030204" pitchFamily="34" charset="0"/>
              <a:ea typeface="Calibri" panose="020F0502020204030204" pitchFamily="34" charset="0"/>
              <a:cs typeface="Times New Roman" panose="02020603050405020304" pitchFamily="18" charset="0"/>
            </a:endParaRPr>
          </a:p>
          <a:p>
            <a:pPr indent="-228600">
              <a:lnSpc>
                <a:spcPct val="100000"/>
              </a:lnSpc>
              <a:spcBef>
                <a:spcPts val="1200"/>
              </a:spcBef>
            </a:pPr>
            <a:r>
              <a:rPr lang="en-US" sz="3600" dirty="0">
                <a:solidFill>
                  <a:schemeClr val="tx1"/>
                </a:solidFill>
              </a:rPr>
              <a:t>In</a:t>
            </a:r>
            <a:r>
              <a:rPr lang="en-US" sz="3600" b="1" dirty="0">
                <a:solidFill>
                  <a:schemeClr val="tx1"/>
                </a:solidFill>
              </a:rPr>
              <a:t> Postfix </a:t>
            </a:r>
            <a:r>
              <a:rPr lang="en-US" sz="3600" dirty="0">
                <a:solidFill>
                  <a:schemeClr val="tx1"/>
                </a:solidFill>
              </a:rPr>
              <a:t>notation, operators are placed </a:t>
            </a:r>
            <a:r>
              <a:rPr lang="en-US" sz="36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after the operands. </a:t>
            </a:r>
            <a:r>
              <a:rPr lang="en-IN" sz="3600" dirty="0">
                <a:solidFill>
                  <a:schemeClr val="tx1"/>
                </a:solidFill>
              </a:rPr>
              <a:t>For example, </a:t>
            </a:r>
            <a:r>
              <a:rPr lang="en-IN" sz="36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AB+</a:t>
            </a:r>
            <a:endParaRPr lang="en-US" sz="36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endParaRPr>
          </a:p>
          <a:p>
            <a:pPr indent="-228600">
              <a:lnSpc>
                <a:spcPct val="100000"/>
              </a:lnSpc>
              <a:spcBef>
                <a:spcPts val="1200"/>
              </a:spcBef>
            </a:pPr>
            <a:r>
              <a:rPr lang="en-US" sz="3600" dirty="0">
                <a:solidFill>
                  <a:schemeClr val="tx1"/>
                </a:solidFill>
              </a:rPr>
              <a:t>In</a:t>
            </a:r>
            <a:r>
              <a:rPr lang="en-US" sz="3600" b="1" dirty="0">
                <a:solidFill>
                  <a:schemeClr val="tx1"/>
                </a:solidFill>
              </a:rPr>
              <a:t> Prefix </a:t>
            </a:r>
            <a:r>
              <a:rPr lang="en-US" sz="3600" dirty="0">
                <a:solidFill>
                  <a:schemeClr val="tx1"/>
                </a:solidFill>
              </a:rPr>
              <a:t>notation, operators are placed </a:t>
            </a:r>
            <a:r>
              <a:rPr lang="en-US" sz="36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before the operands. </a:t>
            </a:r>
            <a:r>
              <a:rPr lang="en-IN" sz="3600" dirty="0">
                <a:solidFill>
                  <a:schemeClr val="tx1"/>
                </a:solidFill>
              </a:rPr>
              <a:t>For example, </a:t>
            </a:r>
            <a:r>
              <a:rPr lang="en-IN" sz="36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+AB</a:t>
            </a:r>
            <a:endParaRPr lang="en-US" sz="36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p:txBody>
      </p:sp>
      <p:grpSp>
        <p:nvGrpSpPr>
          <p:cNvPr id="10" name="Group 9"/>
          <p:cNvGrpSpPr/>
          <p:nvPr/>
        </p:nvGrpSpPr>
        <p:grpSpPr>
          <a:xfrm>
            <a:off x="3886200" y="1600200"/>
            <a:ext cx="8305800" cy="2484438"/>
            <a:chOff x="-1123122" y="1400302"/>
            <a:chExt cx="8464826" cy="5072099"/>
          </a:xfrm>
        </p:grpSpPr>
        <p:sp>
          <p:nvSpPr>
            <p:cNvPr id="4" name="Left-Right-Up Arrow 3"/>
            <p:cNvSpPr/>
            <p:nvPr/>
          </p:nvSpPr>
          <p:spPr>
            <a:xfrm>
              <a:off x="-1123122" y="2047354"/>
              <a:ext cx="8464826" cy="4425047"/>
            </a:xfrm>
            <a:prstGeom prst="leftRightUp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IN" sz="3200" b="1" dirty="0"/>
                <a:t>Operand1	          A </a:t>
              </a:r>
              <a:r>
                <a:rPr lang="en-IN" sz="3200" b="1" dirty="0">
                  <a:solidFill>
                    <a:schemeClr val="tx1"/>
                  </a:solidFill>
                </a:rPr>
                <a:t>+</a:t>
              </a:r>
              <a:r>
                <a:rPr lang="en-IN" sz="3200" b="1" dirty="0"/>
                <a:t> </a:t>
              </a:r>
              <a:r>
                <a:rPr lang="en-IN" sz="3200" b="1" dirty="0">
                  <a:solidFill>
                    <a:srgbClr val="CC0066"/>
                  </a:solidFill>
                </a:rPr>
                <a:t>B		Operand2</a:t>
              </a:r>
            </a:p>
          </p:txBody>
        </p:sp>
        <p:sp>
          <p:nvSpPr>
            <p:cNvPr id="9" name="TextBox 8"/>
            <p:cNvSpPr txBox="1"/>
            <p:nvPr/>
          </p:nvSpPr>
          <p:spPr>
            <a:xfrm>
              <a:off x="3472543" y="1400302"/>
              <a:ext cx="1676400" cy="523220"/>
            </a:xfrm>
            <a:prstGeom prst="rect">
              <a:avLst/>
            </a:prstGeom>
            <a:noFill/>
          </p:spPr>
          <p:txBody>
            <a:bodyPr wrap="square" rtlCol="0">
              <a:spAutoFit/>
            </a:bodyPr>
            <a:lstStyle/>
            <a:p>
              <a:r>
                <a:rPr lang="en-IN" sz="2800" dirty="0"/>
                <a:t>operator</a:t>
              </a:r>
            </a:p>
          </p:txBody>
        </p:sp>
      </p:grpSp>
      <mc:AlternateContent xmlns:mc="http://schemas.openxmlformats.org/markup-compatibility/2006" xmlns:p14="http://schemas.microsoft.com/office/powerpoint/2010/main">
        <mc:Choice Requires="p14">
          <p:contentPart p14:bwMode="auto" r:id="rId2">
            <p14:nvContentPartPr>
              <p14:cNvPr id="70" name="Ink 69"/>
              <p14:cNvContentPartPr/>
              <p14:nvPr/>
            </p14:nvContentPartPr>
            <p14:xfrm>
              <a:off x="394822" y="6213600"/>
              <a:ext cx="360" cy="360"/>
            </p14:xfrm>
          </p:contentPart>
        </mc:Choice>
        <mc:Fallback xmlns="">
          <p:pic>
            <p:nvPicPr>
              <p:cNvPr id="70" name="Ink 69"/>
              <p:cNvPicPr/>
              <p:nvPr/>
            </p:nvPicPr>
            <p:blipFill>
              <a:blip r:embed="rId3"/>
              <a:stretch>
                <a:fillRect/>
              </a:stretch>
            </p:blipFill>
            <p:spPr>
              <a:xfrm>
                <a:off x="356662" y="6175440"/>
                <a:ext cx="76680" cy="7668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
                                            <p:txEl>
                                              <p:pRg st="1" end="1"/>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p:cTn id="14" dur="500" fill="hold"/>
                                        <p:tgtEl>
                                          <p:spTgt spid="10"/>
                                        </p:tgtEl>
                                        <p:attrNameLst>
                                          <p:attrName>ppt_w</p:attrName>
                                        </p:attrNameLst>
                                      </p:cBhvr>
                                      <p:tavLst>
                                        <p:tav tm="0">
                                          <p:val>
                                            <p:fltVal val="0"/>
                                          </p:val>
                                        </p:tav>
                                        <p:tav tm="100000">
                                          <p:val>
                                            <p:strVal val="#ppt_w"/>
                                          </p:val>
                                        </p:tav>
                                      </p:tavLst>
                                    </p:anim>
                                    <p:anim calcmode="lin" valueType="num">
                                      <p:cBhvr>
                                        <p:cTn id="15" dur="500" fill="hold"/>
                                        <p:tgtEl>
                                          <p:spTgt spid="10"/>
                                        </p:tgtEl>
                                        <p:attrNameLst>
                                          <p:attrName>ppt_h</p:attrName>
                                        </p:attrNameLst>
                                      </p:cBhvr>
                                      <p:tavLst>
                                        <p:tav tm="0">
                                          <p:val>
                                            <p:fltVal val="0"/>
                                          </p:val>
                                        </p:tav>
                                        <p:tav tm="100000">
                                          <p:val>
                                            <p:strVal val="#ppt_h"/>
                                          </p:val>
                                        </p:tav>
                                      </p:tavLst>
                                    </p:anim>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xit" presetSubtype="32" fill="hold" nodeType="clickEffect">
                                  <p:stCondLst>
                                    <p:cond delay="0"/>
                                  </p:stCondLst>
                                  <p:childTnLst>
                                    <p:anim calcmode="lin" valueType="num">
                                      <p:cBhvr>
                                        <p:cTn id="20" dur="500"/>
                                        <p:tgtEl>
                                          <p:spTgt spid="10"/>
                                        </p:tgtEl>
                                        <p:attrNameLst>
                                          <p:attrName>ppt_w</p:attrName>
                                        </p:attrNameLst>
                                      </p:cBhvr>
                                      <p:tavLst>
                                        <p:tav tm="0">
                                          <p:val>
                                            <p:strVal val="ppt_w"/>
                                          </p:val>
                                        </p:tav>
                                        <p:tav tm="100000">
                                          <p:val>
                                            <p:fltVal val="0"/>
                                          </p:val>
                                        </p:tav>
                                      </p:tavLst>
                                    </p:anim>
                                    <p:anim calcmode="lin" valueType="num">
                                      <p:cBhvr>
                                        <p:cTn id="21" dur="500"/>
                                        <p:tgtEl>
                                          <p:spTgt spid="10"/>
                                        </p:tgtEl>
                                        <p:attrNameLst>
                                          <p:attrName>ppt_h</p:attrName>
                                        </p:attrNameLst>
                                      </p:cBhvr>
                                      <p:tavLst>
                                        <p:tav tm="0">
                                          <p:val>
                                            <p:strVal val="ppt_h"/>
                                          </p:val>
                                        </p:tav>
                                        <p:tav tm="100000">
                                          <p:val>
                                            <p:fltVal val="0"/>
                                          </p:val>
                                        </p:tav>
                                      </p:tavLst>
                                    </p:anim>
                                    <p:animEffect transition="out" filter="fade">
                                      <p:cBhvr>
                                        <p:cTn id="22" dur="500"/>
                                        <p:tgtEl>
                                          <p:spTgt spid="10"/>
                                        </p:tgtEl>
                                      </p:cBhvr>
                                    </p:animEffect>
                                    <p:set>
                                      <p:cBhvr>
                                        <p:cTn id="23" dur="1" fill="hold">
                                          <p:stCondLst>
                                            <p:cond delay="499"/>
                                          </p:stCondLst>
                                        </p:cTn>
                                        <p:tgtEl>
                                          <p:spTgt spid="10"/>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45"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2000"/>
                                        <p:tgtEl>
                                          <p:spTgt spid="3">
                                            <p:txEl>
                                              <p:pRg st="2" end="2"/>
                                            </p:txEl>
                                          </p:spTgt>
                                        </p:tgtEl>
                                      </p:cBhvr>
                                    </p:animEffect>
                                    <p:anim calcmode="lin" valueType="num">
                                      <p:cBhvr>
                                        <p:cTn id="29" dur="2000" fill="hold"/>
                                        <p:tgtEl>
                                          <p:spTgt spid="3">
                                            <p:txEl>
                                              <p:pRg st="2" end="2"/>
                                            </p:txEl>
                                          </p:spTgt>
                                        </p:tgtEl>
                                        <p:attrNameLst>
                                          <p:attrName>ppt_w</p:attrName>
                                        </p:attrNameLst>
                                      </p:cBhvr>
                                      <p:tavLst>
                                        <p:tav tm="0" fmla="#ppt_w*sin(2.5*pi*$)">
                                          <p:val>
                                            <p:fltVal val="0"/>
                                          </p:val>
                                        </p:tav>
                                        <p:tav tm="100000">
                                          <p:val>
                                            <p:fltVal val="1"/>
                                          </p:val>
                                        </p:tav>
                                      </p:tavLst>
                                    </p:anim>
                                    <p:anim calcmode="lin" valueType="num">
                                      <p:cBhvr>
                                        <p:cTn id="30" dur="20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 calcmode="lin" valueType="num">
                                      <p:cBhvr additive="base">
                                        <p:cTn id="3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152400"/>
            <a:ext cx="12877800" cy="1356360"/>
          </a:xfrm>
        </p:spPr>
        <p:txBody>
          <a:bodyPr>
            <a:normAutofit fontScale="90000"/>
          </a:bodyPr>
          <a:lstStyle/>
          <a:p>
            <a:r>
              <a:rPr lang="en-IN" spc="-150" dirty="0">
                <a:solidFill>
                  <a:srgbClr val="D20C9E"/>
                </a:solidFill>
              </a:rPr>
              <a:t>Convert the following infix expressions into postfix expressions</a:t>
            </a:r>
            <a:br>
              <a:rPr lang="en-IN" dirty="0"/>
            </a:br>
            <a:endParaRPr lang="en-IN" dirty="0"/>
          </a:p>
        </p:txBody>
      </p:sp>
      <p:sp>
        <p:nvSpPr>
          <p:cNvPr id="3" name="Content Placeholder 2"/>
          <p:cNvSpPr>
            <a:spLocks noGrp="1"/>
          </p:cNvSpPr>
          <p:nvPr>
            <p:ph idx="1"/>
          </p:nvPr>
        </p:nvSpPr>
        <p:spPr>
          <a:xfrm>
            <a:off x="457200" y="1143000"/>
            <a:ext cx="11049000" cy="4953000"/>
          </a:xfrm>
        </p:spPr>
        <p:txBody>
          <a:bodyPr>
            <a:normAutofit lnSpcReduction="10000"/>
          </a:bodyPr>
          <a:lstStyle/>
          <a:p>
            <a:pPr marL="45720" indent="0">
              <a:buNone/>
            </a:pPr>
            <a:r>
              <a:rPr lang="en-IN" sz="2800" b="1" dirty="0">
                <a:solidFill>
                  <a:schemeClr val="tx1"/>
                </a:solidFill>
              </a:rPr>
              <a:t>(a) </a:t>
            </a:r>
            <a:r>
              <a:rPr lang="en-IN" sz="3200" b="1" dirty="0">
                <a:solidFill>
                  <a:srgbClr val="FFFF00"/>
                </a:solidFill>
                <a:highlight>
                  <a:srgbClr val="FF00FF"/>
                </a:highlight>
                <a:ea typeface="Calibri" panose="020F0502020204030204" pitchFamily="34" charset="0"/>
              </a:rPr>
              <a:t>(A–B) * (C+D)</a:t>
            </a:r>
          </a:p>
          <a:p>
            <a:pPr marL="45720" indent="0">
              <a:buNone/>
            </a:pPr>
            <a:r>
              <a:rPr lang="en-IN" sz="3200" b="1" i="1" dirty="0">
                <a:solidFill>
                  <a:schemeClr val="tx1"/>
                </a:solidFill>
              </a:rPr>
              <a:t>	</a:t>
            </a:r>
            <a:r>
              <a:rPr lang="en-IN" sz="3200" b="1" i="1" u="sng" dirty="0">
                <a:solidFill>
                  <a:schemeClr val="tx1"/>
                </a:solidFill>
              </a:rPr>
              <a:t>Solution</a:t>
            </a:r>
          </a:p>
          <a:p>
            <a:pPr marL="45720" indent="0">
              <a:buNone/>
            </a:pPr>
            <a:r>
              <a:rPr lang="en-IN" sz="2800" spc="300" dirty="0">
                <a:solidFill>
                  <a:schemeClr val="tx1"/>
                </a:solidFill>
              </a:rPr>
              <a:t>		[AB–] * [CD+]</a:t>
            </a:r>
          </a:p>
          <a:p>
            <a:pPr marL="45720" indent="0">
              <a:buNone/>
            </a:pPr>
            <a:r>
              <a:rPr lang="en-IN" sz="2800" spc="300" dirty="0">
                <a:solidFill>
                  <a:schemeClr val="tx1"/>
                </a:solidFill>
              </a:rPr>
              <a:t>		</a:t>
            </a:r>
            <a:r>
              <a:rPr lang="en-IN" sz="2800" b="1" dirty="0">
                <a:solidFill>
                  <a:schemeClr val="tx1"/>
                </a:solidFill>
                <a:highlight>
                  <a:srgbClr val="00FF00"/>
                </a:highlight>
                <a:ea typeface="Calibri" panose="020F0502020204030204" pitchFamily="34" charset="0"/>
              </a:rPr>
              <a:t>AB–CD+*</a:t>
            </a:r>
          </a:p>
          <a:p>
            <a:pPr marL="45720" indent="0">
              <a:buNone/>
            </a:pPr>
            <a:r>
              <a:rPr lang="pt-BR" sz="2800" b="1" dirty="0">
                <a:solidFill>
                  <a:schemeClr val="tx1"/>
                </a:solidFill>
              </a:rPr>
              <a:t>(b)</a:t>
            </a:r>
            <a:r>
              <a:rPr lang="pt-BR" b="1" dirty="0"/>
              <a:t> </a:t>
            </a:r>
            <a:r>
              <a:rPr lang="pt-BR" sz="3200" b="1" dirty="0">
                <a:solidFill>
                  <a:srgbClr val="FFFF00"/>
                </a:solidFill>
                <a:highlight>
                  <a:srgbClr val="FF00FF"/>
                </a:highlight>
                <a:ea typeface="Calibri" panose="020F0502020204030204" pitchFamily="34" charset="0"/>
              </a:rPr>
              <a:t>(A + B) / (C + D) – (D * E)</a:t>
            </a:r>
          </a:p>
          <a:p>
            <a:pPr marL="45720" indent="0">
              <a:buNone/>
            </a:pPr>
            <a:r>
              <a:rPr lang="en-IN" sz="3200" b="1" i="1" dirty="0">
                <a:solidFill>
                  <a:schemeClr val="tx1"/>
                </a:solidFill>
              </a:rPr>
              <a:t>	</a:t>
            </a:r>
            <a:r>
              <a:rPr lang="en-IN" sz="3200" b="1" i="1" u="sng" dirty="0">
                <a:solidFill>
                  <a:schemeClr val="tx1"/>
                </a:solidFill>
              </a:rPr>
              <a:t>Solution</a:t>
            </a:r>
            <a:endParaRPr lang="pt-BR" sz="3200" b="1" u="sng" dirty="0">
              <a:solidFill>
                <a:srgbClr val="FFFF00"/>
              </a:solidFill>
              <a:highlight>
                <a:srgbClr val="FF00FF"/>
              </a:highlight>
              <a:ea typeface="Calibri" panose="020F0502020204030204" pitchFamily="34" charset="0"/>
            </a:endParaRPr>
          </a:p>
          <a:p>
            <a:pPr marL="45720" indent="0">
              <a:buNone/>
            </a:pPr>
            <a:r>
              <a:rPr lang="en-IN" sz="2800" spc="300" dirty="0">
                <a:solidFill>
                  <a:schemeClr val="tx1"/>
                </a:solidFill>
              </a:rPr>
              <a:t>		[AB+] / [CD+] – [DE*]</a:t>
            </a:r>
          </a:p>
          <a:p>
            <a:pPr marL="45720" indent="0">
              <a:buNone/>
            </a:pPr>
            <a:r>
              <a:rPr lang="en-IN" sz="2800" spc="300" dirty="0">
                <a:solidFill>
                  <a:schemeClr val="tx1"/>
                </a:solidFill>
              </a:rPr>
              <a:t>		[AB+CD+/] – [DE*]</a:t>
            </a:r>
          </a:p>
          <a:p>
            <a:pPr marL="45720" indent="0">
              <a:lnSpc>
                <a:spcPct val="100000"/>
              </a:lnSpc>
              <a:buNone/>
            </a:pPr>
            <a:r>
              <a:rPr lang="en-IN" sz="2800" spc="300" dirty="0">
                <a:solidFill>
                  <a:schemeClr val="tx1"/>
                </a:solidFill>
              </a:rPr>
              <a:t>		</a:t>
            </a:r>
            <a:r>
              <a:rPr lang="en-IN" sz="2800" b="1" dirty="0">
                <a:solidFill>
                  <a:schemeClr val="tx1"/>
                </a:solidFill>
                <a:highlight>
                  <a:srgbClr val="00FF00"/>
                </a:highlight>
                <a:ea typeface="Calibri" panose="020F0502020204030204" pitchFamily="34" charset="0"/>
              </a:rPr>
              <a:t>AB+CD+/DE*–</a:t>
            </a:r>
          </a:p>
        </p:txBody>
      </p:sp>
    </p:spTree>
    <p:extLst>
      <p:ext uri="{BB962C8B-B14F-4D97-AF65-F5344CB8AC3E}">
        <p14:creationId xmlns:p14="http://schemas.microsoft.com/office/powerpoint/2010/main" val="2198694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09C38-0ADC-9D96-FC74-992392B71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282DC3-162A-DBEE-3CDA-71BB68B4C8DC}"/>
              </a:ext>
            </a:extLst>
          </p:cNvPr>
          <p:cNvSpPr>
            <a:spLocks noGrp="1"/>
          </p:cNvSpPr>
          <p:nvPr>
            <p:ph type="title"/>
          </p:nvPr>
        </p:nvSpPr>
        <p:spPr>
          <a:xfrm>
            <a:off x="152400" y="152400"/>
            <a:ext cx="12877800" cy="1356360"/>
          </a:xfrm>
        </p:spPr>
        <p:txBody>
          <a:bodyPr>
            <a:normAutofit fontScale="90000"/>
          </a:bodyPr>
          <a:lstStyle/>
          <a:p>
            <a:r>
              <a:rPr lang="en-IN" spc="-150" dirty="0">
                <a:solidFill>
                  <a:srgbClr val="D20C9E"/>
                </a:solidFill>
              </a:rPr>
              <a:t>Convert the following infix expressions into postfix expressions</a:t>
            </a:r>
            <a:br>
              <a:rPr lang="en-IN" dirty="0"/>
            </a:br>
            <a:endParaRPr lang="en-IN" dirty="0"/>
          </a:p>
        </p:txBody>
      </p:sp>
      <p:sp>
        <p:nvSpPr>
          <p:cNvPr id="3" name="Content Placeholder 2">
            <a:extLst>
              <a:ext uri="{FF2B5EF4-FFF2-40B4-BE49-F238E27FC236}">
                <a16:creationId xmlns:a16="http://schemas.microsoft.com/office/drawing/2014/main" id="{812B8062-A09A-6B3C-1A0D-873CF3058DBD}"/>
              </a:ext>
            </a:extLst>
          </p:cNvPr>
          <p:cNvSpPr>
            <a:spLocks noGrp="1"/>
          </p:cNvSpPr>
          <p:nvPr>
            <p:ph idx="1"/>
          </p:nvPr>
        </p:nvSpPr>
        <p:spPr>
          <a:xfrm>
            <a:off x="457200" y="1143000"/>
            <a:ext cx="11049000" cy="4953000"/>
          </a:xfrm>
        </p:spPr>
        <p:txBody>
          <a:bodyPr>
            <a:normAutofit/>
          </a:bodyPr>
          <a:lstStyle/>
          <a:p>
            <a:pPr marL="560070" indent="-514350">
              <a:buAutoNum type="alphaLcParenBoth"/>
            </a:pPr>
            <a:r>
              <a:rPr lang="en-IN" sz="2400" dirty="0">
                <a:solidFill>
                  <a:schemeClr val="tx1"/>
                </a:solidFill>
                <a:latin typeface="Times New Roman" panose="02020603050405020304" pitchFamily="18" charset="0"/>
                <a:cs typeface="Times New Roman" panose="02020603050405020304" pitchFamily="18" charset="0"/>
              </a:rPr>
              <a:t>(A+B)*(C/D)</a:t>
            </a:r>
            <a:endParaRPr lang="pt-BR" sz="2400" dirty="0">
              <a:solidFill>
                <a:schemeClr val="tx1"/>
              </a:solidFill>
              <a:latin typeface="Times New Roman" panose="02020603050405020304" pitchFamily="18" charset="0"/>
              <a:cs typeface="Times New Roman" panose="02020603050405020304" pitchFamily="18" charset="0"/>
            </a:endParaRPr>
          </a:p>
          <a:p>
            <a:pPr marL="560070" indent="-514350">
              <a:buAutoNum type="alphaLcParenBoth"/>
            </a:pPr>
            <a:r>
              <a:rPr lang="pt-BR" sz="2400" dirty="0">
                <a:solidFill>
                  <a:schemeClr val="tx1"/>
                </a:solidFill>
                <a:latin typeface="Times New Roman" panose="02020603050405020304" pitchFamily="18" charset="0"/>
                <a:cs typeface="Times New Roman" panose="02020603050405020304" pitchFamily="18" charset="0"/>
              </a:rPr>
              <a:t>A*(B*C+D*E)+F</a:t>
            </a:r>
            <a:endParaRPr lang="pt-BR"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marL="560070" indent="-514350">
              <a:buAutoNum type="alphaLcParenBoth"/>
            </a:pPr>
            <a:r>
              <a:rPr lang="pt-BR"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A+(B*C+D)/E</a:t>
            </a:r>
          </a:p>
          <a:p>
            <a:pPr marL="560070" indent="-514350">
              <a:buAutoNum type="alphaLcParenBoth"/>
            </a:pPr>
            <a:r>
              <a:rPr lang="en-IN" sz="2400" dirty="0">
                <a:solidFill>
                  <a:schemeClr val="tx1"/>
                </a:solidFill>
                <a:latin typeface="Times New Roman" panose="02020603050405020304" pitchFamily="18" charset="0"/>
                <a:cs typeface="Times New Roman" panose="02020603050405020304" pitchFamily="18" charset="0"/>
              </a:rPr>
              <a:t>A+(B*C+D)/E+F*G</a:t>
            </a:r>
          </a:p>
          <a:p>
            <a:pPr marL="560070" indent="-514350">
              <a:buAutoNum type="alphaLcParenBoth"/>
            </a:pPr>
            <a:r>
              <a:rPr lang="pt-BR"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(A+B)*C+(D-E)/F+G</a:t>
            </a:r>
            <a:endParaRPr lang="en-IN"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206316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12268200" cy="1356360"/>
          </a:xfrm>
        </p:spPr>
        <p:txBody>
          <a:bodyPr>
            <a:normAutofit/>
          </a:bodyPr>
          <a:lstStyle/>
          <a:p>
            <a:r>
              <a:rPr lang="en-IN" sz="4000" dirty="0">
                <a:solidFill>
                  <a:srgbClr val="D20C9E"/>
                </a:solidFill>
              </a:rPr>
              <a:t>Algorithm to convert an infix notation to postfix notation</a:t>
            </a:r>
          </a:p>
        </p:txBody>
      </p:sp>
      <p:sp>
        <p:nvSpPr>
          <p:cNvPr id="3" name="Content Placeholder 2"/>
          <p:cNvSpPr>
            <a:spLocks noGrp="1"/>
          </p:cNvSpPr>
          <p:nvPr>
            <p:ph idx="1"/>
          </p:nvPr>
        </p:nvSpPr>
        <p:spPr>
          <a:xfrm>
            <a:off x="304800" y="838200"/>
            <a:ext cx="12268200" cy="6248400"/>
          </a:xfrm>
        </p:spPr>
        <p:txBody>
          <a:bodyPr>
            <a:normAutofit/>
          </a:bodyPr>
          <a:lstStyle/>
          <a:p>
            <a:pPr>
              <a:spcBef>
                <a:spcPts val="0"/>
              </a:spcBef>
            </a:pPr>
            <a:r>
              <a:rPr lang="en-IN" sz="2400" dirty="0">
                <a:solidFill>
                  <a:srgbClr val="CC0066"/>
                </a:solidFill>
                <a:highlight>
                  <a:srgbClr val="FFFF00"/>
                </a:highlight>
                <a:ea typeface="Calibri" panose="020F0502020204030204" pitchFamily="34" charset="0"/>
              </a:rPr>
              <a:t>Step 1:</a:t>
            </a:r>
            <a:r>
              <a:rPr lang="en-IN" dirty="0">
                <a:solidFill>
                  <a:schemeClr val="tx1"/>
                </a:solidFill>
              </a:rPr>
              <a:t> Add</a:t>
            </a:r>
            <a:r>
              <a:rPr lang="en-IN" sz="2000" b="1" dirty="0">
                <a:solidFill>
                  <a:srgbClr val="FFFF00"/>
                </a:solidFill>
                <a:highlight>
                  <a:srgbClr val="FF00FF"/>
                </a:highlight>
                <a:ea typeface="Calibri" panose="020F0502020204030204" pitchFamily="34" charset="0"/>
              </a:rPr>
              <a:t> ) </a:t>
            </a:r>
            <a:r>
              <a:rPr lang="en-IN" dirty="0">
                <a:solidFill>
                  <a:schemeClr val="tx1"/>
                </a:solidFill>
              </a:rPr>
              <a:t>to the end of the infix expression</a:t>
            </a:r>
          </a:p>
          <a:p>
            <a:pPr>
              <a:spcBef>
                <a:spcPts val="0"/>
              </a:spcBef>
            </a:pPr>
            <a:r>
              <a:rPr lang="en-IN" sz="2400" dirty="0">
                <a:solidFill>
                  <a:srgbClr val="CC0066"/>
                </a:solidFill>
                <a:highlight>
                  <a:srgbClr val="FFFF00"/>
                </a:highlight>
                <a:ea typeface="Calibri" panose="020F0502020204030204" pitchFamily="34" charset="0"/>
              </a:rPr>
              <a:t>Step 2:</a:t>
            </a:r>
            <a:r>
              <a:rPr lang="en-IN" dirty="0">
                <a:solidFill>
                  <a:schemeClr val="tx1"/>
                </a:solidFill>
              </a:rPr>
              <a:t> Push</a:t>
            </a:r>
            <a:r>
              <a:rPr lang="en-IN" sz="2000" b="1" dirty="0">
                <a:solidFill>
                  <a:srgbClr val="FFFF00"/>
                </a:solidFill>
                <a:highlight>
                  <a:srgbClr val="FF00FF"/>
                </a:highlight>
                <a:ea typeface="Calibri" panose="020F0502020204030204" pitchFamily="34" charset="0"/>
              </a:rPr>
              <a:t> ( </a:t>
            </a:r>
            <a:r>
              <a:rPr lang="en-IN" dirty="0">
                <a:solidFill>
                  <a:schemeClr val="tx1"/>
                </a:solidFill>
              </a:rPr>
              <a:t>on to the stack</a:t>
            </a:r>
          </a:p>
          <a:p>
            <a:pPr>
              <a:spcBef>
                <a:spcPts val="0"/>
              </a:spcBef>
            </a:pPr>
            <a:r>
              <a:rPr lang="en-IN" sz="2400" dirty="0">
                <a:solidFill>
                  <a:srgbClr val="CC0066"/>
                </a:solidFill>
                <a:highlight>
                  <a:srgbClr val="FFFF00"/>
                </a:highlight>
                <a:ea typeface="Calibri" panose="020F0502020204030204" pitchFamily="34" charset="0"/>
              </a:rPr>
              <a:t>Step 3:</a:t>
            </a:r>
            <a:r>
              <a:rPr lang="en-IN" dirty="0">
                <a:solidFill>
                  <a:schemeClr val="tx1"/>
                </a:solidFill>
              </a:rPr>
              <a:t> Repeat until each character in the infix notation is scanned</a:t>
            </a:r>
          </a:p>
          <a:p>
            <a:pPr marL="1097280" lvl="4" indent="0">
              <a:spcBef>
                <a:spcPts val="0"/>
              </a:spcBef>
              <a:buNone/>
            </a:pPr>
            <a:r>
              <a:rPr lang="en-IN" sz="1800" b="1" dirty="0">
                <a:solidFill>
                  <a:schemeClr val="tx1"/>
                </a:solidFill>
              </a:rPr>
              <a:t>IF a</a:t>
            </a:r>
            <a:r>
              <a:rPr lang="en-IN" sz="2000" b="1" dirty="0">
                <a:solidFill>
                  <a:srgbClr val="FFFF00"/>
                </a:solidFill>
                <a:highlight>
                  <a:srgbClr val="FF00FF"/>
                </a:highlight>
                <a:ea typeface="Calibri" panose="020F0502020204030204" pitchFamily="34" charset="0"/>
              </a:rPr>
              <a:t> ( </a:t>
            </a:r>
            <a:r>
              <a:rPr lang="en-IN" sz="1800" b="1" dirty="0">
                <a:solidFill>
                  <a:schemeClr val="tx1"/>
                </a:solidFill>
              </a:rPr>
              <a:t>is encountered, push it on the stack</a:t>
            </a:r>
          </a:p>
          <a:p>
            <a:pPr marL="1097280" lvl="4" indent="0">
              <a:spcBef>
                <a:spcPts val="0"/>
              </a:spcBef>
              <a:buNone/>
            </a:pPr>
            <a:r>
              <a:rPr lang="en-IN" sz="1800" b="1" dirty="0">
                <a:solidFill>
                  <a:schemeClr val="tx1"/>
                </a:solidFill>
              </a:rPr>
              <a:t>IF an </a:t>
            </a:r>
            <a:r>
              <a:rPr lang="en-IN" sz="2000" b="1" dirty="0">
                <a:solidFill>
                  <a:srgbClr val="FFFF00"/>
                </a:solidFill>
                <a:highlight>
                  <a:srgbClr val="0000FF"/>
                </a:highlight>
                <a:ea typeface="Calibri" panose="020F0502020204030204" pitchFamily="34" charset="0"/>
              </a:rPr>
              <a:t>operand</a:t>
            </a:r>
            <a:r>
              <a:rPr lang="en-IN" sz="1800" b="1" dirty="0">
                <a:solidFill>
                  <a:schemeClr val="tx1"/>
                </a:solidFill>
              </a:rPr>
              <a:t> (whether a digit or a character) is encountered, </a:t>
            </a:r>
          </a:p>
          <a:p>
            <a:pPr marL="1097280" lvl="4" indent="0">
              <a:spcBef>
                <a:spcPts val="0"/>
              </a:spcBef>
              <a:buNone/>
            </a:pPr>
            <a:r>
              <a:rPr lang="en-IN" sz="1800" b="1" dirty="0">
                <a:solidFill>
                  <a:schemeClr val="tx1"/>
                </a:solidFill>
              </a:rPr>
              <a:t>add it postfix expression.</a:t>
            </a:r>
          </a:p>
          <a:p>
            <a:pPr marL="1097280" lvl="4" indent="0">
              <a:spcBef>
                <a:spcPts val="0"/>
              </a:spcBef>
              <a:buNone/>
            </a:pPr>
            <a:r>
              <a:rPr lang="en-IN" sz="1800" b="1" dirty="0">
                <a:solidFill>
                  <a:schemeClr val="tx1"/>
                </a:solidFill>
              </a:rPr>
              <a:t>IF a</a:t>
            </a:r>
            <a:r>
              <a:rPr lang="en-IN" sz="2000" b="1" dirty="0">
                <a:solidFill>
                  <a:srgbClr val="FFFF00"/>
                </a:solidFill>
                <a:highlight>
                  <a:srgbClr val="FF00FF"/>
                </a:highlight>
                <a:ea typeface="Calibri" panose="020F0502020204030204" pitchFamily="34" charset="0"/>
              </a:rPr>
              <a:t> ) </a:t>
            </a:r>
            <a:r>
              <a:rPr lang="en-IN" sz="1800" b="1" dirty="0">
                <a:solidFill>
                  <a:schemeClr val="tx1"/>
                </a:solidFill>
              </a:rPr>
              <a:t>is encountered, then</a:t>
            </a:r>
          </a:p>
          <a:p>
            <a:pPr marL="1417120" lvl="5" indent="0">
              <a:spcBef>
                <a:spcPts val="0"/>
              </a:spcBef>
              <a:buNone/>
            </a:pPr>
            <a:r>
              <a:rPr lang="en-IN" sz="1800" b="1" dirty="0">
                <a:solidFill>
                  <a:schemeClr val="tx1"/>
                </a:solidFill>
              </a:rPr>
              <a:t>a. Repeatedly pop from stack and add it to the postfix expression until a</a:t>
            </a:r>
          </a:p>
          <a:p>
            <a:pPr marL="1417120" lvl="5" indent="0">
              <a:spcBef>
                <a:spcPts val="0"/>
              </a:spcBef>
              <a:buNone/>
            </a:pPr>
            <a:r>
              <a:rPr lang="en-IN" sz="20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a:t>
            </a:r>
            <a:r>
              <a:rPr lang="en-IN" sz="1800" b="1" dirty="0">
                <a:solidFill>
                  <a:schemeClr val="tx1"/>
                </a:solidFill>
              </a:rPr>
              <a:t> is encountered.</a:t>
            </a:r>
          </a:p>
          <a:p>
            <a:pPr marL="1417120" lvl="5" indent="0">
              <a:spcBef>
                <a:spcPts val="0"/>
              </a:spcBef>
              <a:buNone/>
            </a:pPr>
            <a:r>
              <a:rPr lang="en-IN" sz="1800" b="1" dirty="0">
                <a:solidFill>
                  <a:schemeClr val="tx1"/>
                </a:solidFill>
              </a:rPr>
              <a:t>b. Discard the</a:t>
            </a:r>
            <a:r>
              <a:rPr lang="en-IN" sz="20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 </a:t>
            </a:r>
            <a:r>
              <a:rPr lang="en-IN" sz="1800" b="1" dirty="0">
                <a:solidFill>
                  <a:schemeClr val="tx1"/>
                </a:solidFill>
              </a:rPr>
              <a:t>. That is, remove the</a:t>
            </a:r>
            <a:r>
              <a:rPr lang="en-IN" sz="20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 </a:t>
            </a:r>
            <a:r>
              <a:rPr lang="en-IN" sz="1800" b="1" dirty="0">
                <a:solidFill>
                  <a:schemeClr val="tx1"/>
                </a:solidFill>
              </a:rPr>
              <a:t>from stack and do not</a:t>
            </a:r>
          </a:p>
          <a:p>
            <a:pPr marL="1417120" lvl="5" indent="0">
              <a:spcBef>
                <a:spcPts val="0"/>
              </a:spcBef>
              <a:buNone/>
            </a:pPr>
            <a:r>
              <a:rPr lang="en-IN" sz="1800" b="1" dirty="0">
                <a:solidFill>
                  <a:schemeClr val="tx1"/>
                </a:solidFill>
              </a:rPr>
              <a:t>add it to the postfix expression</a:t>
            </a:r>
          </a:p>
          <a:p>
            <a:pPr marL="1417120" lvl="5" indent="0">
              <a:spcBef>
                <a:spcPts val="0"/>
              </a:spcBef>
              <a:buNone/>
            </a:pPr>
            <a:r>
              <a:rPr lang="en-IN" sz="1800" b="1" dirty="0">
                <a:solidFill>
                  <a:schemeClr val="tx1"/>
                </a:solidFill>
              </a:rPr>
              <a:t>IF an </a:t>
            </a:r>
            <a:r>
              <a:rPr lang="en-IN" sz="2000" b="1" dirty="0">
                <a:solidFill>
                  <a:srgbClr val="FFFF00"/>
                </a:solidFill>
                <a:highlight>
                  <a:srgbClr val="0000FF"/>
                </a:highlight>
                <a:latin typeface="Calibri" panose="020F0502020204030204" pitchFamily="34" charset="0"/>
                <a:ea typeface="Calibri" panose="020F0502020204030204" pitchFamily="34" charset="0"/>
                <a:cs typeface="Calibri" panose="020F0502020204030204" pitchFamily="34" charset="0"/>
              </a:rPr>
              <a:t>operator</a:t>
            </a:r>
            <a:r>
              <a:rPr lang="en-IN" sz="1800" b="1" dirty="0">
                <a:solidFill>
                  <a:schemeClr val="tx1"/>
                </a:solidFill>
              </a:rPr>
              <a:t> is encountered, then</a:t>
            </a:r>
          </a:p>
          <a:p>
            <a:pPr marL="1717120" lvl="6" indent="0">
              <a:spcBef>
                <a:spcPts val="0"/>
              </a:spcBef>
              <a:buNone/>
            </a:pPr>
            <a:r>
              <a:rPr lang="en-IN" sz="1800" b="1" dirty="0">
                <a:solidFill>
                  <a:schemeClr val="tx1"/>
                </a:solidFill>
              </a:rPr>
              <a:t>a. Repeatedly pop from stack and add each operator (popped from the stack) to the</a:t>
            </a:r>
          </a:p>
          <a:p>
            <a:pPr marL="1717120" lvl="6" indent="0">
              <a:spcBef>
                <a:spcPts val="0"/>
              </a:spcBef>
              <a:buNone/>
            </a:pPr>
            <a:r>
              <a:rPr lang="en-IN" sz="1800" b="1" dirty="0">
                <a:solidFill>
                  <a:schemeClr val="tx1"/>
                </a:solidFill>
              </a:rPr>
              <a:t>postfix expression which has the same precedence or a higher precedence </a:t>
            </a:r>
          </a:p>
          <a:p>
            <a:pPr marL="1717120" lvl="6" indent="0">
              <a:spcBef>
                <a:spcPts val="0"/>
              </a:spcBef>
              <a:buNone/>
            </a:pPr>
            <a:r>
              <a:rPr lang="en-IN" sz="1800" b="1" dirty="0">
                <a:solidFill>
                  <a:schemeClr val="tx1"/>
                </a:solidFill>
              </a:rPr>
              <a:t>b. Push the operator to the stack</a:t>
            </a:r>
          </a:p>
          <a:p>
            <a:pPr marL="1097280" lvl="4" indent="0">
              <a:spcBef>
                <a:spcPts val="0"/>
              </a:spcBef>
              <a:buNone/>
            </a:pPr>
            <a:r>
              <a:rPr lang="en-IN" sz="1800" b="1" dirty="0">
                <a:solidFill>
                  <a:schemeClr val="tx1"/>
                </a:solidFill>
              </a:rPr>
              <a:t>[END OF IF]</a:t>
            </a:r>
          </a:p>
          <a:p>
            <a:pPr>
              <a:spcBef>
                <a:spcPts val="0"/>
              </a:spcBef>
            </a:pPr>
            <a:r>
              <a:rPr lang="en-IN" sz="2400" dirty="0">
                <a:solidFill>
                  <a:srgbClr val="CC0066"/>
                </a:solidFill>
                <a:highlight>
                  <a:srgbClr val="FFFF00"/>
                </a:highlight>
                <a:ea typeface="Calibri" panose="020F0502020204030204" pitchFamily="34" charset="0"/>
              </a:rPr>
              <a:t>Step 4:</a:t>
            </a:r>
            <a:r>
              <a:rPr lang="en-IN" dirty="0">
                <a:solidFill>
                  <a:schemeClr val="tx1"/>
                </a:solidFill>
              </a:rPr>
              <a:t> Repeatedly pop from the stack and add it to the postfix expression until the stack is empty</a:t>
            </a:r>
          </a:p>
          <a:p>
            <a:pPr>
              <a:spcBef>
                <a:spcPts val="0"/>
              </a:spcBef>
            </a:pPr>
            <a:r>
              <a:rPr lang="en-IN" sz="2400" dirty="0">
                <a:solidFill>
                  <a:srgbClr val="CC0066"/>
                </a:solidFill>
                <a:highlight>
                  <a:srgbClr val="FFFF00"/>
                </a:highlight>
                <a:ea typeface="Calibri" panose="020F0502020204030204" pitchFamily="34" charset="0"/>
              </a:rPr>
              <a:t>Step 5:</a:t>
            </a:r>
            <a:r>
              <a:rPr lang="en-IN" dirty="0">
                <a:solidFill>
                  <a:schemeClr val="tx1"/>
                </a:solidFill>
              </a:rPr>
              <a:t> EXIT</a:t>
            </a:r>
          </a:p>
        </p:txBody>
      </p:sp>
    </p:spTree>
    <p:extLst>
      <p:ext uri="{BB962C8B-B14F-4D97-AF65-F5344CB8AC3E}">
        <p14:creationId xmlns:p14="http://schemas.microsoft.com/office/powerpoint/2010/main" val="3438458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
                                            <p:txEl>
                                              <p:pRg st="15" end="15"/>
                                            </p:txEl>
                                          </p:spTgt>
                                        </p:tgtEl>
                                        <p:attrNameLst>
                                          <p:attrName>style.visibility</p:attrName>
                                        </p:attrNameLst>
                                      </p:cBhvr>
                                      <p:to>
                                        <p:strVal val="visible"/>
                                      </p:to>
                                    </p:set>
                                    <p:anim calcmode="lin" valueType="num">
                                      <p:cBhvr additive="base">
                                        <p:cTn id="97"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3">
                                            <p:txEl>
                                              <p:pRg st="16" end="16"/>
                                            </p:txEl>
                                          </p:spTgt>
                                        </p:tgtEl>
                                        <p:attrNameLst>
                                          <p:attrName>style.visibility</p:attrName>
                                        </p:attrNameLst>
                                      </p:cBhvr>
                                      <p:to>
                                        <p:strVal val="visible"/>
                                      </p:to>
                                    </p:set>
                                    <p:anim calcmode="lin" valueType="num">
                                      <p:cBhvr additive="base">
                                        <p:cTn id="103"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3">
                                            <p:txEl>
                                              <p:pRg st="16" end="16"/>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3">
                                            <p:txEl>
                                              <p:pRg st="17" end="17"/>
                                            </p:txEl>
                                          </p:spTgt>
                                        </p:tgtEl>
                                        <p:attrNameLst>
                                          <p:attrName>style.visibility</p:attrName>
                                        </p:attrNameLst>
                                      </p:cBhvr>
                                      <p:to>
                                        <p:strVal val="visible"/>
                                      </p:to>
                                    </p:set>
                                    <p:anim calcmode="lin" valueType="num">
                                      <p:cBhvr additive="base">
                                        <p:cTn id="10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03909"/>
            <a:ext cx="11887200" cy="1143000"/>
          </a:xfrm>
        </p:spPr>
        <p:txBody>
          <a:bodyPr>
            <a:normAutofit fontScale="90000"/>
          </a:bodyPr>
          <a:lstStyle/>
          <a:p>
            <a:r>
              <a:rPr lang="en-IN" b="1" spc="-150" dirty="0">
                <a:solidFill>
                  <a:srgbClr val="CC0066"/>
                </a:solidFill>
              </a:rPr>
              <a:t>Conversion of an Infix Expression into a Postfix Expression</a:t>
            </a:r>
            <a:endParaRPr lang="en-US" b="1" spc="-150" dirty="0">
              <a:solidFill>
                <a:srgbClr val="CC0066"/>
              </a:solidFill>
            </a:endParaRPr>
          </a:p>
        </p:txBody>
      </p:sp>
      <p:sp>
        <p:nvSpPr>
          <p:cNvPr id="3" name="Content Placeholder 2"/>
          <p:cNvSpPr>
            <a:spLocks noGrp="1"/>
          </p:cNvSpPr>
          <p:nvPr>
            <p:ph idx="1"/>
          </p:nvPr>
        </p:nvSpPr>
        <p:spPr>
          <a:xfrm>
            <a:off x="318655" y="1143000"/>
            <a:ext cx="8229600" cy="5257800"/>
          </a:xfrm>
        </p:spPr>
        <p:txBody>
          <a:bodyPr>
            <a:normAutofit lnSpcReduction="10000"/>
          </a:bodyPr>
          <a:lstStyle/>
          <a:p>
            <a:pPr>
              <a:buNone/>
            </a:pPr>
            <a:r>
              <a:rPr lang="en-US" sz="2400" b="1" dirty="0">
                <a:solidFill>
                  <a:schemeClr val="tx1"/>
                </a:solidFill>
                <a:latin typeface="Calibri" panose="020F0502020204030204" pitchFamily="34" charset="0"/>
                <a:cs typeface="Calibri" panose="020F0502020204030204" pitchFamily="34" charset="0"/>
              </a:rPr>
              <a:t>#include &lt;</a:t>
            </a:r>
            <a:r>
              <a:rPr lang="en-US" sz="2400" b="1" dirty="0" err="1">
                <a:solidFill>
                  <a:schemeClr val="tx1"/>
                </a:solidFill>
                <a:latin typeface="Calibri" panose="020F0502020204030204" pitchFamily="34" charset="0"/>
                <a:cs typeface="Calibri" panose="020F0502020204030204" pitchFamily="34" charset="0"/>
              </a:rPr>
              <a:t>stdio.h</a:t>
            </a:r>
            <a:r>
              <a:rPr lang="en-US" sz="2400" b="1" dirty="0">
                <a:solidFill>
                  <a:schemeClr val="tx1"/>
                </a:solidFill>
                <a:latin typeface="Calibri" panose="020F0502020204030204" pitchFamily="34" charset="0"/>
                <a:cs typeface="Calibri" panose="020F0502020204030204" pitchFamily="34" charset="0"/>
              </a:rPr>
              <a:t>&gt;</a:t>
            </a:r>
          </a:p>
          <a:p>
            <a:pPr>
              <a:buNone/>
            </a:pPr>
            <a:r>
              <a:rPr lang="en-US" sz="2400" b="1" dirty="0">
                <a:solidFill>
                  <a:schemeClr val="tx1"/>
                </a:solidFill>
                <a:latin typeface="Calibri" panose="020F0502020204030204" pitchFamily="34" charset="0"/>
                <a:cs typeface="Calibri" panose="020F0502020204030204" pitchFamily="34" charset="0"/>
              </a:rPr>
              <a:t>#include &lt;</a:t>
            </a:r>
            <a:r>
              <a:rPr lang="en-US" sz="2400" b="1" dirty="0" err="1">
                <a:solidFill>
                  <a:schemeClr val="tx1"/>
                </a:solidFill>
                <a:latin typeface="Calibri" panose="020F0502020204030204" pitchFamily="34" charset="0"/>
                <a:cs typeface="Calibri" panose="020F0502020204030204" pitchFamily="34" charset="0"/>
              </a:rPr>
              <a:t>conio.h</a:t>
            </a:r>
            <a:r>
              <a:rPr lang="en-US" sz="2400" b="1" dirty="0">
                <a:solidFill>
                  <a:schemeClr val="tx1"/>
                </a:solidFill>
                <a:latin typeface="Calibri" panose="020F0502020204030204" pitchFamily="34" charset="0"/>
                <a:cs typeface="Calibri" panose="020F0502020204030204" pitchFamily="34" charset="0"/>
              </a:rPr>
              <a:t>&gt;</a:t>
            </a:r>
          </a:p>
          <a:p>
            <a:pPr>
              <a:buNone/>
            </a:pPr>
            <a:r>
              <a:rPr lang="en-US" sz="2400" b="1" dirty="0">
                <a:solidFill>
                  <a:schemeClr val="tx1"/>
                </a:solidFill>
                <a:latin typeface="Calibri" panose="020F0502020204030204" pitchFamily="34" charset="0"/>
                <a:cs typeface="Calibri" panose="020F0502020204030204" pitchFamily="34" charset="0"/>
              </a:rPr>
              <a:t>#include &lt;</a:t>
            </a:r>
            <a:r>
              <a:rPr lang="en-US" sz="2400" b="1" dirty="0" err="1">
                <a:solidFill>
                  <a:schemeClr val="tx1"/>
                </a:solidFill>
                <a:latin typeface="Calibri" panose="020F0502020204030204" pitchFamily="34" charset="0"/>
                <a:cs typeface="Calibri" panose="020F0502020204030204" pitchFamily="34" charset="0"/>
              </a:rPr>
              <a:t>ctype.h</a:t>
            </a:r>
            <a:r>
              <a:rPr lang="en-US" sz="2400" b="1" dirty="0">
                <a:solidFill>
                  <a:schemeClr val="tx1"/>
                </a:solidFill>
                <a:latin typeface="Calibri" panose="020F0502020204030204" pitchFamily="34" charset="0"/>
                <a:cs typeface="Calibri" panose="020F0502020204030204" pitchFamily="34" charset="0"/>
              </a:rPr>
              <a:t>&gt;</a:t>
            </a:r>
          </a:p>
          <a:p>
            <a:pPr>
              <a:buNone/>
            </a:pPr>
            <a:r>
              <a:rPr lang="en-US" sz="2400" b="1" dirty="0">
                <a:solidFill>
                  <a:schemeClr val="tx1"/>
                </a:solidFill>
                <a:latin typeface="Calibri" panose="020F0502020204030204" pitchFamily="34" charset="0"/>
                <a:cs typeface="Calibri" panose="020F0502020204030204" pitchFamily="34" charset="0"/>
              </a:rPr>
              <a:t>#include &lt;</a:t>
            </a:r>
            <a:r>
              <a:rPr lang="en-US" sz="2400" b="1" dirty="0" err="1">
                <a:solidFill>
                  <a:schemeClr val="tx1"/>
                </a:solidFill>
                <a:latin typeface="Calibri" panose="020F0502020204030204" pitchFamily="34" charset="0"/>
                <a:cs typeface="Calibri" panose="020F0502020204030204" pitchFamily="34" charset="0"/>
              </a:rPr>
              <a:t>string.h</a:t>
            </a:r>
            <a:r>
              <a:rPr lang="en-US" sz="2400" b="1" dirty="0">
                <a:solidFill>
                  <a:schemeClr val="tx1"/>
                </a:solidFill>
                <a:latin typeface="Calibri" panose="020F0502020204030204" pitchFamily="34" charset="0"/>
                <a:cs typeface="Calibri" panose="020F0502020204030204" pitchFamily="34" charset="0"/>
              </a:rPr>
              <a:t>&gt;</a:t>
            </a:r>
          </a:p>
          <a:p>
            <a:pPr>
              <a:buNone/>
            </a:pPr>
            <a:r>
              <a:rPr lang="en-US" sz="2400" b="1" dirty="0">
                <a:solidFill>
                  <a:schemeClr val="tx1"/>
                </a:solidFill>
                <a:latin typeface="Calibri" panose="020F0502020204030204" pitchFamily="34" charset="0"/>
                <a:cs typeface="Calibri" panose="020F0502020204030204" pitchFamily="34" charset="0"/>
              </a:rPr>
              <a:t>#define MAX 100</a:t>
            </a:r>
          </a:p>
          <a:p>
            <a:pPr>
              <a:buNone/>
            </a:pPr>
            <a:r>
              <a:rPr lang="en-US" sz="2400" b="1" dirty="0">
                <a:solidFill>
                  <a:schemeClr val="tx1"/>
                </a:solidFill>
                <a:latin typeface="Calibri" panose="020F0502020204030204" pitchFamily="34" charset="0"/>
                <a:cs typeface="Calibri" panose="020F0502020204030204" pitchFamily="34" charset="0"/>
              </a:rPr>
              <a:t>char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[MAX];</a:t>
            </a:r>
          </a:p>
          <a:p>
            <a:pPr>
              <a:buNone/>
            </a:pPr>
            <a:r>
              <a:rPr lang="en-US" sz="2400" b="1" dirty="0" err="1">
                <a:solidFill>
                  <a:schemeClr val="tx1"/>
                </a:solidFill>
                <a:latin typeface="Calibri" panose="020F0502020204030204" pitchFamily="34" charset="0"/>
                <a:cs typeface="Calibri" panose="020F0502020204030204" pitchFamily="34" charset="0"/>
              </a:rPr>
              <a:t>int</a:t>
            </a:r>
            <a:r>
              <a:rPr lang="en-US" sz="2400" b="1" dirty="0">
                <a:solidFill>
                  <a:schemeClr val="tx1"/>
                </a:solidFill>
                <a:latin typeface="Calibri" panose="020F0502020204030204" pitchFamily="34" charset="0"/>
                <a:cs typeface="Calibri" panose="020F0502020204030204" pitchFamily="34" charset="0"/>
              </a:rPr>
              <a:t> top = –1;</a:t>
            </a:r>
          </a:p>
          <a:p>
            <a:pPr>
              <a:buNone/>
            </a:pPr>
            <a:r>
              <a:rPr lang="en-US" sz="2400" b="1" dirty="0">
                <a:solidFill>
                  <a:schemeClr val="tx1"/>
                </a:solidFill>
                <a:latin typeface="Calibri" panose="020F0502020204030204" pitchFamily="34" charset="0"/>
                <a:cs typeface="Calibri" panose="020F0502020204030204" pitchFamily="34" charset="0"/>
              </a:rPr>
              <a:t>void push(char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 char);</a:t>
            </a:r>
          </a:p>
          <a:p>
            <a:pPr>
              <a:buNone/>
            </a:pPr>
            <a:r>
              <a:rPr lang="en-US" sz="2400" b="1" dirty="0">
                <a:solidFill>
                  <a:schemeClr val="tx1"/>
                </a:solidFill>
                <a:latin typeface="Calibri" panose="020F0502020204030204" pitchFamily="34" charset="0"/>
                <a:cs typeface="Calibri" panose="020F0502020204030204" pitchFamily="34" charset="0"/>
              </a:rPr>
              <a:t>char pop(char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a:t>
            </a:r>
          </a:p>
          <a:p>
            <a:pPr>
              <a:buNone/>
            </a:pPr>
            <a:r>
              <a:rPr lang="en-US" sz="2400" b="1" dirty="0">
                <a:solidFill>
                  <a:schemeClr val="tx1"/>
                </a:solidFill>
                <a:latin typeface="Calibri" panose="020F0502020204030204" pitchFamily="34" charset="0"/>
                <a:cs typeface="Calibri" panose="020F0502020204030204" pitchFamily="34" charset="0"/>
              </a:rPr>
              <a:t>void </a:t>
            </a:r>
            <a:r>
              <a:rPr lang="en-US" sz="32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InfixtoPostfix</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(char source[], char target[]);</a:t>
            </a:r>
          </a:p>
          <a:p>
            <a:pPr>
              <a:buNone/>
            </a:pPr>
            <a:r>
              <a:rPr lang="en-US" sz="2400" b="1" dirty="0" err="1">
                <a:solidFill>
                  <a:schemeClr val="tx1"/>
                </a:solidFill>
                <a:latin typeface="Calibri" panose="020F0502020204030204" pitchFamily="34" charset="0"/>
                <a:cs typeface="Calibri" panose="020F0502020204030204" pitchFamily="34" charset="0"/>
              </a:rPr>
              <a:t>int</a:t>
            </a: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getPriority</a:t>
            </a:r>
            <a:r>
              <a:rPr lang="en-US" sz="2400" b="1" dirty="0">
                <a:solidFill>
                  <a:schemeClr val="tx1"/>
                </a:solidFill>
                <a:latin typeface="Calibri" panose="020F0502020204030204" pitchFamily="34" charset="0"/>
                <a:cs typeface="Calibri" panose="020F0502020204030204" pitchFamily="34" charset="0"/>
              </a:rPr>
              <a:t>(char); </a:t>
            </a:r>
          </a:p>
        </p:txBody>
      </p:sp>
      <p:pic>
        <p:nvPicPr>
          <p:cNvPr id="5" name="D74ED7A" hidden="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18655" y="304800"/>
            <a:ext cx="7225145" cy="6096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xit" presetSubtype="1" fill="hold" nodeType="clickEffect">
                                  <p:stCondLst>
                                    <p:cond delay="0"/>
                                  </p:stCondLst>
                                  <p:childTnLst>
                                    <p:animEffect transition="out" filter="wheel(1)">
                                      <p:cBhvr>
                                        <p:cTn id="17" dur="2000"/>
                                        <p:tgtEl>
                                          <p:spTgt spid="5"/>
                                        </p:tgtEl>
                                      </p:cBhvr>
                                    </p:animEffect>
                                    <p:set>
                                      <p:cBhvr>
                                        <p:cTn id="18" dur="1" fill="hold">
                                          <p:stCondLst>
                                            <p:cond delay="1999"/>
                                          </p:stCondLst>
                                        </p:cTn>
                                        <p:tgtEl>
                                          <p:spTgt spid="5"/>
                                        </p:tgtEl>
                                        <p:attrNameLst>
                                          <p:attrName>style.visibility</p:attrName>
                                        </p:attrNameLst>
                                      </p:cBhvr>
                                      <p:to>
                                        <p:strVal val="hidden"/>
                                      </p:to>
                                    </p:set>
                                    <p:cmd type="call" cmd="stop">
                                      <p:cBhvr>
                                        <p:cTn id="19" dur="1">
                                          <p:stCondLst>
                                            <p:cond delay="1999"/>
                                          </p:stCondLst>
                                        </p:cTn>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showWhenStopped="0">
                <p:cTn id="20" fill="hold" display="0">
                  <p:stCondLst>
                    <p:cond delay="indefinite"/>
                  </p:stCondLst>
                </p:cTn>
                <p:tgtEl>
                  <p:spTgt spid="5"/>
                </p:tgtEl>
              </p:cMediaNode>
            </p:video>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228600"/>
            <a:ext cx="8229600" cy="5821363"/>
          </a:xfrm>
        </p:spPr>
        <p:txBody>
          <a:bodyPr>
            <a:noAutofit/>
          </a:bodyPr>
          <a:lstStyle/>
          <a:p>
            <a:pPr>
              <a:spcBef>
                <a:spcPts val="1200"/>
              </a:spcBef>
              <a:buNone/>
            </a:pPr>
            <a:r>
              <a:rPr lang="en-US" sz="2400" b="1" dirty="0" err="1">
                <a:solidFill>
                  <a:schemeClr val="tx1"/>
                </a:solidFill>
                <a:latin typeface="Calibri" panose="020F0502020204030204" pitchFamily="34" charset="0"/>
                <a:cs typeface="Calibri" panose="020F0502020204030204" pitchFamily="34" charset="0"/>
              </a:rPr>
              <a:t>int</a:t>
            </a:r>
            <a:r>
              <a:rPr lang="en-US" sz="2400" b="1" dirty="0">
                <a:solidFill>
                  <a:schemeClr val="tx1"/>
                </a:solidFill>
                <a:latin typeface="Calibri" panose="020F0502020204030204" pitchFamily="34" charset="0"/>
                <a:cs typeface="Calibri" panose="020F0502020204030204" pitchFamily="34" charset="0"/>
              </a:rPr>
              <a:t> main()</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char infix[100], postfix[100];</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clrscr</a:t>
            </a:r>
            <a:r>
              <a:rPr lang="en-US" sz="2400" b="1" dirty="0">
                <a:solidFill>
                  <a:schemeClr val="tx1"/>
                </a:solidFill>
                <a:latin typeface="Calibri" panose="020F0502020204030204" pitchFamily="34" charset="0"/>
                <a:cs typeface="Calibri" panose="020F0502020204030204" pitchFamily="34" charset="0"/>
              </a:rPr>
              <a:t>();</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printf</a:t>
            </a:r>
            <a:r>
              <a:rPr lang="en-US" sz="2400" b="1" dirty="0">
                <a:solidFill>
                  <a:schemeClr val="tx1"/>
                </a:solidFill>
                <a:latin typeface="Calibri" panose="020F0502020204030204" pitchFamily="34" charset="0"/>
                <a:cs typeface="Calibri" panose="020F0502020204030204" pitchFamily="34" charset="0"/>
              </a:rPr>
              <a:t>("\n Enter any infix expression : ");</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gets(infix);</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strcpy</a:t>
            </a:r>
            <a:r>
              <a:rPr lang="en-US" sz="2400" b="1" dirty="0">
                <a:solidFill>
                  <a:schemeClr val="tx1"/>
                </a:solidFill>
                <a:latin typeface="Calibri" panose="020F0502020204030204" pitchFamily="34" charset="0"/>
                <a:cs typeface="Calibri" panose="020F0502020204030204" pitchFamily="34" charset="0"/>
              </a:rPr>
              <a:t>(postfix, "");</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a:t>
            </a:r>
            <a:r>
              <a:rPr lang="en-US" sz="32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InfixtoPostfix</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(infix, postfix);</a:t>
            </a:r>
            <a:r>
              <a:rPr lang="en-IN"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a:t>
            </a:r>
            <a:endParaRPr lang="en-US" sz="3200" b="1" dirty="0">
              <a:solidFill>
                <a:schemeClr val="tx1"/>
              </a:solidFill>
              <a:latin typeface="Calibri" panose="020F0502020204030204" pitchFamily="34" charset="0"/>
              <a:cs typeface="Calibri" panose="020F0502020204030204" pitchFamily="34" charset="0"/>
            </a:endParaRP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printf</a:t>
            </a:r>
            <a:r>
              <a:rPr lang="en-US" sz="2400" b="1" dirty="0">
                <a:solidFill>
                  <a:schemeClr val="tx1"/>
                </a:solidFill>
                <a:latin typeface="Calibri" panose="020F0502020204030204" pitchFamily="34" charset="0"/>
                <a:cs typeface="Calibri" panose="020F0502020204030204" pitchFamily="34" charset="0"/>
              </a:rPr>
              <a:t>("\n The corresponding postfix expression is : ");</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puts(postfix);</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getch</a:t>
            </a:r>
            <a:r>
              <a:rPr lang="en-US" sz="2400" b="1" dirty="0">
                <a:solidFill>
                  <a:schemeClr val="tx1"/>
                </a:solidFill>
                <a:latin typeface="Calibri" panose="020F0502020204030204" pitchFamily="34" charset="0"/>
                <a:cs typeface="Calibri" panose="020F0502020204030204" pitchFamily="34" charset="0"/>
              </a:rPr>
              <a:t>();</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	return 0;</a:t>
            </a:r>
          </a:p>
          <a:p>
            <a:pPr>
              <a:spcBef>
                <a:spcPts val="1200"/>
              </a:spcBef>
              <a:buNone/>
            </a:pPr>
            <a:r>
              <a:rPr lang="en-US" sz="2400" b="1" dirty="0">
                <a:solidFill>
                  <a:schemeClr val="tx1"/>
                </a:solidFill>
                <a:latin typeface="Calibri" panose="020F0502020204030204" pitchFamily="34" charset="0"/>
                <a:cs typeface="Calibri" panose="020F0502020204030204" pitchFamily="34" charset="0"/>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9067800" cy="5821363"/>
          </a:xfrm>
        </p:spPr>
        <p:txBody>
          <a:bodyPr>
            <a:noAutofit/>
          </a:bodyPr>
          <a:lstStyle/>
          <a:p>
            <a:pPr>
              <a:spcBef>
                <a:spcPts val="600"/>
              </a:spcBef>
              <a:buNone/>
            </a:pPr>
            <a:r>
              <a:rPr lang="en-US" sz="3200" b="1" dirty="0">
                <a:solidFill>
                  <a:schemeClr val="tx1"/>
                </a:solidFill>
                <a:latin typeface="Calibri" panose="020F0502020204030204" pitchFamily="34" charset="0"/>
                <a:cs typeface="Calibri" panose="020F0502020204030204" pitchFamily="34" charset="0"/>
              </a:rPr>
              <a:t>void </a:t>
            </a:r>
            <a:r>
              <a:rPr lang="en-US" sz="3200" b="1" dirty="0" err="1">
                <a:solidFill>
                  <a:schemeClr val="tx1"/>
                </a:solidFill>
                <a:latin typeface="Calibri" panose="020F0502020204030204" pitchFamily="34" charset="0"/>
                <a:cs typeface="Calibri" panose="020F0502020204030204" pitchFamily="34" charset="0"/>
              </a:rPr>
              <a:t>InfixtoPostfix</a:t>
            </a:r>
            <a:r>
              <a:rPr lang="en-US" sz="3200" b="1" dirty="0">
                <a:solidFill>
                  <a:schemeClr val="tx1"/>
                </a:solidFill>
                <a:latin typeface="Calibri" panose="020F0502020204030204" pitchFamily="34" charset="0"/>
                <a:cs typeface="Calibri" panose="020F0502020204030204" pitchFamily="34" charset="0"/>
              </a:rPr>
              <a:t>( char source[] , char target[]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r>
              <a:rPr lang="en-US" sz="3200" b="1" dirty="0" err="1">
                <a:solidFill>
                  <a:schemeClr val="tx1"/>
                </a:solidFill>
                <a:latin typeface="Calibri" panose="020F0502020204030204" pitchFamily="34" charset="0"/>
                <a:cs typeface="Calibri" panose="020F0502020204030204" pitchFamily="34" charset="0"/>
              </a:rPr>
              <a:t>int</a:t>
            </a:r>
            <a:r>
              <a:rPr lang="en-US" sz="3200" b="1" dirty="0">
                <a:solidFill>
                  <a:schemeClr val="tx1"/>
                </a:solidFill>
                <a:latin typeface="Calibri" panose="020F0502020204030204" pitchFamily="34" charset="0"/>
                <a:cs typeface="Calibri" panose="020F0502020204030204" pitchFamily="34" charset="0"/>
              </a:rPr>
              <a:t> </a:t>
            </a:r>
            <a:r>
              <a:rPr lang="en-US" sz="3200" b="1" dirty="0" err="1">
                <a:solidFill>
                  <a:schemeClr val="tx1"/>
                </a:solidFill>
                <a:latin typeface="Calibri" panose="020F0502020204030204" pitchFamily="34" charset="0"/>
                <a:cs typeface="Calibri" panose="020F0502020204030204" pitchFamily="34" charset="0"/>
              </a:rPr>
              <a:t>i</a:t>
            </a:r>
            <a:r>
              <a:rPr lang="en-US" sz="3200" b="1" dirty="0">
                <a:solidFill>
                  <a:schemeClr val="tx1"/>
                </a:solidFill>
                <a:latin typeface="Calibri" panose="020F0502020204030204" pitchFamily="34" charset="0"/>
                <a:cs typeface="Calibri" panose="020F0502020204030204" pitchFamily="34" charset="0"/>
              </a:rPr>
              <a:t>=0, j=0;</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char temp;</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r>
              <a:rPr lang="en-US" sz="3200" b="1" dirty="0" err="1">
                <a:solidFill>
                  <a:schemeClr val="tx1"/>
                </a:solidFill>
                <a:latin typeface="Calibri" panose="020F0502020204030204" pitchFamily="34" charset="0"/>
                <a:cs typeface="Calibri" panose="020F0502020204030204" pitchFamily="34" charset="0"/>
              </a:rPr>
              <a:t>strcpy</a:t>
            </a:r>
            <a:r>
              <a:rPr lang="en-US" sz="3200" b="1" dirty="0">
                <a:solidFill>
                  <a:schemeClr val="tx1"/>
                </a:solidFill>
                <a:latin typeface="Calibri" panose="020F0502020204030204" pitchFamily="34" charset="0"/>
                <a:cs typeface="Calibri" panose="020F0502020204030204" pitchFamily="34" charset="0"/>
              </a:rPr>
              <a:t>( target , "“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while( </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source[</a:t>
            </a:r>
            <a:r>
              <a:rPr lang="en-US" sz="32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 '\0‘</a:t>
            </a:r>
            <a:r>
              <a:rPr lang="en-US" sz="32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if( </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source[</a:t>
            </a:r>
            <a:r>
              <a:rPr lang="en-US" sz="32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 '(‘</a:t>
            </a:r>
            <a:r>
              <a:rPr lang="en-US" sz="32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r>
              <a:rPr lang="en-US" sz="32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push( </a:t>
            </a:r>
            <a:r>
              <a:rPr lang="en-US" sz="3200" dirty="0" err="1">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st</a:t>
            </a:r>
            <a:r>
              <a:rPr lang="en-US" sz="32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 source[</a:t>
            </a:r>
            <a:r>
              <a:rPr lang="en-US" sz="3200" dirty="0" err="1">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i</a:t>
            </a:r>
            <a:r>
              <a:rPr lang="en-US" sz="32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r>
              <a:rPr lang="en-US" sz="3200" b="1" dirty="0" err="1">
                <a:solidFill>
                  <a:schemeClr val="tx1"/>
                </a:solidFill>
                <a:latin typeface="Calibri" panose="020F0502020204030204" pitchFamily="34" charset="0"/>
                <a:cs typeface="Calibri" panose="020F0502020204030204" pitchFamily="34" charset="0"/>
              </a:rPr>
              <a:t>i</a:t>
            </a:r>
            <a:r>
              <a:rPr lang="en-US" sz="3200" b="1" dirty="0">
                <a:solidFill>
                  <a:schemeClr val="tx1"/>
                </a:solidFill>
                <a:latin typeface="Calibri" panose="020F0502020204030204" pitchFamily="34" charset="0"/>
                <a:cs typeface="Calibri" panose="020F0502020204030204" pitchFamily="34" charset="0"/>
              </a:rPr>
              <a:t>++;</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229600" cy="5821363"/>
          </a:xfrm>
        </p:spPr>
        <p:txBody>
          <a:bodyPr>
            <a:noAutofit/>
          </a:bodyPr>
          <a:lstStyle/>
          <a:p>
            <a:pPr>
              <a:spcBef>
                <a:spcPts val="600"/>
              </a:spcBef>
              <a:buNone/>
            </a:pPr>
            <a:r>
              <a:rPr lang="en-US" sz="2100" b="1" dirty="0">
                <a:solidFill>
                  <a:schemeClr val="tx1"/>
                </a:solidFill>
                <a:latin typeface="Calibri" panose="020F0502020204030204" pitchFamily="34" charset="0"/>
                <a:cs typeface="Calibri" panose="020F0502020204030204" pitchFamily="34" charset="0"/>
              </a:rPr>
              <a:t>		</a:t>
            </a:r>
            <a:r>
              <a:rPr lang="en-US" sz="2400" b="1" dirty="0">
                <a:solidFill>
                  <a:schemeClr val="tx1"/>
                </a:solidFill>
                <a:latin typeface="Calibri" panose="020F0502020204030204" pitchFamily="34" charset="0"/>
                <a:cs typeface="Calibri" panose="020F0502020204030204" pitchFamily="34" charset="0"/>
              </a:rPr>
              <a:t>else if ( </a:t>
            </a:r>
            <a:r>
              <a:rPr lang="en-US" sz="24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source[</a:t>
            </a:r>
            <a:r>
              <a:rPr lang="en-US" sz="24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a:t>
            </a:r>
            <a:r>
              <a:rPr lang="en-US" sz="24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 ')‘</a:t>
            </a:r>
            <a:r>
              <a:rPr lang="en-US" dirty="0">
                <a:latin typeface="Calibri" panose="020F0502020204030204" pitchFamily="34" charset="0"/>
                <a:cs typeface="Calibri" panose="020F0502020204030204" pitchFamily="34" charset="0"/>
              </a:rPr>
              <a:t> </a:t>
            </a:r>
            <a:r>
              <a:rPr lang="en-US" sz="2400" b="1" dirty="0">
                <a:solidFill>
                  <a:schemeClr val="tx1"/>
                </a:solidFill>
                <a:latin typeface="Calibri" panose="020F0502020204030204" pitchFamily="34" charset="0"/>
                <a:cs typeface="Calibri" panose="020F0502020204030204" pitchFamily="34" charset="0"/>
              </a:rPr>
              <a:t>)</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while( ( top != –1 ) &amp;&amp; (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 top ] != '(‘ )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target[ j ] = pop(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   );</a:t>
            </a:r>
            <a:endParaRPr lang="en-IN" sz="2400" b="1" dirty="0">
              <a:solidFill>
                <a:srgbClr val="FFFF00"/>
              </a:solidFill>
              <a:highlight>
                <a:srgbClr val="FF00FF"/>
              </a:highlight>
              <a:latin typeface="Calibri" panose="020F0502020204030204" pitchFamily="34" charset="0"/>
              <a:cs typeface="Calibri" panose="020F0502020204030204" pitchFamily="34" charset="0"/>
            </a:endParaRP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j++</a:t>
            </a:r>
            <a:r>
              <a:rPr lang="en-US" sz="2400" b="1" dirty="0">
                <a:solidFill>
                  <a:schemeClr val="tx1"/>
                </a:solidFill>
                <a:latin typeface="Calibri" panose="020F0502020204030204" pitchFamily="34" charset="0"/>
                <a:cs typeface="Calibri" panose="020F0502020204030204" pitchFamily="34" charset="0"/>
              </a:rPr>
              <a:t>;</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if ( top == –1 )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printf</a:t>
            </a:r>
            <a:r>
              <a:rPr lang="en-US" sz="2400" b="1" dirty="0">
                <a:solidFill>
                  <a:schemeClr val="tx1"/>
                </a:solidFill>
                <a:latin typeface="Calibri" panose="020F0502020204030204" pitchFamily="34" charset="0"/>
                <a:cs typeface="Calibri" panose="020F0502020204030204" pitchFamily="34" charset="0"/>
              </a:rPr>
              <a:t> ( "\n INCORRECT EXPRESSION“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exit ( 1 );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temp = pop(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 );//remove left parenthesis</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rPr>
              <a:t>i</a:t>
            </a:r>
            <a:r>
              <a:rPr lang="en-US" sz="2400" b="1" dirty="0">
                <a:solidFill>
                  <a:schemeClr val="tx1"/>
                </a:solidFill>
                <a:latin typeface="Calibri" panose="020F0502020204030204" pitchFamily="34" charset="0"/>
                <a:cs typeface="Calibri" panose="020F0502020204030204" pitchFamily="34" charset="0"/>
              </a:rPr>
              <a:t> +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28600"/>
            <a:ext cx="10439400" cy="5821363"/>
          </a:xfrm>
        </p:spPr>
        <p:txBody>
          <a:bodyPr>
            <a:noAutofit/>
          </a:bodyPr>
          <a:lstStyle/>
          <a:p>
            <a:pPr>
              <a:spcBef>
                <a:spcPts val="400"/>
              </a:spcBef>
              <a:buNone/>
            </a:pPr>
            <a:r>
              <a:rPr lang="en-US" b="1" dirty="0">
                <a:solidFill>
                  <a:schemeClr val="tx1"/>
                </a:solidFill>
              </a:rPr>
              <a:t>	</a:t>
            </a:r>
            <a:r>
              <a:rPr lang="en-US" b="1" dirty="0">
                <a:solidFill>
                  <a:schemeClr val="tx1"/>
                </a:solidFill>
                <a:latin typeface="Calibri" panose="020F0502020204030204" pitchFamily="34" charset="0"/>
                <a:cs typeface="Calibri" panose="020F0502020204030204" pitchFamily="34" charset="0"/>
              </a:rPr>
              <a:t>	else if( </a:t>
            </a:r>
            <a:r>
              <a:rPr lang="en-US" sz="2400" b="1" dirty="0" err="1">
                <a:solidFill>
                  <a:srgbClr val="FFFF00"/>
                </a:solidFill>
                <a:highlight>
                  <a:srgbClr val="0000FF"/>
                </a:highlight>
                <a:latin typeface="Calibri" panose="020F0502020204030204" pitchFamily="34" charset="0"/>
                <a:ea typeface="Calibri" panose="020F0502020204030204" pitchFamily="34" charset="0"/>
                <a:cs typeface="Calibri" panose="020F0502020204030204" pitchFamily="34" charset="0"/>
              </a:rPr>
              <a:t>isdigit</a:t>
            </a: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a:t>
            </a:r>
            <a:r>
              <a:rPr lang="en-US" sz="2400" b="1" dirty="0" err="1">
                <a:solidFill>
                  <a:srgbClr val="FFFF00"/>
                </a:solidFill>
                <a:highlight>
                  <a:srgbClr val="0000FF"/>
                </a:highlight>
                <a:latin typeface="Calibri" panose="020F0502020204030204" pitchFamily="34" charset="0"/>
                <a:ea typeface="Calibri" panose="020F0502020204030204" pitchFamily="34" charset="0"/>
                <a:cs typeface="Calibri" panose="020F0502020204030204" pitchFamily="34" charset="0"/>
              </a:rPr>
              <a:t>isalpha</a:t>
            </a: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target[ j ]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j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else if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while( ( top != –1 ) &amp;&amp; (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top ] != '(‘ ) &amp;&amp; ( </a:t>
            </a:r>
            <a:r>
              <a:rPr lang="en-US" b="1" dirty="0" err="1">
                <a:solidFill>
                  <a:schemeClr val="tx1"/>
                </a:solidFill>
                <a:latin typeface="Calibri" panose="020F0502020204030204" pitchFamily="34" charset="0"/>
                <a:cs typeface="Calibri" panose="020F0502020204030204" pitchFamily="34" charset="0"/>
              </a:rPr>
              <a:t>getPriority</a:t>
            </a: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top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&gt; </a:t>
            </a:r>
            <a:r>
              <a:rPr lang="en-US" b="1" dirty="0" err="1">
                <a:solidFill>
                  <a:schemeClr val="tx1"/>
                </a:solidFill>
                <a:latin typeface="Calibri" panose="020F0502020204030204" pitchFamily="34" charset="0"/>
                <a:cs typeface="Calibri" panose="020F0502020204030204" pitchFamily="34" charset="0"/>
              </a:rPr>
              <a:t>getPriority</a:t>
            </a: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target[ j ] = pop(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j++</a:t>
            </a:r>
            <a:r>
              <a:rPr lang="en-US" b="1" dirty="0">
                <a:solidFill>
                  <a:schemeClr val="tx1"/>
                </a:solidFill>
                <a:latin typeface="Calibri" panose="020F0502020204030204" pitchFamily="34" charset="0"/>
                <a:cs typeface="Calibri" panose="020F0502020204030204" pitchFamily="34" charset="0"/>
              </a:rPr>
              <a:t>;</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push(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7"/>
            <a:ext cx="9448800" cy="5897563"/>
          </a:xfrm>
        </p:spPr>
        <p:txBody>
          <a:bodyPr>
            <a:normAutofit lnSpcReduction="10000"/>
          </a:bodyPr>
          <a:lstStyle/>
          <a:p>
            <a:pPr>
              <a:buNone/>
            </a:pPr>
            <a:r>
              <a:rPr lang="en-US" b="1" dirty="0">
                <a:solidFill>
                  <a:schemeClr val="tx1"/>
                </a:solidFill>
                <a:latin typeface="Calibri" panose="020F0502020204030204" pitchFamily="34" charset="0"/>
                <a:cs typeface="Calibri" panose="020F0502020204030204" pitchFamily="34" charset="0"/>
              </a:rPr>
              <a:t>		else</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printf</a:t>
            </a:r>
            <a:r>
              <a:rPr lang="en-US" b="1" dirty="0">
                <a:solidFill>
                  <a:schemeClr val="tx1"/>
                </a:solidFill>
                <a:latin typeface="Calibri" panose="020F0502020204030204" pitchFamily="34" charset="0"/>
                <a:cs typeface="Calibri" panose="020F0502020204030204" pitchFamily="34" charset="0"/>
              </a:rPr>
              <a:t>("\n INCORRECT ELEMENT IN EXPRESSION");</a:t>
            </a:r>
          </a:p>
          <a:p>
            <a:pPr>
              <a:buNone/>
            </a:pPr>
            <a:r>
              <a:rPr lang="en-US" b="1" dirty="0">
                <a:solidFill>
                  <a:schemeClr val="tx1"/>
                </a:solidFill>
                <a:latin typeface="Calibri" panose="020F0502020204030204" pitchFamily="34" charset="0"/>
                <a:cs typeface="Calibri" panose="020F0502020204030204" pitchFamily="34" charset="0"/>
              </a:rPr>
              <a:t>			exit(1);</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while( ( top != –1 ) &amp;&amp; (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top ] != '(‘ ) )</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target[ j ] = pop(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j++</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target[ j ]='\0';</a:t>
            </a:r>
          </a:p>
          <a:p>
            <a:pPr>
              <a:buNone/>
            </a:pPr>
            <a:r>
              <a:rPr lang="en-US" b="1" dirty="0">
                <a:solidFill>
                  <a:schemeClr val="tx1"/>
                </a:solidFill>
                <a:latin typeface="Calibri" panose="020F0502020204030204" pitchFamily="34" charset="0"/>
                <a:cs typeface="Calibri" panose="020F0502020204030204" pitchFamily="34" charset="0"/>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7"/>
            <a:ext cx="8229600" cy="5745163"/>
          </a:xfrm>
        </p:spPr>
        <p:txBody>
          <a:bodyPr/>
          <a:lstStyle/>
          <a:p>
            <a:pPr>
              <a:buNone/>
            </a:pPr>
            <a:r>
              <a:rPr lang="en-US" b="1" dirty="0" err="1">
                <a:solidFill>
                  <a:schemeClr val="tx1"/>
                </a:solidFill>
                <a:latin typeface="Calibri" panose="020F0502020204030204" pitchFamily="34" charset="0"/>
                <a:cs typeface="Calibri" panose="020F0502020204030204" pitchFamily="34" charset="0"/>
              </a:rPr>
              <a:t>int</a:t>
            </a:r>
            <a:r>
              <a:rPr lang="en-US" b="1" dirty="0">
                <a:solidFill>
                  <a:schemeClr val="tx1"/>
                </a:solidFill>
                <a:latin typeface="Calibri" panose="020F0502020204030204" pitchFamily="34" charset="0"/>
                <a:cs typeface="Calibri" panose="020F0502020204030204" pitchFamily="34" charset="0"/>
              </a:rPr>
              <a:t> </a:t>
            </a:r>
            <a:r>
              <a:rPr lang="en-US" sz="28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getPriority</a:t>
            </a:r>
            <a:r>
              <a:rPr lang="en-US" b="1" dirty="0">
                <a:solidFill>
                  <a:schemeClr val="tx1"/>
                </a:solidFill>
                <a:latin typeface="Calibri" panose="020F0502020204030204" pitchFamily="34" charset="0"/>
                <a:cs typeface="Calibri" panose="020F0502020204030204" pitchFamily="34" charset="0"/>
              </a:rPr>
              <a:t>(char op)</a:t>
            </a:r>
          </a:p>
          <a:p>
            <a:pPr>
              <a:buNone/>
            </a:pP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if(op=='/' || op == '*' || op=='%')</a:t>
            </a:r>
          </a:p>
          <a:p>
            <a:pPr>
              <a:buNone/>
            </a:pPr>
            <a:r>
              <a:rPr lang="en-US" b="1" dirty="0">
                <a:solidFill>
                  <a:schemeClr val="tx1"/>
                </a:solidFill>
                <a:latin typeface="Calibri" panose="020F0502020204030204" pitchFamily="34" charset="0"/>
                <a:cs typeface="Calibri" panose="020F0502020204030204" pitchFamily="34" charset="0"/>
              </a:rPr>
              <a:t>		</a:t>
            </a:r>
            <a:r>
              <a:rPr lang="en-US" sz="28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return 1;</a:t>
            </a:r>
          </a:p>
          <a:p>
            <a:pPr>
              <a:buNone/>
            </a:pPr>
            <a:r>
              <a:rPr lang="en-US" b="1" dirty="0">
                <a:solidFill>
                  <a:schemeClr val="tx1"/>
                </a:solidFill>
                <a:latin typeface="Calibri" panose="020F0502020204030204" pitchFamily="34" charset="0"/>
                <a:cs typeface="Calibri" panose="020F0502020204030204" pitchFamily="34" charset="0"/>
              </a:rPr>
              <a:t>	else if(op=='+' || op=='–')</a:t>
            </a:r>
          </a:p>
          <a:p>
            <a:pPr>
              <a:buNone/>
            </a:pPr>
            <a:r>
              <a:rPr lang="en-US" b="1" dirty="0">
                <a:solidFill>
                  <a:schemeClr val="tx1"/>
                </a:solidFill>
                <a:latin typeface="Calibri" panose="020F0502020204030204" pitchFamily="34" charset="0"/>
                <a:cs typeface="Calibri" panose="020F0502020204030204" pitchFamily="34" charset="0"/>
              </a:rPr>
              <a:t>		</a:t>
            </a:r>
            <a:r>
              <a:rPr lang="en-US" sz="28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return 0;</a:t>
            </a:r>
            <a:endParaRPr lang="en-US" sz="32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a:p>
            <a:pPr>
              <a:buNone/>
            </a:pPr>
            <a:r>
              <a:rPr lang="en-US" b="1" dirty="0">
                <a:solidFill>
                  <a:schemeClr val="tx1"/>
                </a:solidFill>
                <a:latin typeface="Calibri" panose="020F0502020204030204" pitchFamily="34" charset="0"/>
                <a:cs typeface="Calibri" panose="020F0502020204030204" pitchFamily="34" charset="0"/>
              </a:rPr>
              <a:t>}</a:t>
            </a:r>
          </a:p>
        </p:txBody>
      </p:sp>
      <p:sp>
        <p:nvSpPr>
          <p:cNvPr id="2" name="Cloud Callout 1"/>
          <p:cNvSpPr/>
          <p:nvPr/>
        </p:nvSpPr>
        <p:spPr>
          <a:xfrm>
            <a:off x="5257800" y="1295400"/>
            <a:ext cx="5638800" cy="4267200"/>
          </a:xfrm>
          <a:prstGeom prst="cloudCallou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600" b="1" dirty="0">
                <a:ln w="0">
                  <a:solidFill>
                    <a:srgbClr val="FFFF00"/>
                  </a:solidFill>
                </a:ln>
                <a:solidFill>
                  <a:srgbClr val="FFFF00"/>
                </a:solidFill>
                <a:effectLst>
                  <a:outerShdw blurRad="38100" dist="19050" dir="2700000" algn="tl" rotWithShape="0">
                    <a:schemeClr val="dk1">
                      <a:alpha val="40000"/>
                    </a:schemeClr>
                  </a:outerShdw>
                </a:effectLst>
              </a:rPr>
              <a:t>Higher priority  *, /, %</a:t>
            </a:r>
          </a:p>
          <a:p>
            <a:pPr algn="ctr"/>
            <a:r>
              <a:rPr lang="en-IN" sz="3600" b="1" dirty="0">
                <a:ln w="0">
                  <a:solidFill>
                    <a:srgbClr val="FFFF00"/>
                  </a:solidFill>
                </a:ln>
                <a:solidFill>
                  <a:srgbClr val="FFFF00"/>
                </a:solidFill>
                <a:effectLst>
                  <a:outerShdw blurRad="38100" dist="19050" dir="2700000" algn="tl" rotWithShape="0">
                    <a:schemeClr val="dk1">
                      <a:alpha val="40000"/>
                    </a:schemeClr>
                  </a:outerShdw>
                </a:effectLst>
              </a:rPr>
              <a:t>Lower priority  +,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plus(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xit" presetSubtype="32" fill="hold" grpId="0" nodeType="clickEffect">
                                  <p:stCondLst>
                                    <p:cond delay="0"/>
                                  </p:stCondLst>
                                  <p:childTnLst>
                                    <p:animEffect transition="out" filter="plus(out)">
                                      <p:cBhvr>
                                        <p:cTn id="11" dur="2000"/>
                                        <p:tgtEl>
                                          <p:spTgt spid="2"/>
                                        </p:tgtEl>
                                      </p:cBhvr>
                                    </p:animEffect>
                                    <p:set>
                                      <p:cBhvr>
                                        <p:cTn id="12"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8229600" cy="5821363"/>
          </a:xfrm>
        </p:spPr>
        <p:txBody>
          <a:bodyPr>
            <a:normAutofit/>
          </a:bodyPr>
          <a:lstStyle/>
          <a:p>
            <a:pPr>
              <a:buNone/>
            </a:pPr>
            <a:r>
              <a:rPr lang="en-US" b="1" dirty="0">
                <a:solidFill>
                  <a:schemeClr val="tx1"/>
                </a:solidFill>
                <a:latin typeface="Calibri" panose="020F0502020204030204" pitchFamily="34" charset="0"/>
                <a:cs typeface="Calibri" panose="020F0502020204030204" pitchFamily="34" charset="0"/>
              </a:rPr>
              <a:t>void </a:t>
            </a:r>
            <a:r>
              <a:rPr lang="en-US" sz="2800" b="1" dirty="0">
                <a:solidFill>
                  <a:schemeClr val="tx1"/>
                </a:solidFill>
                <a:highlight>
                  <a:srgbClr val="00FF00"/>
                </a:highlight>
                <a:latin typeface="Calibri" panose="020F0502020204030204" pitchFamily="34" charset="0"/>
                <a:ea typeface="Calibri" panose="020F0502020204030204" pitchFamily="34" charset="0"/>
                <a:cs typeface="Calibri" panose="020F0502020204030204" pitchFamily="34" charset="0"/>
              </a:rPr>
              <a:t>push</a:t>
            </a:r>
            <a:r>
              <a:rPr lang="en-US" b="1" dirty="0">
                <a:solidFill>
                  <a:schemeClr val="tx1"/>
                </a:solidFill>
                <a:latin typeface="Calibri" panose="020F0502020204030204" pitchFamily="34" charset="0"/>
                <a:cs typeface="Calibri" panose="020F0502020204030204" pitchFamily="34" charset="0"/>
              </a:rPr>
              <a:t>(char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char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rPr>
              <a:t>		</a:t>
            </a:r>
            <a:r>
              <a:rPr lang="en-US" b="1" dirty="0">
                <a:solidFill>
                  <a:schemeClr val="tx1"/>
                </a:solidFill>
                <a:latin typeface="Calibri" panose="020F0502020204030204" pitchFamily="34" charset="0"/>
                <a:cs typeface="Calibri" panose="020F0502020204030204" pitchFamily="34" charset="0"/>
              </a:rPr>
              <a:t>if( </a:t>
            </a:r>
            <a:r>
              <a:rPr lang="en-US" sz="2800" b="1" dirty="0">
                <a:solidFill>
                  <a:srgbClr val="FFFF00"/>
                </a:solidFill>
                <a:highlight>
                  <a:srgbClr val="FF00FF"/>
                </a:highlight>
                <a:ea typeface="Calibri" panose="020F0502020204030204" pitchFamily="34" charset="0"/>
              </a:rPr>
              <a:t>top == MAX–1 </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printf</a:t>
            </a:r>
            <a:r>
              <a:rPr lang="en-US" b="1" dirty="0">
                <a:solidFill>
                  <a:schemeClr val="tx1"/>
                </a:solidFill>
                <a:latin typeface="Calibri" panose="020F0502020204030204" pitchFamily="34" charset="0"/>
                <a:cs typeface="Calibri" panose="020F0502020204030204" pitchFamily="34" charset="0"/>
              </a:rPr>
              <a:t>("\n STACK OVERFLOW");</a:t>
            </a:r>
          </a:p>
          <a:p>
            <a:pPr>
              <a:buNone/>
            </a:pPr>
            <a:r>
              <a:rPr lang="en-US" b="1" dirty="0">
                <a:solidFill>
                  <a:schemeClr val="tx1"/>
                </a:solidFill>
                <a:latin typeface="Calibri" panose="020F0502020204030204" pitchFamily="34" charset="0"/>
                <a:cs typeface="Calibri" panose="020F0502020204030204" pitchFamily="34" charset="0"/>
              </a:rPr>
              <a:t>		else</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a:t>
            </a:r>
            <a:r>
              <a:rPr lang="en-US" sz="2400" b="1" dirty="0">
                <a:solidFill>
                  <a:srgbClr val="FFFF00"/>
                </a:solidFill>
                <a:highlight>
                  <a:srgbClr val="FF00FF"/>
                </a:highlight>
                <a:ea typeface="Calibri" panose="020F0502020204030204" pitchFamily="34" charset="0"/>
              </a:rPr>
              <a:t>top++</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a:t>
            </a:r>
            <a:r>
              <a:rPr lang="en-US" sz="2400" b="1" dirty="0" err="1">
                <a:solidFill>
                  <a:srgbClr val="FFFF00"/>
                </a:solidFill>
                <a:highlight>
                  <a:srgbClr val="0000FF"/>
                </a:highlight>
                <a:ea typeface="Calibri" panose="020F0502020204030204" pitchFamily="34" charset="0"/>
              </a:rPr>
              <a:t>st</a:t>
            </a:r>
            <a:r>
              <a:rPr lang="en-US" sz="2400" b="1" dirty="0">
                <a:solidFill>
                  <a:srgbClr val="FFFF00"/>
                </a:solidFill>
                <a:highlight>
                  <a:srgbClr val="0000FF"/>
                </a:highlight>
                <a:ea typeface="Calibri" panose="020F0502020204030204" pitchFamily="34" charset="0"/>
              </a:rPr>
              <a:t>[ top ] </a:t>
            </a: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792" y="609600"/>
            <a:ext cx="8229600" cy="5745163"/>
          </a:xfrm>
        </p:spPr>
        <p:txBody>
          <a:bodyPr>
            <a:normAutofit fontScale="92500" lnSpcReduction="10000"/>
          </a:bodyPr>
          <a:lstStyle/>
          <a:p>
            <a:pPr>
              <a:spcBef>
                <a:spcPts val="800"/>
              </a:spcBef>
              <a:buNone/>
            </a:pPr>
            <a:r>
              <a:rPr lang="en-US" b="1" dirty="0">
                <a:solidFill>
                  <a:schemeClr val="tx1"/>
                </a:solidFill>
                <a:latin typeface="Calibri" panose="020F0502020204030204" pitchFamily="34" charset="0"/>
                <a:cs typeface="Calibri" panose="020F0502020204030204" pitchFamily="34" charset="0"/>
              </a:rPr>
              <a:t>char </a:t>
            </a:r>
            <a:r>
              <a:rPr lang="en-US" sz="2800" b="1" dirty="0">
                <a:solidFill>
                  <a:srgbClr val="FFFF00"/>
                </a:solidFill>
                <a:highlight>
                  <a:srgbClr val="0000FF"/>
                </a:highlight>
                <a:latin typeface="Calibri" panose="020F0502020204030204" pitchFamily="34" charset="0"/>
                <a:ea typeface="Calibri" panose="020F0502020204030204" pitchFamily="34" charset="0"/>
                <a:cs typeface="Calibri" panose="020F0502020204030204" pitchFamily="34" charset="0"/>
              </a:rPr>
              <a:t>pop</a:t>
            </a:r>
            <a:r>
              <a:rPr lang="en-US" b="1" dirty="0">
                <a:solidFill>
                  <a:schemeClr val="tx1"/>
                </a:solidFill>
                <a:latin typeface="Calibri" panose="020F0502020204030204" pitchFamily="34" charset="0"/>
                <a:cs typeface="Calibri" panose="020F0502020204030204" pitchFamily="34" charset="0"/>
              </a:rPr>
              <a:t>( char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 )</a:t>
            </a:r>
          </a:p>
          <a:p>
            <a:pPr>
              <a:spcBef>
                <a:spcPts val="800"/>
              </a:spcBef>
              <a:buNone/>
            </a:pPr>
            <a:r>
              <a:rPr lang="en-US" b="1" dirty="0">
                <a:solidFill>
                  <a:schemeClr val="tx1"/>
                </a:solidFill>
                <a:latin typeface="Calibri" panose="020F0502020204030204" pitchFamily="34" charset="0"/>
                <a:cs typeface="Calibri" panose="020F0502020204030204" pitchFamily="34" charset="0"/>
              </a:rPr>
              <a:t>{</a:t>
            </a:r>
          </a:p>
          <a:p>
            <a:pPr>
              <a:spcBef>
                <a:spcPts val="800"/>
              </a:spcBef>
              <a:buNone/>
            </a:pPr>
            <a:r>
              <a:rPr lang="en-US" b="1" dirty="0">
                <a:solidFill>
                  <a:schemeClr val="tx1"/>
                </a:solidFill>
                <a:latin typeface="Calibri" panose="020F0502020204030204" pitchFamily="34" charset="0"/>
                <a:cs typeface="Calibri" panose="020F0502020204030204" pitchFamily="34" charset="0"/>
              </a:rPr>
              <a:t>		char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 = '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if( top == –1 )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printf</a:t>
            </a:r>
            <a:r>
              <a:rPr lang="en-US" b="1" dirty="0">
                <a:solidFill>
                  <a:schemeClr val="tx1"/>
                </a:solidFill>
                <a:latin typeface="Calibri" panose="020F0502020204030204" pitchFamily="34" charset="0"/>
                <a:cs typeface="Calibri" panose="020F0502020204030204" pitchFamily="34" charset="0"/>
              </a:rPr>
              <a:t>("\n STACK UNDERFLOW");</a:t>
            </a:r>
          </a:p>
          <a:p>
            <a:pPr>
              <a:spcBef>
                <a:spcPts val="800"/>
              </a:spcBef>
              <a:buNone/>
            </a:pPr>
            <a:r>
              <a:rPr lang="en-US" b="1" dirty="0">
                <a:solidFill>
                  <a:schemeClr val="tx1"/>
                </a:solidFill>
                <a:latin typeface="Calibri" panose="020F0502020204030204" pitchFamily="34" charset="0"/>
                <a:cs typeface="Calibri" panose="020F0502020204030204" pitchFamily="34" charset="0"/>
              </a:rPr>
              <a:t>		else</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r>
              <a:rPr lang="en-US" sz="2800" b="1" dirty="0" err="1">
                <a:solidFill>
                  <a:srgbClr val="FFFF00"/>
                </a:solidFill>
                <a:highlight>
                  <a:srgbClr val="0000FF"/>
                </a:highlight>
                <a:ea typeface="Calibri" panose="020F0502020204030204" pitchFamily="34" charset="0"/>
              </a:rPr>
              <a:t>val</a:t>
            </a:r>
            <a:r>
              <a:rPr lang="en-US" sz="2800" b="1" dirty="0">
                <a:solidFill>
                  <a:srgbClr val="FFFF00"/>
                </a:solidFill>
                <a:highlight>
                  <a:srgbClr val="0000FF"/>
                </a:highlight>
                <a:ea typeface="Calibri" panose="020F0502020204030204" pitchFamily="34" charset="0"/>
              </a:rPr>
              <a:t> </a:t>
            </a: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top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r>
              <a:rPr lang="en-US" sz="3600" b="1" dirty="0">
                <a:solidFill>
                  <a:srgbClr val="FFFF00"/>
                </a:solidFill>
                <a:highlight>
                  <a:srgbClr val="FF00FF"/>
                </a:highlight>
                <a:ea typeface="Calibri" panose="020F0502020204030204" pitchFamily="34" charset="0"/>
              </a:rPr>
              <a:t>top – –</a:t>
            </a:r>
            <a:r>
              <a:rPr lang="en-US" b="1" dirty="0">
                <a:solidFill>
                  <a:schemeClr val="tx1"/>
                </a:solidFill>
                <a:latin typeface="Calibri" panose="020F0502020204030204" pitchFamily="34" charset="0"/>
                <a:cs typeface="Calibri" panose="020F0502020204030204" pitchFamily="34" charset="0"/>
              </a:rPr>
              <a:t>;</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return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a:t>
            </a:r>
          </a:p>
          <a:p>
            <a:pPr>
              <a:spcBef>
                <a:spcPts val="800"/>
              </a:spcBef>
              <a:buNone/>
            </a:pPr>
            <a:r>
              <a:rPr lang="en-US" b="1" dirty="0">
                <a:solidFill>
                  <a:schemeClr val="tx1"/>
                </a:solidFill>
                <a:latin typeface="Calibri" panose="020F0502020204030204" pitchFamily="34" charset="0"/>
                <a:cs typeface="Calibri" panose="020F0502020204030204" pitchFamily="34" charset="0"/>
              </a:rPr>
              <a:t>}</a:t>
            </a:r>
          </a:p>
          <a:p>
            <a:pPr>
              <a:spcBef>
                <a:spcPts val="800"/>
              </a:spcBef>
              <a:buNone/>
            </a:pPr>
            <a:r>
              <a:rPr lang="en-US" sz="2800" b="1" u="sng" dirty="0">
                <a:solidFill>
                  <a:srgbClr val="FF0000"/>
                </a:solidFill>
                <a:latin typeface="Calibri" panose="020F0502020204030204" pitchFamily="34" charset="0"/>
                <a:cs typeface="Calibri" panose="020F0502020204030204" pitchFamily="34" charset="0"/>
              </a:rPr>
              <a:t>Output</a:t>
            </a:r>
          </a:p>
          <a:p>
            <a:pPr>
              <a:spcBef>
                <a:spcPts val="800"/>
              </a:spcBef>
              <a:buNone/>
            </a:pPr>
            <a:r>
              <a:rPr lang="en-US" b="1" dirty="0">
                <a:solidFill>
                  <a:schemeClr val="tx1"/>
                </a:solidFill>
                <a:latin typeface="Calibri" panose="020F0502020204030204" pitchFamily="34" charset="0"/>
                <a:cs typeface="Calibri" panose="020F0502020204030204" pitchFamily="34" charset="0"/>
              </a:rPr>
              <a:t>Enter any infix expression : </a:t>
            </a:r>
            <a:r>
              <a:rPr lang="en-US" b="1" spc="300" dirty="0">
                <a:solidFill>
                  <a:schemeClr val="tx1"/>
                </a:solidFill>
                <a:latin typeface="Calibri" panose="020F0502020204030204" pitchFamily="34" charset="0"/>
                <a:cs typeface="Calibri" panose="020F0502020204030204" pitchFamily="34" charset="0"/>
              </a:rPr>
              <a:t>A+B–C*D</a:t>
            </a:r>
          </a:p>
          <a:p>
            <a:pPr>
              <a:spcBef>
                <a:spcPts val="800"/>
              </a:spcBef>
              <a:buNone/>
            </a:pPr>
            <a:r>
              <a:rPr lang="en-US" b="1" dirty="0">
                <a:solidFill>
                  <a:schemeClr val="tx1"/>
                </a:solidFill>
                <a:latin typeface="Calibri" panose="020F0502020204030204" pitchFamily="34" charset="0"/>
                <a:cs typeface="Calibri" panose="020F0502020204030204" pitchFamily="34" charset="0"/>
              </a:rPr>
              <a:t>The corresponding postfix expression is : </a:t>
            </a:r>
            <a:r>
              <a:rPr lang="en-US" b="1" spc="300" dirty="0">
                <a:solidFill>
                  <a:schemeClr val="tx1"/>
                </a:solidFill>
                <a:latin typeface="Calibri" panose="020F0502020204030204" pitchFamily="34" charset="0"/>
                <a:cs typeface="Calibri" panose="020F0502020204030204" pitchFamily="34" charset="0"/>
              </a:rPr>
              <a:t>AB+CD*–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43840"/>
            <a:ext cx="11506200" cy="1356360"/>
          </a:xfrm>
        </p:spPr>
        <p:txBody>
          <a:bodyPr/>
          <a:lstStyle/>
          <a:p>
            <a:r>
              <a:rPr lang="en-US" b="1" i="1" dirty="0">
                <a:solidFill>
                  <a:srgbClr val="D20C9E"/>
                </a:solidFill>
              </a:rPr>
              <a:t>Procedure for Evaluation of a Postfix Expression</a:t>
            </a:r>
            <a:endParaRPr lang="en-IN" dirty="0"/>
          </a:p>
        </p:txBody>
      </p:sp>
      <p:sp>
        <p:nvSpPr>
          <p:cNvPr id="3" name="Content Placeholder 2"/>
          <p:cNvSpPr>
            <a:spLocks noGrp="1"/>
          </p:cNvSpPr>
          <p:nvPr>
            <p:ph idx="4294967295"/>
          </p:nvPr>
        </p:nvSpPr>
        <p:spPr>
          <a:xfrm>
            <a:off x="381000" y="1371600"/>
            <a:ext cx="10972800" cy="4953000"/>
          </a:xfrm>
        </p:spPr>
        <p:txBody>
          <a:bodyPr>
            <a:normAutofit fontScale="92500" lnSpcReduction="10000"/>
          </a:bodyPr>
          <a:lstStyle/>
          <a:p>
            <a:r>
              <a:rPr lang="en-US" sz="3200" dirty="0">
                <a:solidFill>
                  <a:schemeClr val="tx1"/>
                </a:solidFill>
              </a:rPr>
              <a:t>Postfix notations are evaluated using </a:t>
            </a:r>
            <a:r>
              <a:rPr lang="en-US" sz="4000" b="1" dirty="0">
                <a:solidFill>
                  <a:schemeClr val="tx1"/>
                </a:solidFill>
              </a:rPr>
              <a:t>STACKS</a:t>
            </a:r>
            <a:r>
              <a:rPr lang="en-US" sz="3200" dirty="0">
                <a:solidFill>
                  <a:schemeClr val="tx1"/>
                </a:solidFill>
              </a:rPr>
              <a:t>. </a:t>
            </a:r>
          </a:p>
          <a:p>
            <a:r>
              <a:rPr lang="en-US" sz="3200" dirty="0">
                <a:solidFill>
                  <a:schemeClr val="tx1"/>
                </a:solidFill>
              </a:rPr>
              <a:t>Every character of the </a:t>
            </a:r>
            <a:r>
              <a:rPr lang="en-US" sz="3200" b="1" dirty="0">
                <a:solidFill>
                  <a:schemeClr val="tx1"/>
                </a:solidFill>
              </a:rPr>
              <a:t>postfix expression </a:t>
            </a:r>
            <a:r>
              <a:rPr lang="en-US" sz="3200" dirty="0">
                <a:solidFill>
                  <a:schemeClr val="tx1"/>
                </a:solidFill>
              </a:rPr>
              <a:t>is scanned from </a:t>
            </a:r>
            <a:r>
              <a:rPr lang="en-US" sz="3200" b="1" dirty="0">
                <a:solidFill>
                  <a:schemeClr val="tx1"/>
                </a:solidFill>
              </a:rPr>
              <a:t>left to right</a:t>
            </a:r>
            <a:r>
              <a:rPr lang="en-US" sz="3200" dirty="0">
                <a:solidFill>
                  <a:schemeClr val="tx1"/>
                </a:solidFill>
              </a:rPr>
              <a:t>. </a:t>
            </a:r>
          </a:p>
          <a:p>
            <a:r>
              <a:rPr lang="en-US" sz="3200" dirty="0">
                <a:solidFill>
                  <a:schemeClr val="tx1"/>
                </a:solidFill>
              </a:rPr>
              <a:t>If (</a:t>
            </a:r>
            <a:r>
              <a:rPr lang="en-US" sz="40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the character is an operand</a:t>
            </a:r>
            <a:r>
              <a:rPr lang="en-US" sz="3200" dirty="0">
                <a:solidFill>
                  <a:schemeClr val="tx1"/>
                </a:solidFill>
              </a:rPr>
              <a:t>) </a:t>
            </a:r>
          </a:p>
          <a:p>
            <a:pPr marL="45720" indent="0">
              <a:buNone/>
            </a:pPr>
            <a:r>
              <a:rPr lang="en-US" sz="3200" dirty="0">
                <a:solidFill>
                  <a:schemeClr val="tx1"/>
                </a:solidFill>
              </a:rPr>
              <a:t>	it is pushed onto the stack</a:t>
            </a:r>
          </a:p>
          <a:p>
            <a:pPr>
              <a:buNone/>
            </a:pPr>
            <a:r>
              <a:rPr lang="en-US" sz="3200" dirty="0">
                <a:solidFill>
                  <a:schemeClr val="tx1"/>
                </a:solidFill>
              </a:rPr>
              <a:t>	Else if (it is an operator) </a:t>
            </a:r>
          </a:p>
          <a:p>
            <a:pPr>
              <a:buNone/>
            </a:pPr>
            <a:r>
              <a:rPr lang="en-US" sz="3200" spc="-150" dirty="0">
                <a:solidFill>
                  <a:schemeClr val="tx1"/>
                </a:solidFill>
              </a:rPr>
              <a:t>	       1) </a:t>
            </a:r>
            <a:r>
              <a:rPr lang="en-US" sz="3200" b="1" spc="-150" dirty="0">
                <a:solidFill>
                  <a:schemeClr val="tx1"/>
                </a:solidFill>
              </a:rPr>
              <a:t>the top two values </a:t>
            </a:r>
            <a:r>
              <a:rPr lang="en-US" sz="3200" spc="-150" dirty="0">
                <a:solidFill>
                  <a:schemeClr val="tx1"/>
                </a:solidFill>
              </a:rPr>
              <a:t>are popped from the stack</a:t>
            </a:r>
          </a:p>
          <a:p>
            <a:pPr>
              <a:buNone/>
            </a:pPr>
            <a:r>
              <a:rPr lang="en-US" sz="3200" b="1" spc="-150" dirty="0">
                <a:solidFill>
                  <a:schemeClr val="tx1"/>
                </a:solidFill>
              </a:rPr>
              <a:t>         </a:t>
            </a:r>
            <a:r>
              <a:rPr lang="en-US" sz="3200" spc="-150" dirty="0">
                <a:solidFill>
                  <a:schemeClr val="tx1"/>
                </a:solidFill>
              </a:rPr>
              <a:t>2) </a:t>
            </a:r>
            <a:r>
              <a:rPr lang="en-US" sz="3200" b="1" spc="-150" dirty="0">
                <a:solidFill>
                  <a:schemeClr val="tx1"/>
                </a:solidFill>
              </a:rPr>
              <a:t>the operator</a:t>
            </a:r>
            <a:r>
              <a:rPr lang="en-US" sz="3200" spc="-150" dirty="0">
                <a:solidFill>
                  <a:schemeClr val="tx1"/>
                </a:solidFill>
              </a:rPr>
              <a:t> is applied on these values. </a:t>
            </a:r>
          </a:p>
          <a:p>
            <a:r>
              <a:rPr lang="en-US" sz="3200" dirty="0">
                <a:solidFill>
                  <a:schemeClr val="tx1"/>
                </a:solidFill>
              </a:rPr>
              <a:t>The result is then pushed onto the stack</a:t>
            </a:r>
          </a:p>
          <a:p>
            <a:endParaRPr lang="en-IN" dirty="0"/>
          </a:p>
        </p:txBody>
      </p:sp>
      <p:pic>
        <p:nvPicPr>
          <p:cNvPr id="11" name="ABCB445" hidden="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87036" y="304800"/>
            <a:ext cx="8382000" cy="5410200"/>
          </a:xfrm>
          <a:prstGeom prst="rect">
            <a:avLst/>
          </a:prstGeom>
        </p:spPr>
      </p:pic>
    </p:spTree>
    <p:extLst>
      <p:ext uri="{BB962C8B-B14F-4D97-AF65-F5344CB8AC3E}">
        <p14:creationId xmlns:p14="http://schemas.microsoft.com/office/powerpoint/2010/main" val="190572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63" restart="whenNotActive" fill="hold" evtFilter="cancelBubble" nodeType="interactiveSeq">
                <p:stCondLst>
                  <p:cond evt="onClick" delay="0">
                    <p:tgtEl>
                      <p:spTgt spid="11"/>
                    </p:tgtEl>
                  </p:cond>
                </p:stCondLst>
                <p:endSync evt="end" delay="0">
                  <p:rtn val="all"/>
                </p:endSync>
                <p:childTnLst>
                  <p:par>
                    <p:cTn id="64" fill="hold">
                      <p:stCondLst>
                        <p:cond delay="0"/>
                      </p:stCondLst>
                      <p:childTnLst>
                        <p:par>
                          <p:cTn id="65" fill="hold">
                            <p:stCondLst>
                              <p:cond delay="0"/>
                            </p:stCondLst>
                            <p:childTnLst>
                              <p:par>
                                <p:cTn id="66" presetID="2" presetClass="mediacall" presetSubtype="0" fill="hold" nodeType="clickEffect">
                                  <p:stCondLst>
                                    <p:cond delay="0"/>
                                  </p:stCondLst>
                                  <p:childTnLst>
                                    <p:cmd type="call" cmd="togglePause">
                                      <p:cBhvr>
                                        <p:cTn id="67" dur="1" fill="hold"/>
                                        <p:tgtEl>
                                          <p:spTgt spid="11"/>
                                        </p:tgtEl>
                                      </p:cBhvr>
                                    </p:cmd>
                                  </p:childTnLst>
                                </p:cTn>
                              </p:par>
                            </p:childTnLst>
                          </p:cTn>
                        </p:par>
                      </p:childTnLst>
                    </p:cTn>
                  </p:par>
                </p:childTnLst>
              </p:cTn>
              <p:nextCondLst>
                <p:cond evt="onClick" delay="0">
                  <p:tgtEl>
                    <p:spTgt spid="11"/>
                  </p:tgtEl>
                </p:cond>
              </p:nextCondLst>
            </p:seq>
            <p:video>
              <p:cMediaNode vol="80000">
                <p:cTn id="68" fill="hold" display="0">
                  <p:stCondLst>
                    <p:cond delay="indefinite"/>
                  </p:stCondLst>
                </p:cTn>
                <p:tgtEl>
                  <p:spTgt spid="11"/>
                </p:tgtEl>
              </p:cMediaNode>
            </p:video>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1" y="118334"/>
            <a:ext cx="9875520" cy="1356360"/>
          </a:xfrm>
        </p:spPr>
        <p:txBody>
          <a:bodyPr/>
          <a:lstStyle/>
          <a:p>
            <a:r>
              <a:rPr lang="en-US" b="1" i="1" dirty="0">
                <a:solidFill>
                  <a:srgbClr val="D20C9E"/>
                </a:solidFill>
              </a:rPr>
              <a:t>Evaluation of a Postfix Expression</a:t>
            </a:r>
            <a:endParaRPr lang="en-US" dirty="0">
              <a:solidFill>
                <a:srgbClr val="D20C9E"/>
              </a:solidFill>
            </a:endParaRPr>
          </a:p>
        </p:txBody>
      </p:sp>
      <p:sp>
        <p:nvSpPr>
          <p:cNvPr id="3" name="Content Placeholder 2"/>
          <p:cNvSpPr>
            <a:spLocks noGrp="1"/>
          </p:cNvSpPr>
          <p:nvPr>
            <p:ph idx="1"/>
          </p:nvPr>
        </p:nvSpPr>
        <p:spPr>
          <a:xfrm>
            <a:off x="914401" y="1447800"/>
            <a:ext cx="10058400" cy="5105400"/>
          </a:xfrm>
        </p:spPr>
        <p:txBody>
          <a:bodyPr>
            <a:normAutofit/>
          </a:bodyPr>
          <a:lstStyle/>
          <a:p>
            <a:pPr>
              <a:buNone/>
            </a:pPr>
            <a:r>
              <a:rPr lang="en-US" sz="2800" b="1" dirty="0">
                <a:solidFill>
                  <a:schemeClr val="tx1"/>
                </a:solidFill>
                <a:latin typeface="Calibri" panose="020F0502020204030204" pitchFamily="34" charset="0"/>
                <a:cs typeface="Calibri" panose="020F0502020204030204" pitchFamily="34" charset="0"/>
              </a:rPr>
              <a:t>#include &lt;</a:t>
            </a:r>
            <a:r>
              <a:rPr lang="en-US" sz="2800" b="1" dirty="0" err="1">
                <a:solidFill>
                  <a:schemeClr val="tx1"/>
                </a:solidFill>
                <a:latin typeface="Calibri" panose="020F0502020204030204" pitchFamily="34" charset="0"/>
                <a:cs typeface="Calibri" panose="020F0502020204030204" pitchFamily="34" charset="0"/>
              </a:rPr>
              <a:t>stdio.h</a:t>
            </a:r>
            <a:r>
              <a:rPr lang="en-US" sz="2800" b="1" dirty="0">
                <a:solidFill>
                  <a:schemeClr val="tx1"/>
                </a:solidFill>
                <a:latin typeface="Calibri" panose="020F0502020204030204" pitchFamily="34" charset="0"/>
                <a:cs typeface="Calibri" panose="020F0502020204030204" pitchFamily="34" charset="0"/>
              </a:rPr>
              <a:t>&gt;</a:t>
            </a:r>
          </a:p>
          <a:p>
            <a:pPr>
              <a:buNone/>
            </a:pPr>
            <a:r>
              <a:rPr lang="en-US" sz="2800" b="1" dirty="0">
                <a:solidFill>
                  <a:schemeClr val="tx1"/>
                </a:solidFill>
                <a:latin typeface="Calibri" panose="020F0502020204030204" pitchFamily="34" charset="0"/>
                <a:cs typeface="Calibri" panose="020F0502020204030204" pitchFamily="34" charset="0"/>
              </a:rPr>
              <a:t>#include &lt;</a:t>
            </a:r>
            <a:r>
              <a:rPr lang="en-US" sz="2800" b="1" dirty="0" err="1">
                <a:solidFill>
                  <a:schemeClr val="tx1"/>
                </a:solidFill>
                <a:latin typeface="Calibri" panose="020F0502020204030204" pitchFamily="34" charset="0"/>
                <a:cs typeface="Calibri" panose="020F0502020204030204" pitchFamily="34" charset="0"/>
              </a:rPr>
              <a:t>conio.h</a:t>
            </a:r>
            <a:r>
              <a:rPr lang="en-US" sz="2800" b="1" dirty="0">
                <a:solidFill>
                  <a:schemeClr val="tx1"/>
                </a:solidFill>
                <a:latin typeface="Calibri" panose="020F0502020204030204" pitchFamily="34" charset="0"/>
                <a:cs typeface="Calibri" panose="020F0502020204030204" pitchFamily="34" charset="0"/>
              </a:rPr>
              <a:t>&gt;</a:t>
            </a:r>
          </a:p>
          <a:p>
            <a:pPr>
              <a:buNone/>
            </a:pPr>
            <a:r>
              <a:rPr lang="en-US" sz="2800" b="1" dirty="0">
                <a:solidFill>
                  <a:schemeClr val="tx1"/>
                </a:solidFill>
                <a:latin typeface="Calibri" panose="020F0502020204030204" pitchFamily="34" charset="0"/>
                <a:cs typeface="Calibri" panose="020F0502020204030204" pitchFamily="34" charset="0"/>
              </a:rPr>
              <a:t>#include &lt;</a:t>
            </a:r>
            <a:r>
              <a:rPr lang="en-US" sz="2800" b="1" dirty="0" err="1">
                <a:solidFill>
                  <a:schemeClr val="tx1"/>
                </a:solidFill>
                <a:latin typeface="Calibri" panose="020F0502020204030204" pitchFamily="34" charset="0"/>
                <a:cs typeface="Calibri" panose="020F0502020204030204" pitchFamily="34" charset="0"/>
              </a:rPr>
              <a:t>ctype.h</a:t>
            </a:r>
            <a:r>
              <a:rPr lang="en-US" sz="2800" b="1" dirty="0">
                <a:solidFill>
                  <a:schemeClr val="tx1"/>
                </a:solidFill>
                <a:latin typeface="Calibri" panose="020F0502020204030204" pitchFamily="34" charset="0"/>
                <a:cs typeface="Calibri" panose="020F0502020204030204" pitchFamily="34" charset="0"/>
              </a:rPr>
              <a:t>&gt;</a:t>
            </a:r>
          </a:p>
          <a:p>
            <a:pPr>
              <a:buNone/>
            </a:pPr>
            <a:r>
              <a:rPr lang="en-US" sz="2800" b="1" dirty="0">
                <a:solidFill>
                  <a:schemeClr val="tx1"/>
                </a:solidFill>
                <a:latin typeface="Calibri" panose="020F0502020204030204" pitchFamily="34" charset="0"/>
                <a:cs typeface="Calibri" panose="020F0502020204030204" pitchFamily="34" charset="0"/>
              </a:rPr>
              <a:t>#define MAX 100</a:t>
            </a:r>
          </a:p>
          <a:p>
            <a:pPr>
              <a:buNone/>
            </a:pPr>
            <a:r>
              <a:rPr lang="en-US" sz="2800" b="1" dirty="0">
                <a:solidFill>
                  <a:schemeClr val="tx1"/>
                </a:solidFill>
                <a:latin typeface="Calibri" panose="020F0502020204030204" pitchFamily="34" charset="0"/>
                <a:cs typeface="Calibri" panose="020F0502020204030204" pitchFamily="34" charset="0"/>
              </a:rPr>
              <a:t>float </a:t>
            </a:r>
            <a:r>
              <a:rPr lang="en-US" sz="2800" b="1" dirty="0" err="1">
                <a:solidFill>
                  <a:schemeClr val="tx1"/>
                </a:solidFill>
                <a:latin typeface="Calibri" panose="020F0502020204030204" pitchFamily="34" charset="0"/>
                <a:cs typeface="Calibri" panose="020F0502020204030204" pitchFamily="34" charset="0"/>
              </a:rPr>
              <a:t>st</a:t>
            </a:r>
            <a:r>
              <a:rPr lang="en-US" sz="2800" b="1" dirty="0">
                <a:solidFill>
                  <a:schemeClr val="tx1"/>
                </a:solidFill>
                <a:latin typeface="Calibri" panose="020F0502020204030204" pitchFamily="34" charset="0"/>
                <a:cs typeface="Calibri" panose="020F0502020204030204" pitchFamily="34" charset="0"/>
              </a:rPr>
              <a:t>[MAX];</a:t>
            </a:r>
          </a:p>
          <a:p>
            <a:pPr>
              <a:buNone/>
            </a:pPr>
            <a:r>
              <a:rPr lang="en-US" sz="2800" b="1" dirty="0" err="1">
                <a:solidFill>
                  <a:schemeClr val="tx1"/>
                </a:solidFill>
                <a:latin typeface="Calibri" panose="020F0502020204030204" pitchFamily="34" charset="0"/>
                <a:cs typeface="Calibri" panose="020F0502020204030204" pitchFamily="34" charset="0"/>
              </a:rPr>
              <a:t>int</a:t>
            </a:r>
            <a:r>
              <a:rPr lang="en-US" sz="2800" b="1" dirty="0">
                <a:solidFill>
                  <a:schemeClr val="tx1"/>
                </a:solidFill>
                <a:latin typeface="Calibri" panose="020F0502020204030204" pitchFamily="34" charset="0"/>
                <a:cs typeface="Calibri" panose="020F0502020204030204" pitchFamily="34" charset="0"/>
              </a:rPr>
              <a:t> top=–1;</a:t>
            </a:r>
          </a:p>
          <a:p>
            <a:pPr>
              <a:buNone/>
            </a:pPr>
            <a:r>
              <a:rPr lang="en-US" sz="2800" b="1" dirty="0">
                <a:solidFill>
                  <a:schemeClr val="tx1"/>
                </a:solidFill>
                <a:latin typeface="Calibri" panose="020F0502020204030204" pitchFamily="34" charset="0"/>
                <a:cs typeface="Calibri" panose="020F0502020204030204" pitchFamily="34" charset="0"/>
              </a:rPr>
              <a:t>void push(float </a:t>
            </a:r>
            <a:r>
              <a:rPr lang="en-US" sz="2800" b="1" dirty="0" err="1">
                <a:solidFill>
                  <a:schemeClr val="tx1"/>
                </a:solidFill>
                <a:latin typeface="Calibri" panose="020F0502020204030204" pitchFamily="34" charset="0"/>
                <a:cs typeface="Calibri" panose="020F0502020204030204" pitchFamily="34" charset="0"/>
              </a:rPr>
              <a:t>st</a:t>
            </a:r>
            <a:r>
              <a:rPr lang="en-US" sz="2800" b="1" dirty="0">
                <a:solidFill>
                  <a:schemeClr val="tx1"/>
                </a:solidFill>
                <a:latin typeface="Calibri" panose="020F0502020204030204" pitchFamily="34" charset="0"/>
                <a:cs typeface="Calibri" panose="020F0502020204030204" pitchFamily="34" charset="0"/>
              </a:rPr>
              <a:t>[], float </a:t>
            </a:r>
            <a:r>
              <a:rPr lang="en-US" sz="2800" b="1" dirty="0" err="1">
                <a:solidFill>
                  <a:schemeClr val="tx1"/>
                </a:solidFill>
                <a:latin typeface="Calibri" panose="020F0502020204030204" pitchFamily="34" charset="0"/>
                <a:cs typeface="Calibri" panose="020F0502020204030204" pitchFamily="34" charset="0"/>
              </a:rPr>
              <a:t>val</a:t>
            </a:r>
            <a:r>
              <a:rPr lang="en-US" sz="2800" b="1" dirty="0">
                <a:solidFill>
                  <a:schemeClr val="tx1"/>
                </a:solidFill>
                <a:latin typeface="Calibri" panose="020F0502020204030204" pitchFamily="34" charset="0"/>
                <a:cs typeface="Calibri" panose="020F0502020204030204" pitchFamily="34" charset="0"/>
              </a:rPr>
              <a:t>);</a:t>
            </a:r>
          </a:p>
          <a:p>
            <a:pPr>
              <a:buNone/>
            </a:pPr>
            <a:r>
              <a:rPr lang="en-US" sz="2800" b="1" dirty="0">
                <a:solidFill>
                  <a:schemeClr val="tx1"/>
                </a:solidFill>
                <a:latin typeface="Calibri" panose="020F0502020204030204" pitchFamily="34" charset="0"/>
                <a:cs typeface="Calibri" panose="020F0502020204030204" pitchFamily="34" charset="0"/>
              </a:rPr>
              <a:t>float pop(float </a:t>
            </a:r>
            <a:r>
              <a:rPr lang="en-US" sz="2800" b="1" dirty="0" err="1">
                <a:solidFill>
                  <a:schemeClr val="tx1"/>
                </a:solidFill>
                <a:latin typeface="Calibri" panose="020F0502020204030204" pitchFamily="34" charset="0"/>
                <a:cs typeface="Calibri" panose="020F0502020204030204" pitchFamily="34" charset="0"/>
              </a:rPr>
              <a:t>st</a:t>
            </a:r>
            <a:r>
              <a:rPr lang="en-US" sz="2800" b="1" dirty="0">
                <a:solidFill>
                  <a:schemeClr val="tx1"/>
                </a:solidFill>
                <a:latin typeface="Calibri" panose="020F0502020204030204" pitchFamily="34" charset="0"/>
                <a:cs typeface="Calibri" panose="020F0502020204030204" pitchFamily="34" charset="0"/>
              </a:rPr>
              <a:t>[]);</a:t>
            </a:r>
          </a:p>
          <a:p>
            <a:pPr>
              <a:buNone/>
            </a:pPr>
            <a:r>
              <a:rPr lang="en-US" sz="2800" b="1" dirty="0">
                <a:solidFill>
                  <a:schemeClr val="tx1"/>
                </a:solidFill>
                <a:latin typeface="Calibri" panose="020F0502020204030204" pitchFamily="34" charset="0"/>
                <a:cs typeface="Calibri" panose="020F0502020204030204" pitchFamily="34" charset="0"/>
              </a:rPr>
              <a:t>float </a:t>
            </a:r>
            <a:r>
              <a:rPr lang="en-US" sz="2800" b="1" dirty="0" err="1">
                <a:solidFill>
                  <a:schemeClr val="tx1"/>
                </a:solidFill>
                <a:latin typeface="Calibri" panose="020F0502020204030204" pitchFamily="34" charset="0"/>
                <a:cs typeface="Calibri" panose="020F0502020204030204" pitchFamily="34" charset="0"/>
              </a:rPr>
              <a:t>evaluatePostfixExp</a:t>
            </a:r>
            <a:r>
              <a:rPr lang="en-US" sz="2800" b="1" dirty="0">
                <a:solidFill>
                  <a:schemeClr val="tx1"/>
                </a:solidFill>
                <a:latin typeface="Calibri" panose="020F0502020204030204" pitchFamily="34" charset="0"/>
                <a:cs typeface="Calibri" panose="020F0502020204030204" pitchFamily="34" charset="0"/>
              </a:rPr>
              <a:t>(char </a:t>
            </a:r>
            <a:r>
              <a:rPr lang="en-US" sz="2800" b="1" dirty="0" err="1">
                <a:solidFill>
                  <a:schemeClr val="tx1"/>
                </a:solidFill>
                <a:latin typeface="Calibri" panose="020F0502020204030204" pitchFamily="34" charset="0"/>
                <a:cs typeface="Calibri" panose="020F0502020204030204" pitchFamily="34" charset="0"/>
              </a:rPr>
              <a:t>exp</a:t>
            </a:r>
            <a:r>
              <a:rPr lang="en-US" sz="2800" b="1" dirty="0">
                <a:solidFill>
                  <a:schemeClr val="tx1"/>
                </a:solidFill>
                <a:latin typeface="Calibri" panose="020F0502020204030204" pitchFamily="34" charset="0"/>
                <a:cs typeface="Calibri" panose="020F0502020204030204" pitchFamily="34" charset="0"/>
              </a:rPr>
              <a:t>[]);</a:t>
            </a:r>
          </a:p>
        </p:txBody>
      </p:sp>
      <p:pic>
        <p:nvPicPr>
          <p:cNvPr id="4" name="760F7C0">
            <a:hlinkClick r:id="" action="ppaction://media"/>
          </p:cNvPr>
          <p:cNvPicPr>
            <a:picLocks noChangeAspect="1"/>
          </p:cNvPicPr>
          <p:nvPr>
            <a:videoFile r:link="rId3"/>
            <p:extLst>
              <p:ext uri="{DAA4B4D4-6D71-4841-9C94-3DE7FCFB9230}">
                <p14:media xmlns:p14="http://schemas.microsoft.com/office/powerpoint/2010/main" r:embed="rId2">
                  <p14:fade in="500" out="500"/>
                </p14:media>
              </p:ext>
            </p:extLst>
          </p:nvPr>
        </p:nvPicPr>
        <p:blipFill>
          <a:blip r:embed="rId5"/>
          <a:stretch>
            <a:fillRect/>
          </a:stretch>
        </p:blipFill>
        <p:spPr>
          <a:xfrm>
            <a:off x="533400" y="1143000"/>
            <a:ext cx="7391400" cy="4876800"/>
          </a:xfrm>
          <a:prstGeom prst="rect">
            <a:avLst/>
          </a:prstGeom>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xit" presetSubtype="1" fill="hold" nodeType="clickEffect">
                                  <p:stCondLst>
                                    <p:cond delay="0"/>
                                  </p:stCondLst>
                                  <p:childTnLst>
                                    <p:animEffect transition="out" filter="wheel(1)">
                                      <p:cBhvr>
                                        <p:cTn id="11" dur="2000"/>
                                        <p:tgtEl>
                                          <p:spTgt spid="4"/>
                                        </p:tgtEl>
                                      </p:cBhvr>
                                    </p:animEffect>
                                    <p:set>
                                      <p:cBhvr>
                                        <p:cTn id="12" dur="1" fill="hold">
                                          <p:stCondLst>
                                            <p:cond delay="1999"/>
                                          </p:stCondLst>
                                        </p:cTn>
                                        <p:tgtEl>
                                          <p:spTgt spid="4"/>
                                        </p:tgtEl>
                                        <p:attrNameLst>
                                          <p:attrName>style.visibility</p:attrName>
                                        </p:attrNameLst>
                                      </p:cBhvr>
                                      <p:to>
                                        <p:strVal val="hidden"/>
                                      </p:to>
                                    </p:set>
                                    <p:cmd type="call" cmd="stop">
                                      <p:cBhvr>
                                        <p:cTn id="13" dur="1">
                                          <p:stCondLst>
                                            <p:cond delay="1999"/>
                                          </p:stCondLst>
                                        </p:cTn>
                                        <p:tgtEl>
                                          <p:spTgt spid="4"/>
                                        </p:tgtEl>
                                      </p:cBhvr>
                                    </p:cmd>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p:cTn id="18"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9"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20"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21" dur="10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1"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 calcmode="lin" valueType="num">
                                      <p:cBhvr>
                                        <p:cTn id="26"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7"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8"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9" dur="1000"/>
                                        <p:tgtEl>
                                          <p:spTgt spid="3">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1" presetClass="entr" presetSubtype="0" fill="hold" grpId="0"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 calcmode="lin" valueType="num">
                                      <p:cBhvr>
                                        <p:cTn id="34"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5"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6"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7" dur="1000"/>
                                        <p:tgtEl>
                                          <p:spTgt spid="3">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1" presetClass="entr" presetSubtype="0"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 calcmode="lin" valueType="num">
                                      <p:cBhvr>
                                        <p:cTn id="42"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3"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44"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45" dur="1000"/>
                                        <p:tgtEl>
                                          <p:spTgt spid="3">
                                            <p:txEl>
                                              <p:pRg st="3" end="3"/>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1" presetClass="entr" presetSubtype="0" fill="hold" grpId="0" nodeType="clickEffect">
                                  <p:stCondLst>
                                    <p:cond delay="0"/>
                                  </p:stCondLst>
                                  <p:childTnLst>
                                    <p:set>
                                      <p:cBhvr>
                                        <p:cTn id="49" dur="1" fill="hold">
                                          <p:stCondLst>
                                            <p:cond delay="0"/>
                                          </p:stCondLst>
                                        </p:cTn>
                                        <p:tgtEl>
                                          <p:spTgt spid="3">
                                            <p:txEl>
                                              <p:pRg st="4" end="4"/>
                                            </p:txEl>
                                          </p:spTgt>
                                        </p:tgtEl>
                                        <p:attrNameLst>
                                          <p:attrName>style.visibility</p:attrName>
                                        </p:attrNameLst>
                                      </p:cBhvr>
                                      <p:to>
                                        <p:strVal val="visible"/>
                                      </p:to>
                                    </p:set>
                                    <p:anim calcmode="lin" valueType="num">
                                      <p:cBhvr>
                                        <p:cTn id="50"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51"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52"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3" dur="1000"/>
                                        <p:tgtEl>
                                          <p:spTgt spid="3">
                                            <p:txEl>
                                              <p:pRg st="4" end="4"/>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31" presetClass="entr" presetSubtype="0" fill="hold" grpId="0" nodeType="clickEffect">
                                  <p:stCondLst>
                                    <p:cond delay="0"/>
                                  </p:stCondLst>
                                  <p:childTnLst>
                                    <p:set>
                                      <p:cBhvr>
                                        <p:cTn id="57" dur="1" fill="hold">
                                          <p:stCondLst>
                                            <p:cond delay="0"/>
                                          </p:stCondLst>
                                        </p:cTn>
                                        <p:tgtEl>
                                          <p:spTgt spid="3">
                                            <p:txEl>
                                              <p:pRg st="5" end="5"/>
                                            </p:txEl>
                                          </p:spTgt>
                                        </p:tgtEl>
                                        <p:attrNameLst>
                                          <p:attrName>style.visibility</p:attrName>
                                        </p:attrNameLst>
                                      </p:cBhvr>
                                      <p:to>
                                        <p:strVal val="visible"/>
                                      </p:to>
                                    </p:set>
                                    <p:anim calcmode="lin" valueType="num">
                                      <p:cBhvr>
                                        <p:cTn id="58"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9"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60"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61" dur="1000"/>
                                        <p:tgtEl>
                                          <p:spTgt spid="3">
                                            <p:txEl>
                                              <p:pRg st="5" end="5"/>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31" presetClass="entr" presetSubtype="0" fill="hold" grpId="0" nodeType="clickEffect">
                                  <p:stCondLst>
                                    <p:cond delay="0"/>
                                  </p:stCondLst>
                                  <p:childTnLst>
                                    <p:set>
                                      <p:cBhvr>
                                        <p:cTn id="65" dur="1" fill="hold">
                                          <p:stCondLst>
                                            <p:cond delay="0"/>
                                          </p:stCondLst>
                                        </p:cTn>
                                        <p:tgtEl>
                                          <p:spTgt spid="3">
                                            <p:txEl>
                                              <p:pRg st="6" end="6"/>
                                            </p:txEl>
                                          </p:spTgt>
                                        </p:tgtEl>
                                        <p:attrNameLst>
                                          <p:attrName>style.visibility</p:attrName>
                                        </p:attrNameLst>
                                      </p:cBhvr>
                                      <p:to>
                                        <p:strVal val="visible"/>
                                      </p:to>
                                    </p:set>
                                    <p:anim calcmode="lin" valueType="num">
                                      <p:cBhvr>
                                        <p:cTn id="66"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67"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68"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69" dur="1000"/>
                                        <p:tgtEl>
                                          <p:spTgt spid="3">
                                            <p:txEl>
                                              <p:pRg st="6" end="6"/>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31" presetClass="entr" presetSubtype="0" fill="hold" grpId="0" nodeType="clickEffect">
                                  <p:stCondLst>
                                    <p:cond delay="0"/>
                                  </p:stCondLst>
                                  <p:childTnLst>
                                    <p:set>
                                      <p:cBhvr>
                                        <p:cTn id="73" dur="1" fill="hold">
                                          <p:stCondLst>
                                            <p:cond delay="0"/>
                                          </p:stCondLst>
                                        </p:cTn>
                                        <p:tgtEl>
                                          <p:spTgt spid="3">
                                            <p:txEl>
                                              <p:pRg st="7" end="7"/>
                                            </p:txEl>
                                          </p:spTgt>
                                        </p:tgtEl>
                                        <p:attrNameLst>
                                          <p:attrName>style.visibility</p:attrName>
                                        </p:attrNameLst>
                                      </p:cBhvr>
                                      <p:to>
                                        <p:strVal val="visible"/>
                                      </p:to>
                                    </p:set>
                                    <p:anim calcmode="lin" valueType="num">
                                      <p:cBhvr>
                                        <p:cTn id="74" dur="1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75" dur="1000" fill="hold"/>
                                        <p:tgtEl>
                                          <p:spTgt spid="3">
                                            <p:txEl>
                                              <p:pRg st="7" end="7"/>
                                            </p:txEl>
                                          </p:spTgt>
                                        </p:tgtEl>
                                        <p:attrNameLst>
                                          <p:attrName>ppt_h</p:attrName>
                                        </p:attrNameLst>
                                      </p:cBhvr>
                                      <p:tavLst>
                                        <p:tav tm="0">
                                          <p:val>
                                            <p:fltVal val="0"/>
                                          </p:val>
                                        </p:tav>
                                        <p:tav tm="100000">
                                          <p:val>
                                            <p:strVal val="#ppt_h"/>
                                          </p:val>
                                        </p:tav>
                                      </p:tavLst>
                                    </p:anim>
                                    <p:anim calcmode="lin" valueType="num">
                                      <p:cBhvr>
                                        <p:cTn id="76" dur="1000" fill="hold"/>
                                        <p:tgtEl>
                                          <p:spTgt spid="3">
                                            <p:txEl>
                                              <p:pRg st="7" end="7"/>
                                            </p:txEl>
                                          </p:spTgt>
                                        </p:tgtEl>
                                        <p:attrNameLst>
                                          <p:attrName>style.rotation</p:attrName>
                                        </p:attrNameLst>
                                      </p:cBhvr>
                                      <p:tavLst>
                                        <p:tav tm="0">
                                          <p:val>
                                            <p:fltVal val="90"/>
                                          </p:val>
                                        </p:tav>
                                        <p:tav tm="100000">
                                          <p:val>
                                            <p:fltVal val="0"/>
                                          </p:val>
                                        </p:tav>
                                      </p:tavLst>
                                    </p:anim>
                                    <p:animEffect transition="in" filter="fade">
                                      <p:cBhvr>
                                        <p:cTn id="77" dur="1000"/>
                                        <p:tgtEl>
                                          <p:spTgt spid="3">
                                            <p:txEl>
                                              <p:pRg st="7" end="7"/>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31" presetClass="entr" presetSubtype="0" fill="hold" grpId="0" nodeType="clickEffect">
                                  <p:stCondLst>
                                    <p:cond delay="0"/>
                                  </p:stCondLst>
                                  <p:childTnLst>
                                    <p:set>
                                      <p:cBhvr>
                                        <p:cTn id="81" dur="1" fill="hold">
                                          <p:stCondLst>
                                            <p:cond delay="0"/>
                                          </p:stCondLst>
                                        </p:cTn>
                                        <p:tgtEl>
                                          <p:spTgt spid="3">
                                            <p:txEl>
                                              <p:pRg st="8" end="8"/>
                                            </p:txEl>
                                          </p:spTgt>
                                        </p:tgtEl>
                                        <p:attrNameLst>
                                          <p:attrName>style.visibility</p:attrName>
                                        </p:attrNameLst>
                                      </p:cBhvr>
                                      <p:to>
                                        <p:strVal val="visible"/>
                                      </p:to>
                                    </p:set>
                                    <p:anim calcmode="lin" valueType="num">
                                      <p:cBhvr>
                                        <p:cTn id="82" dur="1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83" dur="1000" fill="hold"/>
                                        <p:tgtEl>
                                          <p:spTgt spid="3">
                                            <p:txEl>
                                              <p:pRg st="8" end="8"/>
                                            </p:txEl>
                                          </p:spTgt>
                                        </p:tgtEl>
                                        <p:attrNameLst>
                                          <p:attrName>ppt_h</p:attrName>
                                        </p:attrNameLst>
                                      </p:cBhvr>
                                      <p:tavLst>
                                        <p:tav tm="0">
                                          <p:val>
                                            <p:fltVal val="0"/>
                                          </p:val>
                                        </p:tav>
                                        <p:tav tm="100000">
                                          <p:val>
                                            <p:strVal val="#ppt_h"/>
                                          </p:val>
                                        </p:tav>
                                      </p:tavLst>
                                    </p:anim>
                                    <p:anim calcmode="lin" valueType="num">
                                      <p:cBhvr>
                                        <p:cTn id="84" dur="1000" fill="hold"/>
                                        <p:tgtEl>
                                          <p:spTgt spid="3">
                                            <p:txEl>
                                              <p:pRg st="8" end="8"/>
                                            </p:txEl>
                                          </p:spTgt>
                                        </p:tgtEl>
                                        <p:attrNameLst>
                                          <p:attrName>style.rotation</p:attrName>
                                        </p:attrNameLst>
                                      </p:cBhvr>
                                      <p:tavLst>
                                        <p:tav tm="0">
                                          <p:val>
                                            <p:fltVal val="90"/>
                                          </p:val>
                                        </p:tav>
                                        <p:tav tm="100000">
                                          <p:val>
                                            <p:fltVal val="0"/>
                                          </p:val>
                                        </p:tav>
                                      </p:tavLst>
                                    </p:anim>
                                    <p:animEffect transition="in" filter="fade">
                                      <p:cBhvr>
                                        <p:cTn id="85"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86" fill="hold" display="0">
                  <p:stCondLst>
                    <p:cond delay="indefinite"/>
                  </p:stCondLst>
                </p:cTn>
                <p:tgtEl>
                  <p:spTgt spid="4"/>
                </p:tgtEl>
              </p:cMediaNode>
            </p:video>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304800"/>
            <a:ext cx="8229600" cy="6248393"/>
          </a:xfrm>
        </p:spPr>
        <p:txBody>
          <a:bodyPr>
            <a:normAutofit/>
          </a:bodyPr>
          <a:lstStyle/>
          <a:p>
            <a:pPr>
              <a:lnSpc>
                <a:spcPct val="100000"/>
              </a:lnSpc>
              <a:buNone/>
            </a:pPr>
            <a:r>
              <a:rPr lang="en-US" b="1" dirty="0" err="1">
                <a:solidFill>
                  <a:schemeClr val="tx1"/>
                </a:solidFill>
                <a:latin typeface="Calibri" panose="020F0502020204030204" pitchFamily="34" charset="0"/>
                <a:cs typeface="Calibri" panose="020F0502020204030204" pitchFamily="34" charset="0"/>
              </a:rPr>
              <a:t>int</a:t>
            </a:r>
            <a:r>
              <a:rPr lang="en-US" b="1" dirty="0">
                <a:solidFill>
                  <a:schemeClr val="tx1"/>
                </a:solidFill>
                <a:latin typeface="Calibri" panose="020F0502020204030204" pitchFamily="34" charset="0"/>
                <a:cs typeface="Calibri" panose="020F0502020204030204" pitchFamily="34" charset="0"/>
              </a:rPr>
              <a:t> main()</a:t>
            </a:r>
          </a:p>
          <a:p>
            <a:pPr>
              <a:lnSpc>
                <a:spcPct val="100000"/>
              </a:lnSpc>
              <a:buNone/>
            </a:pPr>
            <a:r>
              <a:rPr lang="en-US" b="1" dirty="0">
                <a:solidFill>
                  <a:schemeClr val="tx1"/>
                </a:solidFill>
                <a:latin typeface="Calibri" panose="020F0502020204030204" pitchFamily="34" charset="0"/>
                <a:cs typeface="Calibri" panose="020F0502020204030204" pitchFamily="34" charset="0"/>
              </a:rPr>
              <a:t>{</a:t>
            </a:r>
          </a:p>
          <a:p>
            <a:pPr>
              <a:lnSpc>
                <a:spcPct val="100000"/>
              </a:lnSpc>
              <a:buNone/>
            </a:pPr>
            <a:r>
              <a:rPr lang="en-US" b="1" dirty="0">
                <a:solidFill>
                  <a:schemeClr val="tx1"/>
                </a:solidFill>
                <a:latin typeface="Calibri" panose="020F0502020204030204" pitchFamily="34" charset="0"/>
                <a:cs typeface="Calibri" panose="020F0502020204030204" pitchFamily="34" charset="0"/>
              </a:rPr>
              <a:t>		float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a:t>
            </a:r>
          </a:p>
          <a:p>
            <a:pPr>
              <a:lnSpc>
                <a:spcPct val="100000"/>
              </a:lnSpc>
              <a:buNone/>
            </a:pPr>
            <a:r>
              <a:rPr lang="en-US" b="1" dirty="0">
                <a:solidFill>
                  <a:schemeClr val="tx1"/>
                </a:solidFill>
                <a:latin typeface="Calibri" panose="020F0502020204030204" pitchFamily="34" charset="0"/>
                <a:cs typeface="Calibri" panose="020F0502020204030204" pitchFamily="34" charset="0"/>
              </a:rPr>
              <a:t>		char </a:t>
            </a:r>
            <a:r>
              <a:rPr lang="en-US" b="1" dirty="0" err="1">
                <a:solidFill>
                  <a:schemeClr val="tx1"/>
                </a:solidFill>
                <a:latin typeface="Calibri" panose="020F0502020204030204" pitchFamily="34" charset="0"/>
                <a:cs typeface="Calibri" panose="020F0502020204030204" pitchFamily="34" charset="0"/>
              </a:rPr>
              <a:t>exp</a:t>
            </a:r>
            <a:r>
              <a:rPr lang="en-US" b="1" dirty="0">
                <a:solidFill>
                  <a:schemeClr val="tx1"/>
                </a:solidFill>
                <a:latin typeface="Calibri" panose="020F0502020204030204" pitchFamily="34" charset="0"/>
                <a:cs typeface="Calibri" panose="020F0502020204030204" pitchFamily="34" charset="0"/>
              </a:rPr>
              <a:t>[100];</a:t>
            </a:r>
          </a:p>
          <a:p>
            <a:pPr>
              <a:lnSpc>
                <a:spcPct val="100000"/>
              </a:lnSpc>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clrscr</a:t>
            </a:r>
            <a:r>
              <a:rPr lang="en-US" b="1" dirty="0">
                <a:solidFill>
                  <a:schemeClr val="tx1"/>
                </a:solidFill>
                <a:latin typeface="Calibri" panose="020F0502020204030204" pitchFamily="34" charset="0"/>
                <a:cs typeface="Calibri" panose="020F0502020204030204" pitchFamily="34" charset="0"/>
              </a:rPr>
              <a:t>( );</a:t>
            </a:r>
          </a:p>
          <a:p>
            <a:pPr>
              <a:lnSpc>
                <a:spcPct val="100000"/>
              </a:lnSpc>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printf</a:t>
            </a:r>
            <a:r>
              <a:rPr lang="en-US" b="1" dirty="0">
                <a:solidFill>
                  <a:schemeClr val="tx1"/>
                </a:solidFill>
                <a:latin typeface="Calibri" panose="020F0502020204030204" pitchFamily="34" charset="0"/>
                <a:cs typeface="Calibri" panose="020F0502020204030204" pitchFamily="34" charset="0"/>
              </a:rPr>
              <a:t>("\n Enter any postfix expression : ");</a:t>
            </a:r>
          </a:p>
          <a:p>
            <a:pPr>
              <a:lnSpc>
                <a:spcPct val="100000"/>
              </a:lnSpc>
              <a:buNone/>
            </a:pPr>
            <a:r>
              <a:rPr lang="en-US" b="1" dirty="0">
                <a:solidFill>
                  <a:schemeClr val="tx1"/>
                </a:solidFill>
                <a:latin typeface="Calibri" panose="020F0502020204030204" pitchFamily="34" charset="0"/>
                <a:cs typeface="Calibri" panose="020F0502020204030204" pitchFamily="34" charset="0"/>
              </a:rPr>
              <a:t>		gets( </a:t>
            </a:r>
            <a:r>
              <a:rPr lang="en-US" b="1" dirty="0" err="1">
                <a:solidFill>
                  <a:schemeClr val="tx1"/>
                </a:solidFill>
                <a:latin typeface="Calibri" panose="020F0502020204030204" pitchFamily="34" charset="0"/>
                <a:cs typeface="Calibri" panose="020F0502020204030204" pitchFamily="34" charset="0"/>
              </a:rPr>
              <a:t>exp</a:t>
            </a:r>
            <a:r>
              <a:rPr lang="en-US" b="1" dirty="0">
                <a:solidFill>
                  <a:schemeClr val="tx1"/>
                </a:solidFill>
                <a:latin typeface="Calibri" panose="020F0502020204030204" pitchFamily="34" charset="0"/>
                <a:cs typeface="Calibri" panose="020F0502020204030204" pitchFamily="34" charset="0"/>
              </a:rPr>
              <a:t> );</a:t>
            </a:r>
          </a:p>
          <a:p>
            <a:pPr>
              <a:lnSpc>
                <a:spcPct val="100000"/>
              </a:lnSpc>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 = </a:t>
            </a:r>
            <a:r>
              <a:rPr lang="en-US" sz="2400" b="1" spc="300" dirty="0" err="1">
                <a:solidFill>
                  <a:srgbClr val="FFFF00"/>
                </a:solidFill>
                <a:highlight>
                  <a:srgbClr val="0000FF"/>
                </a:highlight>
                <a:ea typeface="Calibri" panose="020F0502020204030204" pitchFamily="34" charset="0"/>
              </a:rPr>
              <a:t>evaluatePostfixExp</a:t>
            </a:r>
            <a:r>
              <a:rPr lang="en-US" sz="2400" b="1" spc="300" dirty="0">
                <a:solidFill>
                  <a:srgbClr val="FFFF00"/>
                </a:solidFill>
                <a:highlight>
                  <a:srgbClr val="0000FF"/>
                </a:highlight>
                <a:ea typeface="Calibri" panose="020F0502020204030204" pitchFamily="34" charset="0"/>
              </a:rPr>
              <a:t>(</a:t>
            </a:r>
            <a:r>
              <a:rPr lang="en-US" sz="2400" b="1" spc="300" dirty="0" err="1">
                <a:solidFill>
                  <a:srgbClr val="FFFF00"/>
                </a:solidFill>
                <a:highlight>
                  <a:srgbClr val="0000FF"/>
                </a:highlight>
                <a:ea typeface="Calibri" panose="020F0502020204030204" pitchFamily="34" charset="0"/>
              </a:rPr>
              <a:t>exp</a:t>
            </a:r>
            <a:r>
              <a:rPr lang="en-US" sz="2400" b="1" spc="300" dirty="0">
                <a:solidFill>
                  <a:srgbClr val="FFFF00"/>
                </a:solidFill>
                <a:highlight>
                  <a:srgbClr val="0000FF"/>
                </a:highlight>
                <a:ea typeface="Calibri" panose="020F0502020204030204" pitchFamily="34" charset="0"/>
              </a:rPr>
              <a:t>)</a:t>
            </a:r>
            <a:r>
              <a:rPr lang="en-US" b="1" spc="300" dirty="0">
                <a:solidFill>
                  <a:schemeClr val="tx1"/>
                </a:solidFill>
              </a:rPr>
              <a:t>;</a:t>
            </a:r>
          </a:p>
          <a:p>
            <a:pPr>
              <a:lnSpc>
                <a:spcPct val="100000"/>
              </a:lnSpc>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printf</a:t>
            </a:r>
            <a:r>
              <a:rPr lang="en-US" b="1" dirty="0">
                <a:solidFill>
                  <a:schemeClr val="tx1"/>
                </a:solidFill>
                <a:latin typeface="Calibri" panose="020F0502020204030204" pitchFamily="34" charset="0"/>
                <a:cs typeface="Calibri" panose="020F0502020204030204" pitchFamily="34" charset="0"/>
              </a:rPr>
              <a:t>( "\n Value of the postfix expression = %.2f",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 );</a:t>
            </a:r>
          </a:p>
          <a:p>
            <a:pPr>
              <a:lnSpc>
                <a:spcPct val="100000"/>
              </a:lnSpc>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getch</a:t>
            </a:r>
            <a:r>
              <a:rPr lang="en-US" b="1" dirty="0">
                <a:solidFill>
                  <a:schemeClr val="tx1"/>
                </a:solidFill>
                <a:latin typeface="Calibri" panose="020F0502020204030204" pitchFamily="34" charset="0"/>
                <a:cs typeface="Calibri" panose="020F0502020204030204" pitchFamily="34" charset="0"/>
              </a:rPr>
              <a:t>( );</a:t>
            </a:r>
          </a:p>
          <a:p>
            <a:pPr>
              <a:lnSpc>
                <a:spcPct val="100000"/>
              </a:lnSpc>
              <a:buNone/>
            </a:pPr>
            <a:r>
              <a:rPr lang="en-US" b="1" dirty="0">
                <a:solidFill>
                  <a:schemeClr val="tx1"/>
                </a:solidFill>
                <a:latin typeface="Calibri" panose="020F0502020204030204" pitchFamily="34" charset="0"/>
                <a:cs typeface="Calibri" panose="020F0502020204030204" pitchFamily="34" charset="0"/>
              </a:rPr>
              <a:t>		return 0;</a:t>
            </a:r>
          </a:p>
          <a:p>
            <a:pPr>
              <a:lnSpc>
                <a:spcPct val="100000"/>
              </a:lnSpc>
              <a:buNone/>
            </a:pPr>
            <a:r>
              <a:rPr lang="en-US" b="1" dirty="0">
                <a:solidFill>
                  <a:schemeClr val="tx1"/>
                </a:solidFill>
                <a:latin typeface="Calibri" panose="020F0502020204030204" pitchFamily="34" charset="0"/>
                <a:cs typeface="Calibri" panose="020F0502020204030204" pitchFamily="34" charset="0"/>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533400"/>
            <a:ext cx="9601200" cy="5791200"/>
          </a:xfrm>
        </p:spPr>
        <p:txBody>
          <a:bodyPr>
            <a:normAutofit lnSpcReduction="10000"/>
          </a:bodyPr>
          <a:lstStyle/>
          <a:p>
            <a:pPr>
              <a:buNone/>
            </a:pPr>
            <a:r>
              <a:rPr lang="en-US" b="1" dirty="0">
                <a:solidFill>
                  <a:schemeClr val="tx1"/>
                </a:solidFill>
              </a:rPr>
              <a:t>float </a:t>
            </a:r>
            <a:r>
              <a:rPr lang="en-US" sz="2400" b="1" dirty="0" err="1">
                <a:solidFill>
                  <a:srgbClr val="FFFF00"/>
                </a:solidFill>
                <a:highlight>
                  <a:srgbClr val="0000FF"/>
                </a:highlight>
                <a:ea typeface="Calibri" panose="020F0502020204030204" pitchFamily="34" charset="0"/>
              </a:rPr>
              <a:t>evaluatePostfixExp</a:t>
            </a:r>
            <a:r>
              <a:rPr lang="en-US" b="1" dirty="0">
                <a:solidFill>
                  <a:schemeClr val="tx1"/>
                </a:solidFill>
              </a:rPr>
              <a:t>( char </a:t>
            </a:r>
            <a:r>
              <a:rPr lang="en-US" b="1" dirty="0" err="1">
                <a:solidFill>
                  <a:schemeClr val="tx1"/>
                </a:solidFill>
              </a:rPr>
              <a:t>exp</a:t>
            </a:r>
            <a:r>
              <a:rPr lang="en-US" b="1" dirty="0">
                <a:solidFill>
                  <a:schemeClr val="tx1"/>
                </a:solidFill>
              </a:rPr>
              <a:t>[ ] )</a:t>
            </a:r>
          </a:p>
          <a:p>
            <a:pPr>
              <a:buNone/>
            </a:pPr>
            <a:r>
              <a:rPr lang="en-US" b="1" dirty="0">
                <a:solidFill>
                  <a:schemeClr val="tx1"/>
                </a:solidFill>
              </a:rPr>
              <a:t>{</a:t>
            </a:r>
          </a:p>
          <a:p>
            <a:pPr>
              <a:buNone/>
            </a:pPr>
            <a:r>
              <a:rPr lang="en-US" b="1" dirty="0">
                <a:solidFill>
                  <a:schemeClr val="tx1"/>
                </a:solidFill>
              </a:rPr>
              <a:t>		</a:t>
            </a:r>
            <a:r>
              <a:rPr lang="en-US" b="1" dirty="0" err="1">
                <a:solidFill>
                  <a:schemeClr val="tx1"/>
                </a:solidFill>
              </a:rPr>
              <a:t>int</a:t>
            </a:r>
            <a:r>
              <a:rPr lang="en-US" b="1" dirty="0">
                <a:solidFill>
                  <a:schemeClr val="tx1"/>
                </a:solidFill>
              </a:rPr>
              <a:t> </a:t>
            </a:r>
            <a:r>
              <a:rPr lang="en-US" b="1" dirty="0" err="1">
                <a:solidFill>
                  <a:schemeClr val="tx1"/>
                </a:solidFill>
              </a:rPr>
              <a:t>i</a:t>
            </a:r>
            <a:r>
              <a:rPr lang="en-US" b="1" dirty="0">
                <a:solidFill>
                  <a:schemeClr val="tx1"/>
                </a:solidFill>
              </a:rPr>
              <a:t> = 0;</a:t>
            </a:r>
          </a:p>
          <a:p>
            <a:pPr>
              <a:buNone/>
            </a:pPr>
            <a:r>
              <a:rPr lang="en-US" b="1" dirty="0">
                <a:solidFill>
                  <a:schemeClr val="tx1"/>
                </a:solidFill>
              </a:rPr>
              <a:t>		float op1, op2, value;</a:t>
            </a:r>
          </a:p>
          <a:p>
            <a:pPr>
              <a:buNone/>
            </a:pPr>
            <a:r>
              <a:rPr lang="en-US" b="1" dirty="0">
                <a:solidFill>
                  <a:schemeClr val="tx1"/>
                </a:solidFill>
              </a:rPr>
              <a:t>		while( </a:t>
            </a:r>
            <a:r>
              <a:rPr lang="en-US" b="1" dirty="0" err="1">
                <a:solidFill>
                  <a:schemeClr val="tx1"/>
                </a:solidFill>
              </a:rPr>
              <a:t>exp</a:t>
            </a:r>
            <a:r>
              <a:rPr lang="en-US" b="1" dirty="0">
                <a:solidFill>
                  <a:schemeClr val="tx1"/>
                </a:solidFill>
              </a:rPr>
              <a:t>[</a:t>
            </a:r>
            <a:r>
              <a:rPr lang="en-US" b="1" dirty="0" err="1">
                <a:solidFill>
                  <a:schemeClr val="tx1"/>
                </a:solidFill>
              </a:rPr>
              <a:t>i</a:t>
            </a:r>
            <a:r>
              <a:rPr lang="en-US" b="1" dirty="0">
                <a:solidFill>
                  <a:schemeClr val="tx1"/>
                </a:solidFill>
              </a:rPr>
              <a:t>] != '\0‘ )</a:t>
            </a:r>
          </a:p>
          <a:p>
            <a:pPr>
              <a:buNone/>
            </a:pPr>
            <a:r>
              <a:rPr lang="en-US" b="1" dirty="0">
                <a:solidFill>
                  <a:schemeClr val="tx1"/>
                </a:solidFill>
              </a:rPr>
              <a:t>		{</a:t>
            </a:r>
          </a:p>
          <a:p>
            <a:pPr>
              <a:buNone/>
            </a:pPr>
            <a:r>
              <a:rPr lang="en-US" b="1" dirty="0">
                <a:solidFill>
                  <a:schemeClr val="tx1"/>
                </a:solidFill>
              </a:rPr>
              <a:t>			if( </a:t>
            </a:r>
            <a:r>
              <a:rPr lang="en-US" sz="2800" b="1" dirty="0" err="1">
                <a:solidFill>
                  <a:srgbClr val="FFFF00"/>
                </a:solidFill>
                <a:highlight>
                  <a:srgbClr val="FF00FF"/>
                </a:highlight>
                <a:ea typeface="Calibri" panose="020F0502020204030204" pitchFamily="34" charset="0"/>
              </a:rPr>
              <a:t>isdigit</a:t>
            </a:r>
            <a:r>
              <a:rPr lang="en-US" sz="2800" b="1" dirty="0">
                <a:solidFill>
                  <a:srgbClr val="FFFF00"/>
                </a:solidFill>
                <a:highlight>
                  <a:srgbClr val="FF00FF"/>
                </a:highlight>
                <a:ea typeface="Calibri" panose="020F0502020204030204" pitchFamily="34" charset="0"/>
              </a:rPr>
              <a:t> ( </a:t>
            </a:r>
            <a:r>
              <a:rPr lang="en-US" sz="2800" b="1" dirty="0" err="1">
                <a:solidFill>
                  <a:srgbClr val="FFFF00"/>
                </a:solidFill>
                <a:highlight>
                  <a:srgbClr val="FF00FF"/>
                </a:highlight>
                <a:ea typeface="Calibri" panose="020F0502020204030204" pitchFamily="34" charset="0"/>
              </a:rPr>
              <a:t>exp</a:t>
            </a:r>
            <a:r>
              <a:rPr lang="en-US" sz="2800" b="1" dirty="0">
                <a:solidFill>
                  <a:srgbClr val="FFFF00"/>
                </a:solidFill>
                <a:highlight>
                  <a:srgbClr val="FF00FF"/>
                </a:highlight>
                <a:ea typeface="Calibri" panose="020F0502020204030204" pitchFamily="34" charset="0"/>
              </a:rPr>
              <a:t>[</a:t>
            </a:r>
            <a:r>
              <a:rPr lang="en-US" sz="2800" b="1" dirty="0" err="1">
                <a:solidFill>
                  <a:srgbClr val="FFFF00"/>
                </a:solidFill>
                <a:highlight>
                  <a:srgbClr val="FF00FF"/>
                </a:highlight>
                <a:ea typeface="Calibri" panose="020F0502020204030204" pitchFamily="34" charset="0"/>
              </a:rPr>
              <a:t>i</a:t>
            </a:r>
            <a:r>
              <a:rPr lang="en-US" sz="2800" b="1" dirty="0">
                <a:solidFill>
                  <a:srgbClr val="FFFF00"/>
                </a:solidFill>
                <a:highlight>
                  <a:srgbClr val="FF00FF"/>
                </a:highlight>
                <a:ea typeface="Calibri" panose="020F0502020204030204" pitchFamily="34" charset="0"/>
              </a:rPr>
              <a:t>] )</a:t>
            </a:r>
            <a:r>
              <a:rPr lang="en-US" b="1" dirty="0">
                <a:solidFill>
                  <a:schemeClr val="tx1"/>
                </a:solidFill>
              </a:rPr>
              <a:t> )</a:t>
            </a:r>
          </a:p>
          <a:p>
            <a:pPr>
              <a:buNone/>
            </a:pPr>
            <a:r>
              <a:rPr lang="en-US" b="1" dirty="0">
                <a:solidFill>
                  <a:schemeClr val="tx1"/>
                </a:solidFill>
              </a:rPr>
              <a:t>				push( </a:t>
            </a:r>
            <a:r>
              <a:rPr lang="en-US" sz="2800" b="1" dirty="0" err="1">
                <a:solidFill>
                  <a:schemeClr val="tx1"/>
                </a:solidFill>
                <a:highlight>
                  <a:srgbClr val="00FF00"/>
                </a:highlight>
                <a:ea typeface="Calibri" panose="020F0502020204030204" pitchFamily="34" charset="0"/>
              </a:rPr>
              <a:t>st</a:t>
            </a:r>
            <a:r>
              <a:rPr lang="en-US" sz="2800" b="1" dirty="0">
                <a:solidFill>
                  <a:schemeClr val="tx1"/>
                </a:solidFill>
                <a:highlight>
                  <a:srgbClr val="00FF00"/>
                </a:highlight>
                <a:ea typeface="Calibri" panose="020F0502020204030204" pitchFamily="34" charset="0"/>
              </a:rPr>
              <a:t> </a:t>
            </a:r>
            <a:r>
              <a:rPr lang="en-US" b="1" dirty="0">
                <a:solidFill>
                  <a:schemeClr val="tx1"/>
                </a:solidFill>
              </a:rPr>
              <a:t>, </a:t>
            </a:r>
            <a:r>
              <a:rPr lang="en-US" sz="2800" dirty="0">
                <a:solidFill>
                  <a:srgbClr val="CC0066"/>
                </a:solidFill>
                <a:highlight>
                  <a:srgbClr val="FFFF00"/>
                </a:highlight>
                <a:ea typeface="Calibri" panose="020F0502020204030204" pitchFamily="34" charset="0"/>
              </a:rPr>
              <a:t>( float )( </a:t>
            </a:r>
            <a:r>
              <a:rPr lang="en-US" sz="2800" dirty="0" err="1">
                <a:solidFill>
                  <a:srgbClr val="CC0066"/>
                </a:solidFill>
                <a:highlight>
                  <a:srgbClr val="FFFF00"/>
                </a:highlight>
                <a:ea typeface="Calibri" panose="020F0502020204030204" pitchFamily="34" charset="0"/>
              </a:rPr>
              <a:t>exp</a:t>
            </a:r>
            <a:r>
              <a:rPr lang="en-US" sz="2800" dirty="0">
                <a:solidFill>
                  <a:srgbClr val="CC0066"/>
                </a:solidFill>
                <a:highlight>
                  <a:srgbClr val="FFFF00"/>
                </a:highlight>
                <a:ea typeface="Calibri" panose="020F0502020204030204" pitchFamily="34" charset="0"/>
              </a:rPr>
              <a:t>[ </a:t>
            </a:r>
            <a:r>
              <a:rPr lang="en-US" sz="2800" dirty="0" err="1">
                <a:solidFill>
                  <a:srgbClr val="CC0066"/>
                </a:solidFill>
                <a:highlight>
                  <a:srgbClr val="FFFF00"/>
                </a:highlight>
                <a:ea typeface="Calibri" panose="020F0502020204030204" pitchFamily="34" charset="0"/>
              </a:rPr>
              <a:t>i</a:t>
            </a:r>
            <a:r>
              <a:rPr lang="en-US" sz="2800" dirty="0">
                <a:solidFill>
                  <a:srgbClr val="CC0066"/>
                </a:solidFill>
                <a:highlight>
                  <a:srgbClr val="FFFF00"/>
                </a:highlight>
                <a:ea typeface="Calibri" panose="020F0502020204030204" pitchFamily="34" charset="0"/>
              </a:rPr>
              <a:t> ] – '0‘ ) </a:t>
            </a:r>
            <a:r>
              <a:rPr lang="en-US" b="1" dirty="0">
                <a:solidFill>
                  <a:schemeClr val="tx1"/>
                </a:solidFill>
              </a:rPr>
              <a:t>);</a:t>
            </a:r>
          </a:p>
          <a:p>
            <a:pPr>
              <a:buNone/>
            </a:pPr>
            <a:r>
              <a:rPr lang="en-US" b="1" dirty="0">
                <a:solidFill>
                  <a:schemeClr val="tx1"/>
                </a:solidFill>
              </a:rPr>
              <a:t>			else</a:t>
            </a:r>
          </a:p>
          <a:p>
            <a:pPr>
              <a:buNone/>
            </a:pPr>
            <a:r>
              <a:rPr lang="en-US" b="1" dirty="0">
                <a:solidFill>
                  <a:schemeClr val="tx1"/>
                </a:solidFill>
              </a:rPr>
              <a:t>			{</a:t>
            </a:r>
          </a:p>
          <a:p>
            <a:pPr>
              <a:buNone/>
            </a:pPr>
            <a:r>
              <a:rPr lang="en-US" b="1" dirty="0">
                <a:solidFill>
                  <a:schemeClr val="tx1"/>
                </a:solidFill>
              </a:rPr>
              <a:t>				op2 = pop( </a:t>
            </a:r>
            <a:r>
              <a:rPr lang="en-US" b="1" dirty="0" err="1">
                <a:solidFill>
                  <a:schemeClr val="tx1"/>
                </a:solidFill>
              </a:rPr>
              <a:t>st</a:t>
            </a:r>
            <a:r>
              <a:rPr lang="en-US" b="1" dirty="0">
                <a:solidFill>
                  <a:schemeClr val="tx1"/>
                </a:solidFill>
              </a:rPr>
              <a:t> );</a:t>
            </a:r>
          </a:p>
          <a:p>
            <a:pPr>
              <a:buNone/>
            </a:pPr>
            <a:r>
              <a:rPr lang="en-US" b="1" dirty="0">
                <a:solidFill>
                  <a:schemeClr val="tx1"/>
                </a:solidFill>
              </a:rPr>
              <a:t>				op1 = pop( </a:t>
            </a:r>
            <a:r>
              <a:rPr lang="en-US" b="1" dirty="0" err="1">
                <a:solidFill>
                  <a:schemeClr val="tx1"/>
                </a:solidFill>
              </a:rPr>
              <a:t>st</a:t>
            </a:r>
            <a:r>
              <a:rPr lang="en-US" b="1" dirty="0">
                <a:solidFill>
                  <a:schemeClr val="tx1"/>
                </a:solidFill>
              </a:rPr>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381000"/>
            <a:ext cx="8229600" cy="6172200"/>
          </a:xfrm>
        </p:spPr>
        <p:txBody>
          <a:bodyPr>
            <a:normAutofit fontScale="92500" lnSpcReduction="20000"/>
          </a:bodyPr>
          <a:lstStyle/>
          <a:p>
            <a:pPr>
              <a:spcBef>
                <a:spcPts val="600"/>
              </a:spcBef>
              <a:buNone/>
            </a:pPr>
            <a:r>
              <a:rPr lang="en-US" b="1" dirty="0">
                <a:solidFill>
                  <a:schemeClr val="tx1"/>
                </a:solidFill>
              </a:rPr>
              <a:t>			switch( </a:t>
            </a:r>
            <a:r>
              <a:rPr lang="en-US" b="1" dirty="0" err="1">
                <a:solidFill>
                  <a:schemeClr val="tx1"/>
                </a:solidFill>
              </a:rPr>
              <a:t>exp</a:t>
            </a:r>
            <a:r>
              <a:rPr lang="en-US" b="1" dirty="0">
                <a:solidFill>
                  <a:schemeClr val="tx1"/>
                </a:solidFill>
              </a:rPr>
              <a:t>[ </a:t>
            </a:r>
            <a:r>
              <a:rPr lang="en-US" b="1" dirty="0" err="1">
                <a:solidFill>
                  <a:schemeClr val="tx1"/>
                </a:solidFill>
              </a:rPr>
              <a:t>i</a:t>
            </a:r>
            <a:r>
              <a:rPr lang="en-US" b="1" dirty="0">
                <a:solidFill>
                  <a:schemeClr val="tx1"/>
                </a:solidFill>
              </a:rPr>
              <a:t> ] )</a:t>
            </a:r>
          </a:p>
          <a:p>
            <a:pPr>
              <a:spcBef>
                <a:spcPts val="600"/>
              </a:spcBef>
              <a:buNone/>
            </a:pPr>
            <a:r>
              <a:rPr lang="en-US" b="1" dirty="0">
                <a:solidFill>
                  <a:schemeClr val="tx1"/>
                </a:solidFill>
              </a:rPr>
              <a:t>			{</a:t>
            </a:r>
          </a:p>
          <a:p>
            <a:pPr>
              <a:spcBef>
                <a:spcPts val="800"/>
              </a:spcBef>
              <a:buNone/>
            </a:pPr>
            <a:r>
              <a:rPr lang="en-US" b="1" dirty="0">
                <a:solidFill>
                  <a:schemeClr val="tx1"/>
                </a:solidFill>
              </a:rPr>
              <a:t>				</a:t>
            </a:r>
            <a:r>
              <a:rPr lang="en-US" sz="2600" b="1" dirty="0">
                <a:solidFill>
                  <a:srgbClr val="FFFF00"/>
                </a:solidFill>
                <a:highlight>
                  <a:srgbClr val="0000FF"/>
                </a:highlight>
                <a:ea typeface="Calibri" panose="020F0502020204030204" pitchFamily="34" charset="0"/>
              </a:rPr>
              <a:t>case '+‘:</a:t>
            </a:r>
            <a:r>
              <a:rPr lang="en-US" b="1" dirty="0">
                <a:solidFill>
                  <a:schemeClr val="tx1"/>
                </a:solidFill>
              </a:rPr>
              <a:t>	value = op1 + op2;</a:t>
            </a:r>
          </a:p>
          <a:p>
            <a:pPr>
              <a:spcBef>
                <a:spcPts val="800"/>
              </a:spcBef>
              <a:buNone/>
            </a:pPr>
            <a:r>
              <a:rPr lang="en-US" b="1" dirty="0">
                <a:solidFill>
                  <a:schemeClr val="tx1"/>
                </a:solidFill>
              </a:rPr>
              <a:t>						break;</a:t>
            </a:r>
          </a:p>
          <a:p>
            <a:pPr>
              <a:spcBef>
                <a:spcPts val="800"/>
              </a:spcBef>
              <a:buNone/>
            </a:pPr>
            <a:r>
              <a:rPr lang="en-US" b="1" dirty="0">
                <a:solidFill>
                  <a:schemeClr val="tx1"/>
                </a:solidFill>
              </a:rPr>
              <a:t>				</a:t>
            </a:r>
            <a:r>
              <a:rPr lang="en-US" sz="2600" b="1" dirty="0">
                <a:solidFill>
                  <a:srgbClr val="FFFF00"/>
                </a:solidFill>
                <a:highlight>
                  <a:srgbClr val="0000FF"/>
                </a:highlight>
                <a:ea typeface="Calibri" panose="020F0502020204030204" pitchFamily="34" charset="0"/>
              </a:rPr>
              <a:t>case '–':</a:t>
            </a:r>
            <a:r>
              <a:rPr lang="en-US" b="1" dirty="0">
                <a:solidFill>
                  <a:schemeClr val="tx1"/>
                </a:solidFill>
              </a:rPr>
              <a:t>	value = op1 – op2;</a:t>
            </a:r>
          </a:p>
          <a:p>
            <a:pPr>
              <a:spcBef>
                <a:spcPts val="800"/>
              </a:spcBef>
              <a:buNone/>
            </a:pPr>
            <a:r>
              <a:rPr lang="en-US" b="1" dirty="0">
                <a:solidFill>
                  <a:schemeClr val="tx1"/>
                </a:solidFill>
              </a:rPr>
              <a:t>						break;</a:t>
            </a:r>
          </a:p>
          <a:p>
            <a:pPr>
              <a:spcBef>
                <a:spcPts val="800"/>
              </a:spcBef>
              <a:buNone/>
            </a:pPr>
            <a:r>
              <a:rPr lang="en-US" b="1" dirty="0">
                <a:solidFill>
                  <a:schemeClr val="tx1"/>
                </a:solidFill>
              </a:rPr>
              <a:t>				</a:t>
            </a:r>
            <a:r>
              <a:rPr lang="en-US" sz="2600" b="1" dirty="0">
                <a:solidFill>
                  <a:srgbClr val="FFFF00"/>
                </a:solidFill>
                <a:highlight>
                  <a:srgbClr val="0000FF"/>
                </a:highlight>
                <a:ea typeface="Calibri" panose="020F0502020204030204" pitchFamily="34" charset="0"/>
              </a:rPr>
              <a:t>case '/‘:</a:t>
            </a:r>
            <a:r>
              <a:rPr lang="en-US" b="1" dirty="0">
                <a:solidFill>
                  <a:schemeClr val="tx1"/>
                </a:solidFill>
              </a:rPr>
              <a:t>	value = op1 / op2;</a:t>
            </a:r>
          </a:p>
          <a:p>
            <a:pPr>
              <a:spcBef>
                <a:spcPts val="800"/>
              </a:spcBef>
              <a:buNone/>
            </a:pPr>
            <a:r>
              <a:rPr lang="en-US" b="1" dirty="0">
                <a:solidFill>
                  <a:schemeClr val="tx1"/>
                </a:solidFill>
              </a:rPr>
              <a:t>						break;</a:t>
            </a:r>
          </a:p>
          <a:p>
            <a:pPr>
              <a:spcBef>
                <a:spcPts val="800"/>
              </a:spcBef>
              <a:buNone/>
            </a:pPr>
            <a:r>
              <a:rPr lang="en-US" b="1" dirty="0">
                <a:solidFill>
                  <a:schemeClr val="tx1"/>
                </a:solidFill>
              </a:rPr>
              <a:t>				</a:t>
            </a:r>
            <a:r>
              <a:rPr lang="en-US" sz="2600" b="1" dirty="0">
                <a:solidFill>
                  <a:srgbClr val="FFFF00"/>
                </a:solidFill>
                <a:highlight>
                  <a:srgbClr val="0000FF"/>
                </a:highlight>
                <a:ea typeface="Calibri" panose="020F0502020204030204" pitchFamily="34" charset="0"/>
              </a:rPr>
              <a:t>case '*‘:</a:t>
            </a:r>
            <a:r>
              <a:rPr lang="en-US" b="1" dirty="0">
                <a:solidFill>
                  <a:schemeClr val="tx1"/>
                </a:solidFill>
              </a:rPr>
              <a:t>	value = op1 * op2;</a:t>
            </a:r>
          </a:p>
          <a:p>
            <a:pPr>
              <a:spcBef>
                <a:spcPts val="800"/>
              </a:spcBef>
              <a:buNone/>
            </a:pPr>
            <a:r>
              <a:rPr lang="en-US" b="1" dirty="0">
                <a:solidFill>
                  <a:schemeClr val="tx1"/>
                </a:solidFill>
              </a:rPr>
              <a:t>						break;</a:t>
            </a:r>
          </a:p>
          <a:p>
            <a:pPr>
              <a:spcBef>
                <a:spcPts val="800"/>
              </a:spcBef>
              <a:buNone/>
            </a:pPr>
            <a:r>
              <a:rPr lang="en-US" b="1" dirty="0">
                <a:solidFill>
                  <a:schemeClr val="tx1"/>
                </a:solidFill>
              </a:rPr>
              <a:t>				</a:t>
            </a:r>
            <a:r>
              <a:rPr lang="en-US" sz="2600" b="1" dirty="0">
                <a:solidFill>
                  <a:srgbClr val="FFFF00"/>
                </a:solidFill>
                <a:highlight>
                  <a:srgbClr val="0000FF"/>
                </a:highlight>
                <a:ea typeface="Calibri" panose="020F0502020204030204" pitchFamily="34" charset="0"/>
              </a:rPr>
              <a:t>case '%':</a:t>
            </a:r>
            <a:r>
              <a:rPr lang="en-US" b="1" dirty="0">
                <a:solidFill>
                  <a:schemeClr val="tx1"/>
                </a:solidFill>
              </a:rPr>
              <a:t>	value = (</a:t>
            </a:r>
            <a:r>
              <a:rPr lang="en-US" b="1" dirty="0" err="1">
                <a:solidFill>
                  <a:schemeClr val="tx1"/>
                </a:solidFill>
              </a:rPr>
              <a:t>int</a:t>
            </a:r>
            <a:r>
              <a:rPr lang="en-US" b="1" dirty="0">
                <a:solidFill>
                  <a:schemeClr val="tx1"/>
                </a:solidFill>
              </a:rPr>
              <a:t>)op1 % (</a:t>
            </a:r>
            <a:r>
              <a:rPr lang="en-US" b="1" dirty="0" err="1">
                <a:solidFill>
                  <a:schemeClr val="tx1"/>
                </a:solidFill>
              </a:rPr>
              <a:t>int</a:t>
            </a:r>
            <a:r>
              <a:rPr lang="en-US" b="1" dirty="0">
                <a:solidFill>
                  <a:schemeClr val="tx1"/>
                </a:solidFill>
              </a:rPr>
              <a:t>)op2;</a:t>
            </a:r>
          </a:p>
          <a:p>
            <a:pPr>
              <a:spcBef>
                <a:spcPts val="800"/>
              </a:spcBef>
              <a:buNone/>
            </a:pPr>
            <a:r>
              <a:rPr lang="en-US" b="1" dirty="0">
                <a:solidFill>
                  <a:schemeClr val="tx1"/>
                </a:solidFill>
              </a:rPr>
              <a:t>						break;</a:t>
            </a:r>
          </a:p>
          <a:p>
            <a:pPr>
              <a:spcBef>
                <a:spcPts val="600"/>
              </a:spcBef>
              <a:buNone/>
            </a:pPr>
            <a:r>
              <a:rPr lang="en-US" b="1" dirty="0">
                <a:solidFill>
                  <a:schemeClr val="tx1"/>
                </a:solidFill>
              </a:rPr>
              <a:t>			}</a:t>
            </a:r>
          </a:p>
          <a:p>
            <a:pPr>
              <a:spcBef>
                <a:spcPts val="600"/>
              </a:spcBef>
              <a:buNone/>
            </a:pPr>
            <a:r>
              <a:rPr lang="en-US" b="1" dirty="0">
                <a:solidFill>
                  <a:schemeClr val="tx1"/>
                </a:solidFill>
              </a:rPr>
              <a:t>			</a:t>
            </a:r>
            <a:r>
              <a:rPr lang="en-US" sz="3000" b="1" dirty="0">
                <a:solidFill>
                  <a:srgbClr val="FFFF00"/>
                </a:solidFill>
                <a:highlight>
                  <a:srgbClr val="FF00FF"/>
                </a:highlight>
                <a:ea typeface="Calibri" panose="020F0502020204030204" pitchFamily="34" charset="0"/>
              </a:rPr>
              <a:t>push</a:t>
            </a:r>
            <a:r>
              <a:rPr lang="en-US" b="1" dirty="0">
                <a:solidFill>
                  <a:schemeClr val="tx1"/>
                </a:solidFill>
              </a:rPr>
              <a:t>( </a:t>
            </a:r>
            <a:r>
              <a:rPr lang="en-US" b="1" dirty="0" err="1">
                <a:solidFill>
                  <a:schemeClr val="tx1"/>
                </a:solidFill>
              </a:rPr>
              <a:t>st</a:t>
            </a:r>
            <a:r>
              <a:rPr lang="en-US" b="1" dirty="0">
                <a:solidFill>
                  <a:schemeClr val="tx1"/>
                </a:solidFill>
              </a:rPr>
              <a:t> , value );</a:t>
            </a:r>
          </a:p>
          <a:p>
            <a:pPr>
              <a:spcBef>
                <a:spcPts val="600"/>
              </a:spcBef>
              <a:buNone/>
            </a:pPr>
            <a:r>
              <a:rPr lang="en-US" b="1" dirty="0">
                <a:solidFill>
                  <a:schemeClr val="tx1"/>
                </a:solidFill>
              </a:rPr>
              <a:t>		}</a:t>
            </a:r>
          </a:p>
          <a:p>
            <a:pPr>
              <a:spcBef>
                <a:spcPts val="600"/>
              </a:spcBef>
              <a:buNone/>
            </a:pPr>
            <a:r>
              <a:rPr lang="en-US" b="1" dirty="0">
                <a:solidFill>
                  <a:schemeClr val="tx1"/>
                </a:solidFill>
              </a:rPr>
              <a:t>		</a:t>
            </a:r>
            <a:r>
              <a:rPr lang="en-US" b="1" dirty="0" err="1">
                <a:solidFill>
                  <a:schemeClr val="tx1"/>
                </a:solidFill>
              </a:rPr>
              <a:t>i</a:t>
            </a:r>
            <a:r>
              <a:rPr lang="en-US" b="1" dirty="0">
                <a:solidFill>
                  <a:schemeClr val="tx1"/>
                </a:solidFill>
              </a:rPr>
              <a:t> ++;</a:t>
            </a:r>
          </a:p>
          <a:p>
            <a:pPr>
              <a:spcBef>
                <a:spcPts val="600"/>
              </a:spcBef>
              <a:buNone/>
            </a:pPr>
            <a:r>
              <a:rPr lang="en-US" b="1" dirty="0">
                <a:solidFill>
                  <a:schemeClr val="tx1"/>
                </a:solidFill>
              </a:rPr>
              <a:t>	}</a:t>
            </a:r>
          </a:p>
          <a:p>
            <a:pPr>
              <a:spcBef>
                <a:spcPts val="600"/>
              </a:spcBef>
              <a:buNone/>
            </a:pPr>
            <a:r>
              <a:rPr lang="en-US" b="1" dirty="0">
                <a:solidFill>
                  <a:schemeClr val="tx1"/>
                </a:solidFill>
              </a:rPr>
              <a:t>	return( </a:t>
            </a:r>
            <a:r>
              <a:rPr lang="en-US" sz="3000" dirty="0">
                <a:solidFill>
                  <a:srgbClr val="CC0066"/>
                </a:solidFill>
                <a:highlight>
                  <a:srgbClr val="FFFF00"/>
                </a:highlight>
                <a:ea typeface="Calibri" panose="020F0502020204030204" pitchFamily="34" charset="0"/>
              </a:rPr>
              <a:t>pop</a:t>
            </a:r>
            <a:r>
              <a:rPr lang="en-US" b="1" dirty="0">
                <a:solidFill>
                  <a:schemeClr val="tx1"/>
                </a:solidFill>
              </a:rPr>
              <a:t>( </a:t>
            </a:r>
            <a:r>
              <a:rPr lang="en-US" b="1" dirty="0" err="1">
                <a:solidFill>
                  <a:schemeClr val="tx1"/>
                </a:solidFill>
              </a:rPr>
              <a:t>st</a:t>
            </a:r>
            <a:r>
              <a:rPr lang="en-US" b="1" dirty="0">
                <a:solidFill>
                  <a:schemeClr val="tx1"/>
                </a:solidFill>
              </a:rPr>
              <a:t> ) );</a:t>
            </a:r>
          </a:p>
          <a:p>
            <a:pPr>
              <a:spcBef>
                <a:spcPts val="600"/>
              </a:spcBef>
              <a:buNone/>
            </a:pPr>
            <a:r>
              <a:rPr lang="en-US" b="1" dirty="0">
                <a:solidFill>
                  <a:schemeClr val="tx1"/>
                </a:solidFill>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5821363"/>
          </a:xfrm>
        </p:spPr>
        <p:txBody>
          <a:bodyPr>
            <a:noAutofit/>
          </a:bodyPr>
          <a:lstStyle/>
          <a:p>
            <a:pPr>
              <a:buNone/>
            </a:pPr>
            <a:r>
              <a:rPr lang="en-US" sz="3200" b="1" dirty="0">
                <a:solidFill>
                  <a:schemeClr val="tx1"/>
                </a:solidFill>
              </a:rPr>
              <a:t>void </a:t>
            </a:r>
            <a:r>
              <a:rPr lang="en-US" sz="3600" b="1" dirty="0">
                <a:solidFill>
                  <a:srgbClr val="FFFF00"/>
                </a:solidFill>
                <a:highlight>
                  <a:srgbClr val="FF00FF"/>
                </a:highlight>
                <a:ea typeface="Calibri" panose="020F0502020204030204" pitchFamily="34" charset="0"/>
              </a:rPr>
              <a:t>push</a:t>
            </a:r>
            <a:r>
              <a:rPr lang="en-US" sz="3200" b="1" dirty="0">
                <a:solidFill>
                  <a:schemeClr val="tx1"/>
                </a:solidFill>
              </a:rPr>
              <a:t>(float </a:t>
            </a:r>
            <a:r>
              <a:rPr lang="en-US" sz="3200" b="1" dirty="0" err="1">
                <a:solidFill>
                  <a:schemeClr val="tx1"/>
                </a:solidFill>
              </a:rPr>
              <a:t>st</a:t>
            </a:r>
            <a:r>
              <a:rPr lang="en-US" sz="3200" b="1" dirty="0">
                <a:solidFill>
                  <a:schemeClr val="tx1"/>
                </a:solidFill>
              </a:rPr>
              <a:t>[], float </a:t>
            </a:r>
            <a:r>
              <a:rPr lang="en-US" sz="3200" b="1" dirty="0" err="1">
                <a:solidFill>
                  <a:schemeClr val="tx1"/>
                </a:solidFill>
              </a:rPr>
              <a:t>val</a:t>
            </a:r>
            <a:r>
              <a:rPr lang="en-US" sz="3200" b="1" dirty="0">
                <a:solidFill>
                  <a:schemeClr val="tx1"/>
                </a:solidFill>
              </a:rPr>
              <a:t>)</a:t>
            </a:r>
          </a:p>
          <a:p>
            <a:pPr>
              <a:buNone/>
            </a:pPr>
            <a:r>
              <a:rPr lang="en-US" sz="3200" b="1" dirty="0">
                <a:solidFill>
                  <a:schemeClr val="tx1"/>
                </a:solidFill>
              </a:rPr>
              <a:t>{</a:t>
            </a:r>
          </a:p>
          <a:p>
            <a:pPr>
              <a:buNone/>
            </a:pPr>
            <a:r>
              <a:rPr lang="en-US" sz="3200" b="1" dirty="0">
                <a:solidFill>
                  <a:schemeClr val="tx1"/>
                </a:solidFill>
              </a:rPr>
              <a:t>		if( top==MAX–1 )</a:t>
            </a:r>
          </a:p>
          <a:p>
            <a:pPr>
              <a:buNone/>
            </a:pPr>
            <a:r>
              <a:rPr lang="en-US" sz="3200" b="1" dirty="0">
                <a:solidFill>
                  <a:schemeClr val="tx1"/>
                </a:solidFill>
              </a:rPr>
              <a:t>			</a:t>
            </a:r>
            <a:r>
              <a:rPr lang="en-US" sz="3200" b="1" dirty="0" err="1">
                <a:solidFill>
                  <a:schemeClr val="tx1"/>
                </a:solidFill>
              </a:rPr>
              <a:t>printf</a:t>
            </a:r>
            <a:r>
              <a:rPr lang="en-US" sz="3200" b="1" dirty="0">
                <a:solidFill>
                  <a:schemeClr val="tx1"/>
                </a:solidFill>
              </a:rPr>
              <a:t>("\n STACK OVERFLOW");</a:t>
            </a:r>
          </a:p>
          <a:p>
            <a:pPr>
              <a:buNone/>
            </a:pPr>
            <a:r>
              <a:rPr lang="en-US" sz="3200" b="1" dirty="0">
                <a:solidFill>
                  <a:schemeClr val="tx1"/>
                </a:solidFill>
              </a:rPr>
              <a:t>		else</a:t>
            </a:r>
          </a:p>
          <a:p>
            <a:pPr>
              <a:buNone/>
            </a:pPr>
            <a:r>
              <a:rPr lang="en-US" sz="3200" b="1" dirty="0">
                <a:solidFill>
                  <a:schemeClr val="tx1"/>
                </a:solidFill>
              </a:rPr>
              <a:t>		{</a:t>
            </a:r>
          </a:p>
          <a:p>
            <a:pPr>
              <a:buNone/>
            </a:pPr>
            <a:r>
              <a:rPr lang="en-US" sz="3200" b="1" dirty="0">
                <a:solidFill>
                  <a:schemeClr val="tx1"/>
                </a:solidFill>
              </a:rPr>
              <a:t>			</a:t>
            </a:r>
            <a:r>
              <a:rPr lang="en-US" sz="3200" b="1" dirty="0">
                <a:solidFill>
                  <a:schemeClr val="tx1"/>
                </a:solidFill>
                <a:highlight>
                  <a:srgbClr val="00FF00"/>
                </a:highlight>
                <a:ea typeface="Calibri" panose="020F0502020204030204" pitchFamily="34" charset="0"/>
              </a:rPr>
              <a:t>top + +;</a:t>
            </a:r>
            <a:endParaRPr lang="en-US" sz="2800" b="1" dirty="0">
              <a:solidFill>
                <a:schemeClr val="tx1"/>
              </a:solidFill>
              <a:highlight>
                <a:srgbClr val="00FF00"/>
              </a:highlight>
              <a:ea typeface="Calibri" panose="020F0502020204030204" pitchFamily="34" charset="0"/>
            </a:endParaRPr>
          </a:p>
          <a:p>
            <a:pPr>
              <a:buNone/>
            </a:pPr>
            <a:r>
              <a:rPr lang="en-US" sz="3200" b="1" dirty="0">
                <a:solidFill>
                  <a:schemeClr val="tx1"/>
                </a:solidFill>
              </a:rPr>
              <a:t>			</a:t>
            </a:r>
            <a:r>
              <a:rPr lang="en-US" sz="3200" b="1" dirty="0" err="1">
                <a:solidFill>
                  <a:schemeClr val="tx1"/>
                </a:solidFill>
              </a:rPr>
              <a:t>st</a:t>
            </a:r>
            <a:r>
              <a:rPr lang="en-US" sz="3200" b="1" dirty="0">
                <a:solidFill>
                  <a:schemeClr val="tx1"/>
                </a:solidFill>
              </a:rPr>
              <a:t>[ top ] = </a:t>
            </a:r>
            <a:r>
              <a:rPr lang="en-US" sz="3200" b="1" dirty="0" err="1">
                <a:solidFill>
                  <a:srgbClr val="FFFF00"/>
                </a:solidFill>
                <a:highlight>
                  <a:srgbClr val="0000FF"/>
                </a:highlight>
                <a:ea typeface="Calibri" panose="020F0502020204030204" pitchFamily="34" charset="0"/>
              </a:rPr>
              <a:t>val</a:t>
            </a:r>
            <a:r>
              <a:rPr lang="en-US" sz="3200" b="1" dirty="0">
                <a:solidFill>
                  <a:schemeClr val="tx1"/>
                </a:solidFill>
              </a:rPr>
              <a:t>;</a:t>
            </a:r>
          </a:p>
          <a:p>
            <a:pPr>
              <a:buNone/>
            </a:pPr>
            <a:r>
              <a:rPr lang="en-US" sz="3200" b="1" dirty="0">
                <a:solidFill>
                  <a:schemeClr val="tx1"/>
                </a:solidFill>
              </a:rPr>
              <a:t>		}</a:t>
            </a:r>
          </a:p>
          <a:p>
            <a:pPr>
              <a:buNone/>
            </a:pPr>
            <a:r>
              <a:rPr lang="en-US" sz="3200" b="1" dirty="0">
                <a:solidFill>
                  <a:schemeClr val="tx1"/>
                </a:solidFill>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229600" cy="6095993"/>
          </a:xfrm>
        </p:spPr>
        <p:txBody>
          <a:bodyPr>
            <a:noAutofit/>
          </a:bodyPr>
          <a:lstStyle/>
          <a:p>
            <a:pPr>
              <a:spcBef>
                <a:spcPts val="400"/>
              </a:spcBef>
              <a:buNone/>
            </a:pPr>
            <a:r>
              <a:rPr lang="en-US" sz="2400" b="1" dirty="0">
                <a:solidFill>
                  <a:schemeClr val="tx1"/>
                </a:solidFill>
              </a:rPr>
              <a:t>float </a:t>
            </a:r>
            <a:r>
              <a:rPr lang="en-US" sz="2800" dirty="0">
                <a:solidFill>
                  <a:srgbClr val="CC0066"/>
                </a:solidFill>
                <a:highlight>
                  <a:srgbClr val="FFFF00"/>
                </a:highlight>
                <a:ea typeface="Calibri" panose="020F0502020204030204" pitchFamily="34" charset="0"/>
              </a:rPr>
              <a:t>pop</a:t>
            </a:r>
            <a:r>
              <a:rPr lang="en-US" sz="2400" b="1" dirty="0">
                <a:solidFill>
                  <a:schemeClr val="tx1"/>
                </a:solidFill>
              </a:rPr>
              <a:t>(float </a:t>
            </a:r>
            <a:r>
              <a:rPr lang="en-US" sz="2400" b="1" dirty="0" err="1">
                <a:solidFill>
                  <a:schemeClr val="tx1"/>
                </a:solidFill>
              </a:rPr>
              <a:t>st</a:t>
            </a:r>
            <a:r>
              <a:rPr lang="en-US" sz="2400" b="1" dirty="0">
                <a:solidFill>
                  <a:schemeClr val="tx1"/>
                </a:solidFill>
              </a:rPr>
              <a:t>[])</a:t>
            </a:r>
          </a:p>
          <a:p>
            <a:pPr>
              <a:spcBef>
                <a:spcPts val="400"/>
              </a:spcBef>
              <a:buNone/>
            </a:pPr>
            <a:r>
              <a:rPr lang="en-US" sz="2400" b="1" dirty="0">
                <a:solidFill>
                  <a:schemeClr val="tx1"/>
                </a:solidFill>
              </a:rPr>
              <a:t>{</a:t>
            </a:r>
          </a:p>
          <a:p>
            <a:pPr>
              <a:spcBef>
                <a:spcPts val="400"/>
              </a:spcBef>
              <a:buNone/>
            </a:pPr>
            <a:r>
              <a:rPr lang="en-US" sz="2400" b="1" dirty="0">
                <a:solidFill>
                  <a:schemeClr val="tx1"/>
                </a:solidFill>
              </a:rPr>
              <a:t>		float </a:t>
            </a:r>
            <a:r>
              <a:rPr lang="en-US" sz="2400" b="1" dirty="0" err="1">
                <a:solidFill>
                  <a:schemeClr val="tx1"/>
                </a:solidFill>
              </a:rPr>
              <a:t>val</a:t>
            </a:r>
            <a:r>
              <a:rPr lang="en-US" sz="2400" b="1" dirty="0">
                <a:solidFill>
                  <a:schemeClr val="tx1"/>
                </a:solidFill>
              </a:rPr>
              <a:t>=–1;</a:t>
            </a:r>
          </a:p>
          <a:p>
            <a:pPr>
              <a:spcBef>
                <a:spcPts val="400"/>
              </a:spcBef>
              <a:buNone/>
            </a:pPr>
            <a:r>
              <a:rPr lang="en-US" sz="2400" b="1" dirty="0">
                <a:solidFill>
                  <a:schemeClr val="tx1"/>
                </a:solidFill>
              </a:rPr>
              <a:t>		if(</a:t>
            </a:r>
            <a:r>
              <a:rPr lang="en-US" sz="3600" b="1" dirty="0">
                <a:solidFill>
                  <a:srgbClr val="FFFF00"/>
                </a:solidFill>
                <a:highlight>
                  <a:srgbClr val="FF00FF"/>
                </a:highlight>
                <a:ea typeface="Calibri" panose="020F0502020204030204" pitchFamily="34" charset="0"/>
              </a:rPr>
              <a:t>top==–1</a:t>
            </a:r>
            <a:r>
              <a:rPr lang="en-US" sz="2400" b="1" dirty="0">
                <a:solidFill>
                  <a:schemeClr val="tx1"/>
                </a:solidFill>
              </a:rPr>
              <a:t>)</a:t>
            </a:r>
          </a:p>
          <a:p>
            <a:pPr>
              <a:spcBef>
                <a:spcPts val="400"/>
              </a:spcBef>
              <a:buNone/>
            </a:pPr>
            <a:r>
              <a:rPr lang="en-US" sz="2400" b="1" dirty="0">
                <a:solidFill>
                  <a:schemeClr val="tx1"/>
                </a:solidFill>
              </a:rPr>
              <a:t>			</a:t>
            </a:r>
            <a:r>
              <a:rPr lang="en-US" sz="2400" b="1" dirty="0" err="1">
                <a:solidFill>
                  <a:schemeClr val="tx1"/>
                </a:solidFill>
              </a:rPr>
              <a:t>printf</a:t>
            </a:r>
            <a:r>
              <a:rPr lang="en-US" sz="2400" b="1" dirty="0">
                <a:solidFill>
                  <a:schemeClr val="tx1"/>
                </a:solidFill>
              </a:rPr>
              <a:t>("\n STACK UNDERFLOW");</a:t>
            </a:r>
          </a:p>
          <a:p>
            <a:pPr>
              <a:spcBef>
                <a:spcPts val="400"/>
              </a:spcBef>
              <a:buNone/>
            </a:pPr>
            <a:r>
              <a:rPr lang="en-US" sz="2400" b="1" dirty="0">
                <a:solidFill>
                  <a:schemeClr val="tx1"/>
                </a:solidFill>
              </a:rPr>
              <a:t>		else</a:t>
            </a:r>
          </a:p>
          <a:p>
            <a:pPr>
              <a:spcBef>
                <a:spcPts val="400"/>
              </a:spcBef>
              <a:buNone/>
            </a:pPr>
            <a:r>
              <a:rPr lang="en-US" sz="2400" b="1" dirty="0">
                <a:solidFill>
                  <a:schemeClr val="tx1"/>
                </a:solidFill>
              </a:rPr>
              <a:t>		{</a:t>
            </a:r>
          </a:p>
          <a:p>
            <a:pPr>
              <a:spcBef>
                <a:spcPts val="400"/>
              </a:spcBef>
              <a:buNone/>
            </a:pPr>
            <a:r>
              <a:rPr lang="en-US" sz="2400" b="1" dirty="0">
                <a:solidFill>
                  <a:schemeClr val="tx1"/>
                </a:solidFill>
              </a:rPr>
              <a:t>			</a:t>
            </a:r>
            <a:r>
              <a:rPr lang="en-US" sz="3600" b="1" dirty="0" err="1">
                <a:solidFill>
                  <a:srgbClr val="FFFF00"/>
                </a:solidFill>
                <a:highlight>
                  <a:srgbClr val="0000FF"/>
                </a:highlight>
                <a:ea typeface="Calibri" panose="020F0502020204030204" pitchFamily="34" charset="0"/>
              </a:rPr>
              <a:t>val</a:t>
            </a:r>
            <a:r>
              <a:rPr lang="en-US" sz="2400" b="1" dirty="0">
                <a:solidFill>
                  <a:schemeClr val="tx1"/>
                </a:solidFill>
              </a:rPr>
              <a:t>  = </a:t>
            </a:r>
            <a:r>
              <a:rPr lang="en-US" sz="2400" b="1" dirty="0" err="1">
                <a:solidFill>
                  <a:schemeClr val="tx1"/>
                </a:solidFill>
              </a:rPr>
              <a:t>st</a:t>
            </a:r>
            <a:r>
              <a:rPr lang="en-US" sz="2400" b="1" dirty="0">
                <a:solidFill>
                  <a:schemeClr val="tx1"/>
                </a:solidFill>
              </a:rPr>
              <a:t>[ top ];</a:t>
            </a:r>
          </a:p>
          <a:p>
            <a:pPr>
              <a:spcBef>
                <a:spcPts val="400"/>
              </a:spcBef>
              <a:buNone/>
            </a:pPr>
            <a:r>
              <a:rPr lang="en-US" sz="2400" b="1" dirty="0">
                <a:solidFill>
                  <a:schemeClr val="tx1"/>
                </a:solidFill>
              </a:rPr>
              <a:t>			</a:t>
            </a:r>
            <a:r>
              <a:rPr lang="en-US" sz="3600" b="1" dirty="0">
                <a:solidFill>
                  <a:srgbClr val="FFFF00"/>
                </a:solidFill>
                <a:highlight>
                  <a:srgbClr val="FF00FF"/>
                </a:highlight>
                <a:ea typeface="Calibri" panose="020F0502020204030204" pitchFamily="34" charset="0"/>
              </a:rPr>
              <a:t>top – –;</a:t>
            </a:r>
          </a:p>
          <a:p>
            <a:pPr>
              <a:spcBef>
                <a:spcPts val="400"/>
              </a:spcBef>
              <a:buNone/>
            </a:pPr>
            <a:r>
              <a:rPr lang="en-US" sz="2400" b="1" dirty="0">
                <a:solidFill>
                  <a:schemeClr val="tx1"/>
                </a:solidFill>
              </a:rPr>
              <a:t>		}</a:t>
            </a:r>
          </a:p>
          <a:p>
            <a:pPr>
              <a:spcBef>
                <a:spcPts val="400"/>
              </a:spcBef>
              <a:buNone/>
            </a:pPr>
            <a:r>
              <a:rPr lang="en-US" sz="2400" b="1" dirty="0">
                <a:solidFill>
                  <a:schemeClr val="tx1"/>
                </a:solidFill>
              </a:rPr>
              <a:t>		return </a:t>
            </a:r>
            <a:r>
              <a:rPr lang="en-US" sz="2400" b="1" dirty="0" err="1">
                <a:solidFill>
                  <a:schemeClr val="tx1"/>
                </a:solidFill>
              </a:rPr>
              <a:t>val</a:t>
            </a:r>
            <a:r>
              <a:rPr lang="en-US" sz="2400" b="1" dirty="0">
                <a:solidFill>
                  <a:schemeClr val="tx1"/>
                </a:solidFill>
              </a:rPr>
              <a:t>;</a:t>
            </a:r>
          </a:p>
          <a:p>
            <a:pPr>
              <a:spcBef>
                <a:spcPts val="400"/>
              </a:spcBef>
              <a:buNone/>
            </a:pPr>
            <a:r>
              <a:rPr lang="en-US" sz="2400" b="1" dirty="0">
                <a:solidFill>
                  <a:schemeClr val="tx1"/>
                </a:solidFill>
              </a:rPr>
              <a:t>}</a:t>
            </a:r>
          </a:p>
          <a:p>
            <a:pPr>
              <a:spcBef>
                <a:spcPts val="400"/>
              </a:spcBef>
              <a:buNone/>
            </a:pPr>
            <a:r>
              <a:rPr lang="en-US" sz="2800" b="1" u="sng" dirty="0">
                <a:solidFill>
                  <a:schemeClr val="tx1"/>
                </a:solidFill>
                <a:highlight>
                  <a:srgbClr val="00FF00"/>
                </a:highlight>
                <a:ea typeface="Calibri" panose="020F0502020204030204" pitchFamily="34" charset="0"/>
              </a:rPr>
              <a:t>Output</a:t>
            </a:r>
          </a:p>
          <a:p>
            <a:pPr>
              <a:spcBef>
                <a:spcPts val="400"/>
              </a:spcBef>
              <a:buNone/>
            </a:pPr>
            <a:r>
              <a:rPr lang="en-US" sz="2400" b="1" dirty="0">
                <a:solidFill>
                  <a:schemeClr val="tx1"/>
                </a:solidFill>
              </a:rPr>
              <a:t>Enter any postfix expression : 9 3 4 * 8 + 4 / –</a:t>
            </a:r>
          </a:p>
          <a:p>
            <a:pPr>
              <a:spcBef>
                <a:spcPts val="400"/>
              </a:spcBef>
              <a:buNone/>
            </a:pPr>
            <a:r>
              <a:rPr lang="en-US" sz="2400" b="1" dirty="0">
                <a:solidFill>
                  <a:schemeClr val="tx1"/>
                </a:solidFill>
              </a:rPr>
              <a:t>Value of the postfix expression = 4.00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14097000" cy="1356360"/>
          </a:xfrm>
        </p:spPr>
        <p:txBody>
          <a:bodyPr>
            <a:normAutofit/>
          </a:bodyPr>
          <a:lstStyle/>
          <a:p>
            <a:pPr marL="45720" indent="0">
              <a:spcBef>
                <a:spcPts val="100"/>
              </a:spcBef>
            </a:pPr>
            <a:r>
              <a:rPr lang="en-IN" sz="4000" spc="-150" dirty="0">
                <a:solidFill>
                  <a:srgbClr val="D20C9E"/>
                </a:solidFill>
              </a:rPr>
              <a:t>Convert the following infix expressions into prefix expressions</a:t>
            </a:r>
            <a:br>
              <a:rPr lang="en-IN" sz="4000" dirty="0">
                <a:solidFill>
                  <a:srgbClr val="D20C9E"/>
                </a:solidFill>
              </a:rPr>
            </a:br>
            <a:endParaRPr lang="en-IN" sz="4000" dirty="0">
              <a:solidFill>
                <a:srgbClr val="D20C9E"/>
              </a:solidFill>
            </a:endParaRPr>
          </a:p>
        </p:txBody>
      </p:sp>
      <p:sp>
        <p:nvSpPr>
          <p:cNvPr id="8" name="Content Placeholder 7"/>
          <p:cNvSpPr>
            <a:spLocks noGrp="1"/>
          </p:cNvSpPr>
          <p:nvPr>
            <p:ph idx="1"/>
          </p:nvPr>
        </p:nvSpPr>
        <p:spPr>
          <a:xfrm>
            <a:off x="533400" y="1183341"/>
            <a:ext cx="10787271" cy="5638800"/>
          </a:xfrm>
        </p:spPr>
        <p:txBody>
          <a:bodyPr>
            <a:normAutofit/>
          </a:bodyPr>
          <a:lstStyle/>
          <a:p>
            <a:pPr marL="45720" indent="0">
              <a:spcBef>
                <a:spcPts val="100"/>
              </a:spcBef>
              <a:buNone/>
            </a:pPr>
            <a:r>
              <a:rPr lang="en-IN" sz="2800" b="1" dirty="0">
                <a:solidFill>
                  <a:schemeClr val="tx1"/>
                </a:solidFill>
              </a:rPr>
              <a:t>(a) </a:t>
            </a:r>
            <a:r>
              <a:rPr lang="en-IN" sz="3200" b="1" dirty="0">
                <a:solidFill>
                  <a:srgbClr val="FFFF00"/>
                </a:solidFill>
                <a:highlight>
                  <a:srgbClr val="FF00FF"/>
                </a:highlight>
                <a:ea typeface="Calibri" panose="020F0502020204030204" pitchFamily="34" charset="0"/>
              </a:rPr>
              <a:t>(A + B) * C</a:t>
            </a:r>
          </a:p>
          <a:p>
            <a:pPr marL="573088" indent="36513">
              <a:spcBef>
                <a:spcPts val="100"/>
              </a:spcBef>
              <a:buNone/>
            </a:pPr>
            <a:r>
              <a:rPr lang="en-IN" sz="2800" b="1" i="1" u="sng" dirty="0">
                <a:solidFill>
                  <a:schemeClr val="tx1"/>
                </a:solidFill>
              </a:rPr>
              <a:t>Solution</a:t>
            </a:r>
          </a:p>
          <a:p>
            <a:pPr marL="1435100" indent="0">
              <a:spcBef>
                <a:spcPts val="100"/>
              </a:spcBef>
              <a:buNone/>
            </a:pPr>
            <a:r>
              <a:rPr lang="en-IN" sz="2800" spc="300" dirty="0">
                <a:solidFill>
                  <a:schemeClr val="tx1"/>
                </a:solidFill>
              </a:rPr>
              <a:t>(+AB)*C</a:t>
            </a:r>
          </a:p>
          <a:p>
            <a:pPr marL="1435100" indent="0">
              <a:spcBef>
                <a:spcPts val="100"/>
              </a:spcBef>
              <a:buNone/>
            </a:pPr>
            <a:r>
              <a:rPr lang="en-IN" sz="2800" b="1" dirty="0">
                <a:solidFill>
                  <a:schemeClr val="tx1"/>
                </a:solidFill>
                <a:highlight>
                  <a:srgbClr val="00FF00"/>
                </a:highlight>
                <a:ea typeface="Calibri" panose="020F0502020204030204" pitchFamily="34" charset="0"/>
              </a:rPr>
              <a:t>*+ABC</a:t>
            </a:r>
          </a:p>
          <a:p>
            <a:pPr marL="45720" indent="0">
              <a:spcBef>
                <a:spcPts val="100"/>
              </a:spcBef>
              <a:buNone/>
            </a:pPr>
            <a:r>
              <a:rPr lang="en-IN" sz="2800" b="1" dirty="0">
                <a:solidFill>
                  <a:schemeClr val="tx1"/>
                </a:solidFill>
              </a:rPr>
              <a:t>(b) </a:t>
            </a:r>
            <a:r>
              <a:rPr lang="en-IN" sz="3200" b="1" dirty="0">
                <a:solidFill>
                  <a:srgbClr val="FFFF00"/>
                </a:solidFill>
                <a:highlight>
                  <a:srgbClr val="FF00FF"/>
                </a:highlight>
                <a:ea typeface="Calibri" panose="020F0502020204030204" pitchFamily="34" charset="0"/>
              </a:rPr>
              <a:t>(A–B) * (C+D)</a:t>
            </a:r>
          </a:p>
          <a:p>
            <a:pPr marL="573088" indent="36513">
              <a:spcBef>
                <a:spcPts val="100"/>
              </a:spcBef>
              <a:buNone/>
            </a:pPr>
            <a:r>
              <a:rPr lang="en-IN" sz="2800" b="1" i="1" u="sng" dirty="0">
                <a:solidFill>
                  <a:schemeClr val="tx1"/>
                </a:solidFill>
              </a:rPr>
              <a:t>Solution</a:t>
            </a:r>
          </a:p>
          <a:p>
            <a:pPr marL="1435100" indent="0">
              <a:spcBef>
                <a:spcPts val="100"/>
              </a:spcBef>
              <a:buNone/>
            </a:pPr>
            <a:r>
              <a:rPr lang="en-IN" sz="2800" spc="300" dirty="0">
                <a:solidFill>
                  <a:schemeClr val="tx1"/>
                </a:solidFill>
              </a:rPr>
              <a:t>[–AB] * [+CD]</a:t>
            </a:r>
          </a:p>
          <a:p>
            <a:pPr marL="1435100" indent="0">
              <a:spcBef>
                <a:spcPts val="100"/>
              </a:spcBef>
              <a:buNone/>
            </a:pPr>
            <a:r>
              <a:rPr lang="en-IN" sz="2800" b="1" dirty="0">
                <a:solidFill>
                  <a:schemeClr val="tx1"/>
                </a:solidFill>
                <a:highlight>
                  <a:srgbClr val="00FF00"/>
                </a:highlight>
                <a:ea typeface="Calibri" panose="020F0502020204030204" pitchFamily="34" charset="0"/>
              </a:rPr>
              <a:t>*–AB+CD</a:t>
            </a:r>
          </a:p>
          <a:p>
            <a:pPr marL="45720" indent="0">
              <a:spcBef>
                <a:spcPts val="100"/>
              </a:spcBef>
              <a:buNone/>
            </a:pPr>
            <a:r>
              <a:rPr lang="pt-BR" sz="2800" b="1" dirty="0">
                <a:solidFill>
                  <a:schemeClr val="tx1"/>
                </a:solidFill>
              </a:rPr>
              <a:t>(c) </a:t>
            </a:r>
            <a:r>
              <a:rPr lang="pt-BR" sz="3200" b="1" dirty="0">
                <a:solidFill>
                  <a:srgbClr val="FFFF00"/>
                </a:solidFill>
                <a:highlight>
                  <a:srgbClr val="FF00FF"/>
                </a:highlight>
                <a:ea typeface="Calibri" panose="020F0502020204030204" pitchFamily="34" charset="0"/>
              </a:rPr>
              <a:t>(A + B) / ( C + D) – ( D * E)</a:t>
            </a:r>
          </a:p>
          <a:p>
            <a:pPr marL="573088" indent="36513">
              <a:spcBef>
                <a:spcPts val="100"/>
              </a:spcBef>
              <a:buNone/>
            </a:pPr>
            <a:r>
              <a:rPr lang="en-IN" sz="2800" b="1" i="1" u="sng" dirty="0">
                <a:solidFill>
                  <a:schemeClr val="tx1"/>
                </a:solidFill>
              </a:rPr>
              <a:t>Solution</a:t>
            </a:r>
            <a:endParaRPr lang="pt-BR" sz="2800" b="1" u="sng" dirty="0">
              <a:solidFill>
                <a:schemeClr val="tx1"/>
              </a:solidFill>
            </a:endParaRPr>
          </a:p>
          <a:p>
            <a:pPr marL="1435100" indent="0">
              <a:spcBef>
                <a:spcPts val="100"/>
              </a:spcBef>
              <a:buNone/>
            </a:pPr>
            <a:r>
              <a:rPr lang="en-IN" sz="2800" spc="300" dirty="0">
                <a:solidFill>
                  <a:schemeClr val="tx1"/>
                </a:solidFill>
              </a:rPr>
              <a:t>[+AB] / [+CD] – [*DE]</a:t>
            </a:r>
          </a:p>
          <a:p>
            <a:pPr marL="1435100" indent="0">
              <a:spcBef>
                <a:spcPts val="100"/>
              </a:spcBef>
              <a:buNone/>
            </a:pPr>
            <a:r>
              <a:rPr lang="en-IN" sz="2800" spc="300" dirty="0">
                <a:solidFill>
                  <a:schemeClr val="tx1"/>
                </a:solidFill>
              </a:rPr>
              <a:t>[/+AB+CD] – [*DE]</a:t>
            </a:r>
          </a:p>
          <a:p>
            <a:pPr marL="1435100" indent="0">
              <a:spcBef>
                <a:spcPts val="100"/>
              </a:spcBef>
              <a:buNone/>
            </a:pPr>
            <a:r>
              <a:rPr lang="en-IN" sz="2800" b="1" dirty="0">
                <a:solidFill>
                  <a:schemeClr val="tx1"/>
                </a:solidFill>
                <a:highlight>
                  <a:srgbClr val="00FF00"/>
                </a:highlight>
                <a:ea typeface="Calibri" panose="020F0502020204030204" pitchFamily="34" charset="0"/>
              </a:rPr>
              <a:t>–/+AB+CD*DE</a:t>
            </a:r>
          </a:p>
        </p:txBody>
      </p:sp>
    </p:spTree>
    <p:extLst>
      <p:ext uri="{BB962C8B-B14F-4D97-AF65-F5344CB8AC3E}">
        <p14:creationId xmlns:p14="http://schemas.microsoft.com/office/powerpoint/2010/main" val="275867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xEl>
                                              <p:pRg st="3" end="3"/>
                                            </p:txEl>
                                          </p:spTgt>
                                        </p:tgtEl>
                                        <p:attrNameLst>
                                          <p:attrName>style.visibility</p:attrName>
                                        </p:attrNameLst>
                                      </p:cBhvr>
                                      <p:to>
                                        <p:strVal val="visible"/>
                                      </p:to>
                                    </p:set>
                                    <p:animEffect transition="in" filter="fade">
                                      <p:cBhvr>
                                        <p:cTn id="28" dur="1000"/>
                                        <p:tgtEl>
                                          <p:spTgt spid="8">
                                            <p:txEl>
                                              <p:pRg st="3" end="3"/>
                                            </p:txEl>
                                          </p:spTgt>
                                        </p:tgtEl>
                                      </p:cBhvr>
                                    </p:animEffect>
                                    <p:anim calcmode="lin" valueType="num">
                                      <p:cBhvr>
                                        <p:cTn id="29" dur="1000" fill="hold"/>
                                        <p:tgtEl>
                                          <p:spTgt spid="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animEffect transition="in" filter="fade">
                                      <p:cBhvr>
                                        <p:cTn id="35" dur="1000"/>
                                        <p:tgtEl>
                                          <p:spTgt spid="8">
                                            <p:txEl>
                                              <p:pRg st="4" end="4"/>
                                            </p:txEl>
                                          </p:spTgt>
                                        </p:tgtEl>
                                      </p:cBhvr>
                                    </p:animEffect>
                                    <p:anim calcmode="lin" valueType="num">
                                      <p:cBhvr>
                                        <p:cTn id="36" dur="1000" fill="hold"/>
                                        <p:tgtEl>
                                          <p:spTgt spid="8">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8">
                                            <p:txEl>
                                              <p:pRg st="5" end="5"/>
                                            </p:txEl>
                                          </p:spTgt>
                                        </p:tgtEl>
                                        <p:attrNameLst>
                                          <p:attrName>style.visibility</p:attrName>
                                        </p:attrNameLst>
                                      </p:cBhvr>
                                      <p:to>
                                        <p:strVal val="visible"/>
                                      </p:to>
                                    </p:set>
                                    <p:animEffect transition="in" filter="fade">
                                      <p:cBhvr>
                                        <p:cTn id="42" dur="1000"/>
                                        <p:tgtEl>
                                          <p:spTgt spid="8">
                                            <p:txEl>
                                              <p:pRg st="5" end="5"/>
                                            </p:txEl>
                                          </p:spTgt>
                                        </p:tgtEl>
                                      </p:cBhvr>
                                    </p:animEffect>
                                    <p:anim calcmode="lin" valueType="num">
                                      <p:cBhvr>
                                        <p:cTn id="43" dur="1000" fill="hold"/>
                                        <p:tgtEl>
                                          <p:spTgt spid="8">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8">
                                            <p:txEl>
                                              <p:pRg st="6" end="6"/>
                                            </p:txEl>
                                          </p:spTgt>
                                        </p:tgtEl>
                                        <p:attrNameLst>
                                          <p:attrName>style.visibility</p:attrName>
                                        </p:attrNameLst>
                                      </p:cBhvr>
                                      <p:to>
                                        <p:strVal val="visible"/>
                                      </p:to>
                                    </p:set>
                                    <p:animEffect transition="in" filter="fade">
                                      <p:cBhvr>
                                        <p:cTn id="49" dur="1000"/>
                                        <p:tgtEl>
                                          <p:spTgt spid="8">
                                            <p:txEl>
                                              <p:pRg st="6" end="6"/>
                                            </p:txEl>
                                          </p:spTgt>
                                        </p:tgtEl>
                                      </p:cBhvr>
                                    </p:animEffect>
                                    <p:anim calcmode="lin" valueType="num">
                                      <p:cBhvr>
                                        <p:cTn id="50"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8">
                                            <p:txEl>
                                              <p:pRg st="7" end="7"/>
                                            </p:txEl>
                                          </p:spTgt>
                                        </p:tgtEl>
                                        <p:attrNameLst>
                                          <p:attrName>style.visibility</p:attrName>
                                        </p:attrNameLst>
                                      </p:cBhvr>
                                      <p:to>
                                        <p:strVal val="visible"/>
                                      </p:to>
                                    </p:set>
                                    <p:animEffect transition="in" filter="fade">
                                      <p:cBhvr>
                                        <p:cTn id="56" dur="1000"/>
                                        <p:tgtEl>
                                          <p:spTgt spid="8">
                                            <p:txEl>
                                              <p:pRg st="7" end="7"/>
                                            </p:txEl>
                                          </p:spTgt>
                                        </p:tgtEl>
                                      </p:cBhvr>
                                    </p:animEffect>
                                    <p:anim calcmode="lin" valueType="num">
                                      <p:cBhvr>
                                        <p:cTn id="57"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8">
                                            <p:txEl>
                                              <p:pRg st="8" end="8"/>
                                            </p:txEl>
                                          </p:spTgt>
                                        </p:tgtEl>
                                        <p:attrNameLst>
                                          <p:attrName>style.visibility</p:attrName>
                                        </p:attrNameLst>
                                      </p:cBhvr>
                                      <p:to>
                                        <p:strVal val="visible"/>
                                      </p:to>
                                    </p:set>
                                    <p:animEffect transition="in" filter="fade">
                                      <p:cBhvr>
                                        <p:cTn id="63" dur="1000"/>
                                        <p:tgtEl>
                                          <p:spTgt spid="8">
                                            <p:txEl>
                                              <p:pRg st="8" end="8"/>
                                            </p:txEl>
                                          </p:spTgt>
                                        </p:tgtEl>
                                      </p:cBhvr>
                                    </p:animEffect>
                                    <p:anim calcmode="lin" valueType="num">
                                      <p:cBhvr>
                                        <p:cTn id="64" dur="1000" fill="hold"/>
                                        <p:tgtEl>
                                          <p:spTgt spid="8">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8">
                                            <p:txEl>
                                              <p:pRg st="9" end="9"/>
                                            </p:txEl>
                                          </p:spTgt>
                                        </p:tgtEl>
                                        <p:attrNameLst>
                                          <p:attrName>style.visibility</p:attrName>
                                        </p:attrNameLst>
                                      </p:cBhvr>
                                      <p:to>
                                        <p:strVal val="visible"/>
                                      </p:to>
                                    </p:set>
                                    <p:animEffect transition="in" filter="fade">
                                      <p:cBhvr>
                                        <p:cTn id="70" dur="1000"/>
                                        <p:tgtEl>
                                          <p:spTgt spid="8">
                                            <p:txEl>
                                              <p:pRg st="9" end="9"/>
                                            </p:txEl>
                                          </p:spTgt>
                                        </p:tgtEl>
                                      </p:cBhvr>
                                    </p:animEffect>
                                    <p:anim calcmode="lin" valueType="num">
                                      <p:cBhvr>
                                        <p:cTn id="71" dur="1000" fill="hold"/>
                                        <p:tgtEl>
                                          <p:spTgt spid="8">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8">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8">
                                            <p:txEl>
                                              <p:pRg st="10" end="10"/>
                                            </p:txEl>
                                          </p:spTgt>
                                        </p:tgtEl>
                                        <p:attrNameLst>
                                          <p:attrName>style.visibility</p:attrName>
                                        </p:attrNameLst>
                                      </p:cBhvr>
                                      <p:to>
                                        <p:strVal val="visible"/>
                                      </p:to>
                                    </p:set>
                                    <p:animEffect transition="in" filter="fade">
                                      <p:cBhvr>
                                        <p:cTn id="77" dur="1000"/>
                                        <p:tgtEl>
                                          <p:spTgt spid="8">
                                            <p:txEl>
                                              <p:pRg st="10" end="10"/>
                                            </p:txEl>
                                          </p:spTgt>
                                        </p:tgtEl>
                                      </p:cBhvr>
                                    </p:animEffect>
                                    <p:anim calcmode="lin" valueType="num">
                                      <p:cBhvr>
                                        <p:cTn id="78" dur="1000" fill="hold"/>
                                        <p:tgtEl>
                                          <p:spTgt spid="8">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8">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8">
                                            <p:txEl>
                                              <p:pRg st="11" end="11"/>
                                            </p:txEl>
                                          </p:spTgt>
                                        </p:tgtEl>
                                        <p:attrNameLst>
                                          <p:attrName>style.visibility</p:attrName>
                                        </p:attrNameLst>
                                      </p:cBhvr>
                                      <p:to>
                                        <p:strVal val="visible"/>
                                      </p:to>
                                    </p:set>
                                    <p:animEffect transition="in" filter="fade">
                                      <p:cBhvr>
                                        <p:cTn id="84" dur="1000"/>
                                        <p:tgtEl>
                                          <p:spTgt spid="8">
                                            <p:txEl>
                                              <p:pRg st="11" end="11"/>
                                            </p:txEl>
                                          </p:spTgt>
                                        </p:tgtEl>
                                      </p:cBhvr>
                                    </p:animEffect>
                                    <p:anim calcmode="lin" valueType="num">
                                      <p:cBhvr>
                                        <p:cTn id="85" dur="1000" fill="hold"/>
                                        <p:tgtEl>
                                          <p:spTgt spid="8">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8">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8">
                                            <p:txEl>
                                              <p:pRg st="12" end="12"/>
                                            </p:txEl>
                                          </p:spTgt>
                                        </p:tgtEl>
                                        <p:attrNameLst>
                                          <p:attrName>style.visibility</p:attrName>
                                        </p:attrNameLst>
                                      </p:cBhvr>
                                      <p:to>
                                        <p:strVal val="visible"/>
                                      </p:to>
                                    </p:set>
                                    <p:animEffect transition="in" filter="fade">
                                      <p:cBhvr>
                                        <p:cTn id="91" dur="1000"/>
                                        <p:tgtEl>
                                          <p:spTgt spid="8">
                                            <p:txEl>
                                              <p:pRg st="12" end="12"/>
                                            </p:txEl>
                                          </p:spTgt>
                                        </p:tgtEl>
                                      </p:cBhvr>
                                    </p:animEffect>
                                    <p:anim calcmode="lin" valueType="num">
                                      <p:cBhvr>
                                        <p:cTn id="92" dur="1000" fill="hold"/>
                                        <p:tgtEl>
                                          <p:spTgt spid="8">
                                            <p:txEl>
                                              <p:pRg st="12" end="12"/>
                                            </p:txEl>
                                          </p:spTgt>
                                        </p:tgtEl>
                                        <p:attrNameLst>
                                          <p:attrName>ppt_x</p:attrName>
                                        </p:attrNameLst>
                                      </p:cBhvr>
                                      <p:tavLst>
                                        <p:tav tm="0">
                                          <p:val>
                                            <p:strVal val="#ppt_x"/>
                                          </p:val>
                                        </p:tav>
                                        <p:tav tm="100000">
                                          <p:val>
                                            <p:strVal val="#ppt_x"/>
                                          </p:val>
                                        </p:tav>
                                      </p:tavLst>
                                    </p:anim>
                                    <p:anim calcmode="lin" valueType="num">
                                      <p:cBhvr>
                                        <p:cTn id="93" dur="1000" fill="hold"/>
                                        <p:tgtEl>
                                          <p:spTgt spid="8">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6" presetClass="emph" presetSubtype="0" fill="hold" grpId="0" nodeType="clickEffect">
                                  <p:stCondLst>
                                    <p:cond delay="0"/>
                                  </p:stCondLst>
                                  <p:childTnLst>
                                    <p:animEffect transition="out" filter="fade">
                                      <p:cBhvr>
                                        <p:cTn id="97" dur="500" tmFilter="0, 0; .2, .5; .8, .5; 1, 0"/>
                                        <p:tgtEl>
                                          <p:spTgt spid="2"/>
                                        </p:tgtEl>
                                      </p:cBhvr>
                                    </p:animEffect>
                                    <p:animScale>
                                      <p:cBhvr>
                                        <p:cTn id="98" dur="250" autoRev="1" fill="hold"/>
                                        <p:tgtEl>
                                          <p:spTgt spid="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28600" y="0"/>
            <a:ext cx="12576412" cy="1356360"/>
          </a:xfrm>
        </p:spPr>
        <p:txBody>
          <a:bodyPr>
            <a:noAutofit/>
          </a:bodyPr>
          <a:lstStyle/>
          <a:p>
            <a:pPr marL="45720" indent="0">
              <a:spcBef>
                <a:spcPts val="600"/>
              </a:spcBef>
            </a:pPr>
            <a:r>
              <a:rPr lang="en-IN" sz="4000" spc="-150" dirty="0">
                <a:solidFill>
                  <a:srgbClr val="D20C9E"/>
                </a:solidFill>
              </a:rPr>
              <a:t>Algorithm to convert an infix expression into prefix expression</a:t>
            </a:r>
          </a:p>
        </p:txBody>
      </p:sp>
      <p:sp>
        <p:nvSpPr>
          <p:cNvPr id="4" name="Content Placeholder 3"/>
          <p:cNvSpPr>
            <a:spLocks noGrp="1"/>
          </p:cNvSpPr>
          <p:nvPr>
            <p:ph idx="1"/>
          </p:nvPr>
        </p:nvSpPr>
        <p:spPr>
          <a:xfrm>
            <a:off x="453788" y="1219200"/>
            <a:ext cx="10138011" cy="5105400"/>
          </a:xfrm>
        </p:spPr>
        <p:txBody>
          <a:bodyPr>
            <a:noAutofit/>
          </a:bodyPr>
          <a:lstStyle/>
          <a:p>
            <a:pPr marL="45720" indent="0">
              <a:spcBef>
                <a:spcPts val="600"/>
              </a:spcBef>
              <a:buNone/>
            </a:pPr>
            <a:r>
              <a:rPr lang="en-IN" sz="3600" b="1" dirty="0">
                <a:solidFill>
                  <a:srgbClr val="FFFF00"/>
                </a:solidFill>
                <a:highlight>
                  <a:srgbClr val="FF00FF"/>
                </a:highlight>
                <a:ea typeface="Calibri" panose="020F0502020204030204" pitchFamily="34" charset="0"/>
              </a:rPr>
              <a:t>Step 1:</a:t>
            </a:r>
            <a:r>
              <a:rPr lang="en-IN" sz="3600" dirty="0">
                <a:solidFill>
                  <a:schemeClr val="tx1"/>
                </a:solidFill>
              </a:rPr>
              <a:t> Reverse the infix string. Note that while 		     reversing the string you must </a:t>
            </a:r>
          </a:p>
          <a:p>
            <a:pPr marL="45720" indent="0">
              <a:spcBef>
                <a:spcPts val="600"/>
              </a:spcBef>
              <a:buNone/>
            </a:pPr>
            <a:r>
              <a:rPr lang="en-IN" sz="3600" dirty="0">
                <a:solidFill>
                  <a:schemeClr val="tx1"/>
                </a:solidFill>
              </a:rPr>
              <a:t>	     Interchange left and right parentheses.</a:t>
            </a:r>
          </a:p>
          <a:p>
            <a:pPr marL="45720" indent="0">
              <a:spcBef>
                <a:spcPts val="600"/>
              </a:spcBef>
              <a:buNone/>
            </a:pPr>
            <a:endParaRPr lang="en-IN" sz="3600" dirty="0">
              <a:solidFill>
                <a:schemeClr val="tx1"/>
              </a:solidFill>
            </a:endParaRPr>
          </a:p>
          <a:p>
            <a:pPr marL="45720" indent="0">
              <a:spcBef>
                <a:spcPts val="600"/>
              </a:spcBef>
              <a:buNone/>
            </a:pPr>
            <a:r>
              <a:rPr lang="en-IN" sz="3600" b="1" dirty="0">
                <a:solidFill>
                  <a:srgbClr val="FFFF00"/>
                </a:solidFill>
                <a:highlight>
                  <a:srgbClr val="FF00FF"/>
                </a:highlight>
                <a:ea typeface="Calibri" panose="020F0502020204030204" pitchFamily="34" charset="0"/>
              </a:rPr>
              <a:t>Step 2:</a:t>
            </a:r>
            <a:r>
              <a:rPr lang="en-IN" sz="3600" dirty="0">
                <a:solidFill>
                  <a:schemeClr val="tx1"/>
                </a:solidFill>
              </a:rPr>
              <a:t> Obtain the postfix expression of the</a:t>
            </a:r>
          </a:p>
          <a:p>
            <a:pPr marL="45720" indent="0">
              <a:spcBef>
                <a:spcPts val="600"/>
              </a:spcBef>
              <a:buNone/>
            </a:pPr>
            <a:r>
              <a:rPr lang="en-IN" sz="3600" dirty="0">
                <a:solidFill>
                  <a:schemeClr val="tx1"/>
                </a:solidFill>
              </a:rPr>
              <a:t>              infix expression obtained in Step 1.</a:t>
            </a:r>
          </a:p>
          <a:p>
            <a:pPr marL="45720" indent="0">
              <a:spcBef>
                <a:spcPts val="600"/>
              </a:spcBef>
              <a:buNone/>
            </a:pPr>
            <a:endParaRPr lang="en-IN" sz="3600" dirty="0">
              <a:solidFill>
                <a:schemeClr val="tx1"/>
              </a:solidFill>
            </a:endParaRPr>
          </a:p>
          <a:p>
            <a:pPr marL="45720" indent="0">
              <a:spcBef>
                <a:spcPts val="600"/>
              </a:spcBef>
              <a:buNone/>
            </a:pPr>
            <a:r>
              <a:rPr lang="en-IN" sz="3600" b="1" dirty="0">
                <a:solidFill>
                  <a:srgbClr val="FFFF00"/>
                </a:solidFill>
                <a:highlight>
                  <a:srgbClr val="FF00FF"/>
                </a:highlight>
                <a:ea typeface="Calibri" panose="020F0502020204030204" pitchFamily="34" charset="0"/>
              </a:rPr>
              <a:t>Step 3:</a:t>
            </a:r>
            <a:r>
              <a:rPr lang="en-IN" sz="3600" dirty="0">
                <a:solidFill>
                  <a:schemeClr val="tx1"/>
                </a:solidFill>
              </a:rPr>
              <a:t> Reverse the postfix expression to get the</a:t>
            </a:r>
          </a:p>
          <a:p>
            <a:pPr marL="45720" indent="0">
              <a:spcBef>
                <a:spcPts val="600"/>
              </a:spcBef>
              <a:buNone/>
            </a:pPr>
            <a:r>
              <a:rPr lang="en-IN" sz="3600" dirty="0">
                <a:solidFill>
                  <a:schemeClr val="tx1"/>
                </a:solidFill>
              </a:rPr>
              <a:t>             prefix expression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2115800" cy="1356360"/>
          </a:xfrm>
        </p:spPr>
        <p:txBody>
          <a:bodyPr>
            <a:normAutofit fontScale="90000"/>
          </a:bodyPr>
          <a:lstStyle/>
          <a:p>
            <a:pPr marL="45720" indent="0">
              <a:spcBef>
                <a:spcPts val="100"/>
              </a:spcBef>
            </a:pPr>
            <a:r>
              <a:rPr lang="en-IN" b="1" spc="-150" dirty="0">
                <a:solidFill>
                  <a:srgbClr val="CC0066"/>
                </a:solidFill>
              </a:rPr>
              <a:t>For example, given an infix expression (A – B / C) * (A / K – L)</a:t>
            </a:r>
            <a:br>
              <a:rPr lang="en-IN" dirty="0"/>
            </a:br>
            <a:endParaRPr lang="en-US" dirty="0"/>
          </a:p>
        </p:txBody>
      </p:sp>
      <p:sp>
        <p:nvSpPr>
          <p:cNvPr id="3" name="Content Placeholder 2"/>
          <p:cNvSpPr>
            <a:spLocks noGrp="1"/>
          </p:cNvSpPr>
          <p:nvPr>
            <p:ph idx="1"/>
          </p:nvPr>
        </p:nvSpPr>
        <p:spPr>
          <a:xfrm>
            <a:off x="304800" y="990600"/>
            <a:ext cx="9872871" cy="5486400"/>
          </a:xfrm>
        </p:spPr>
        <p:txBody>
          <a:bodyPr>
            <a:noAutofit/>
          </a:bodyPr>
          <a:lstStyle/>
          <a:p>
            <a:pPr marL="45720" indent="0">
              <a:spcBef>
                <a:spcPts val="100"/>
              </a:spcBef>
              <a:buNone/>
            </a:pPr>
            <a:r>
              <a:rPr lang="en-IN" sz="3200" dirty="0">
                <a:solidFill>
                  <a:srgbClr val="CC0066"/>
                </a:solidFill>
                <a:highlight>
                  <a:srgbClr val="FFFF00"/>
                </a:highlight>
                <a:ea typeface="Calibri" panose="020F0502020204030204" pitchFamily="34" charset="0"/>
              </a:rPr>
              <a:t>Step 1:</a:t>
            </a:r>
            <a:r>
              <a:rPr lang="en-IN" sz="2800" b="1" i="1" dirty="0">
                <a:solidFill>
                  <a:schemeClr val="tx1"/>
                </a:solidFill>
              </a:rPr>
              <a:t> </a:t>
            </a:r>
            <a:r>
              <a:rPr lang="en-IN" sz="2800" i="1" dirty="0">
                <a:solidFill>
                  <a:schemeClr val="tx1"/>
                </a:solidFill>
              </a:rPr>
              <a:t>Reverse the infix string. Note that while reversing the string you must interchange left and right parentheses.</a:t>
            </a:r>
          </a:p>
          <a:p>
            <a:pPr marL="45720" indent="0" algn="ctr">
              <a:spcBef>
                <a:spcPts val="100"/>
              </a:spcBef>
              <a:buNone/>
            </a:pPr>
            <a:r>
              <a:rPr lang="pt-BR" sz="2800" b="1" dirty="0">
                <a:solidFill>
                  <a:schemeClr val="tx1"/>
                </a:solidFill>
              </a:rPr>
              <a:t>(L – K / A) * (C / B – A)</a:t>
            </a:r>
          </a:p>
          <a:p>
            <a:pPr marL="45720" indent="0">
              <a:spcBef>
                <a:spcPts val="100"/>
              </a:spcBef>
              <a:buNone/>
            </a:pPr>
            <a:r>
              <a:rPr lang="en-IN" sz="3200" dirty="0">
                <a:solidFill>
                  <a:srgbClr val="CC0066"/>
                </a:solidFill>
                <a:highlight>
                  <a:srgbClr val="FFFF00"/>
                </a:highlight>
                <a:ea typeface="Calibri" panose="020F0502020204030204" pitchFamily="34" charset="0"/>
              </a:rPr>
              <a:t>Step 2:</a:t>
            </a:r>
            <a:r>
              <a:rPr lang="en-IN" sz="2800" b="1" i="1" dirty="0">
                <a:solidFill>
                  <a:schemeClr val="tx1"/>
                </a:solidFill>
              </a:rPr>
              <a:t> </a:t>
            </a:r>
            <a:r>
              <a:rPr lang="en-IN" sz="2800" i="1" dirty="0">
                <a:solidFill>
                  <a:schemeClr val="tx1"/>
                </a:solidFill>
              </a:rPr>
              <a:t>Obtain the corresponding postfix expression of the infix expression obtained as a result of Step 1.</a:t>
            </a:r>
          </a:p>
          <a:p>
            <a:pPr marL="45720" indent="0" algn="ctr">
              <a:spcBef>
                <a:spcPts val="100"/>
              </a:spcBef>
              <a:buNone/>
            </a:pPr>
            <a:r>
              <a:rPr lang="en-IN" sz="2800" b="1" dirty="0">
                <a:solidFill>
                  <a:schemeClr val="tx1"/>
                </a:solidFill>
              </a:rPr>
              <a:t>The expression is: (L – K / A) * (C / B – A)</a:t>
            </a:r>
          </a:p>
          <a:p>
            <a:pPr marL="45720" indent="0" algn="ctr">
              <a:spcBef>
                <a:spcPts val="100"/>
              </a:spcBef>
              <a:buNone/>
            </a:pPr>
            <a:r>
              <a:rPr lang="en-IN" sz="2800" b="1" dirty="0">
                <a:solidFill>
                  <a:schemeClr val="tx1"/>
                </a:solidFill>
              </a:rPr>
              <a:t>Therefore, [L – (K A /)] * [(C B /) – A]</a:t>
            </a:r>
          </a:p>
          <a:p>
            <a:pPr marL="45720" indent="0" algn="ctr">
              <a:spcBef>
                <a:spcPts val="100"/>
              </a:spcBef>
              <a:buNone/>
            </a:pPr>
            <a:r>
              <a:rPr lang="en-IN" sz="2800" b="1" dirty="0">
                <a:solidFill>
                  <a:schemeClr val="tx1"/>
                </a:solidFill>
              </a:rPr>
              <a:t>[LKA/–] * [CB/A–]</a:t>
            </a:r>
          </a:p>
          <a:p>
            <a:pPr marL="45720" indent="0" algn="ctr">
              <a:spcBef>
                <a:spcPts val="100"/>
              </a:spcBef>
              <a:buNone/>
            </a:pPr>
            <a:r>
              <a:rPr lang="pt-BR" sz="2800" b="1" dirty="0">
                <a:solidFill>
                  <a:schemeClr val="tx1"/>
                </a:solidFill>
              </a:rPr>
              <a:t>L K A / – C B / A – *</a:t>
            </a:r>
          </a:p>
          <a:p>
            <a:pPr marL="45720" indent="0">
              <a:spcBef>
                <a:spcPts val="100"/>
              </a:spcBef>
              <a:buNone/>
            </a:pPr>
            <a:r>
              <a:rPr lang="en-IN" sz="3200" dirty="0">
                <a:solidFill>
                  <a:srgbClr val="CC0066"/>
                </a:solidFill>
                <a:highlight>
                  <a:srgbClr val="FFFF00"/>
                </a:highlight>
                <a:ea typeface="Calibri" panose="020F0502020204030204" pitchFamily="34" charset="0"/>
              </a:rPr>
              <a:t>Step 3:</a:t>
            </a:r>
            <a:r>
              <a:rPr lang="en-IN" sz="2800" b="1" i="1" dirty="0">
                <a:solidFill>
                  <a:schemeClr val="tx1"/>
                </a:solidFill>
              </a:rPr>
              <a:t> </a:t>
            </a:r>
            <a:r>
              <a:rPr lang="en-IN" sz="2800" i="1" dirty="0">
                <a:solidFill>
                  <a:schemeClr val="tx1"/>
                </a:solidFill>
              </a:rPr>
              <a:t>Reverse the postfix expression to get the prefix expression</a:t>
            </a:r>
          </a:p>
          <a:p>
            <a:pPr marL="45720" indent="0" algn="ctr">
              <a:spcBef>
                <a:spcPts val="100"/>
              </a:spcBef>
              <a:buNone/>
            </a:pPr>
            <a:r>
              <a:rPr lang="en-IN" sz="2800" b="1" dirty="0">
                <a:solidFill>
                  <a:schemeClr val="tx1"/>
                </a:solidFill>
              </a:rPr>
              <a:t>Therefore, the prefix expression is </a:t>
            </a:r>
          </a:p>
          <a:p>
            <a:pPr marL="45720" indent="0" algn="ctr">
              <a:spcBef>
                <a:spcPts val="100"/>
              </a:spcBef>
              <a:buNone/>
            </a:pPr>
            <a:r>
              <a:rPr lang="en-IN" sz="2800" b="1" dirty="0">
                <a:solidFill>
                  <a:schemeClr val="tx1"/>
                </a:solidFill>
              </a:rPr>
              <a:t>* – A / B C – /A K L</a:t>
            </a:r>
            <a:endParaRPr lang="en-US" sz="2800" b="1" dirty="0">
              <a:solidFill>
                <a:schemeClr val="tx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03909"/>
            <a:ext cx="11887200" cy="1143000"/>
          </a:xfrm>
        </p:spPr>
        <p:txBody>
          <a:bodyPr>
            <a:normAutofit fontScale="90000"/>
          </a:bodyPr>
          <a:lstStyle/>
          <a:p>
            <a:r>
              <a:rPr lang="en-IN" b="1" spc="-150" dirty="0">
                <a:solidFill>
                  <a:srgbClr val="CC0066"/>
                </a:solidFill>
              </a:rPr>
              <a:t>Conversion of an Infix Expression into a Postfix Expression</a:t>
            </a:r>
            <a:endParaRPr lang="en-US" b="1" spc="-150" dirty="0">
              <a:solidFill>
                <a:srgbClr val="CC0066"/>
              </a:solidFill>
            </a:endParaRPr>
          </a:p>
        </p:txBody>
      </p:sp>
      <p:sp>
        <p:nvSpPr>
          <p:cNvPr id="3" name="Content Placeholder 2"/>
          <p:cNvSpPr>
            <a:spLocks noGrp="1"/>
          </p:cNvSpPr>
          <p:nvPr>
            <p:ph idx="1"/>
          </p:nvPr>
        </p:nvSpPr>
        <p:spPr>
          <a:xfrm>
            <a:off x="318655" y="1143000"/>
            <a:ext cx="8229600" cy="5257800"/>
          </a:xfrm>
        </p:spPr>
        <p:txBody>
          <a:bodyPr>
            <a:normAutofit fontScale="77500" lnSpcReduction="20000"/>
          </a:bodyPr>
          <a:lstStyle/>
          <a:p>
            <a:pPr>
              <a:buNone/>
            </a:pPr>
            <a:r>
              <a:rPr lang="en-US" sz="2400" b="1" dirty="0">
                <a:solidFill>
                  <a:schemeClr val="tx1"/>
                </a:solidFill>
                <a:latin typeface="Calibri" panose="020F0502020204030204" pitchFamily="34" charset="0"/>
                <a:cs typeface="Calibri" panose="020F0502020204030204" pitchFamily="34" charset="0"/>
              </a:rPr>
              <a:t>#include &lt;</a:t>
            </a:r>
            <a:r>
              <a:rPr lang="en-US" sz="2400" b="1" dirty="0" err="1">
                <a:solidFill>
                  <a:schemeClr val="tx1"/>
                </a:solidFill>
                <a:latin typeface="Calibri" panose="020F0502020204030204" pitchFamily="34" charset="0"/>
                <a:cs typeface="Calibri" panose="020F0502020204030204" pitchFamily="34" charset="0"/>
              </a:rPr>
              <a:t>stdio.h</a:t>
            </a:r>
            <a:r>
              <a:rPr lang="en-US" sz="2400" b="1" dirty="0">
                <a:solidFill>
                  <a:schemeClr val="tx1"/>
                </a:solidFill>
                <a:latin typeface="Calibri" panose="020F0502020204030204" pitchFamily="34" charset="0"/>
                <a:cs typeface="Calibri" panose="020F0502020204030204" pitchFamily="34" charset="0"/>
              </a:rPr>
              <a:t>&gt;</a:t>
            </a:r>
          </a:p>
          <a:p>
            <a:pPr>
              <a:buNone/>
            </a:pPr>
            <a:r>
              <a:rPr lang="en-US" sz="2400" b="1" dirty="0">
                <a:solidFill>
                  <a:schemeClr val="tx1"/>
                </a:solidFill>
                <a:latin typeface="Calibri" panose="020F0502020204030204" pitchFamily="34" charset="0"/>
                <a:cs typeface="Calibri" panose="020F0502020204030204" pitchFamily="34" charset="0"/>
              </a:rPr>
              <a:t>#include &lt;</a:t>
            </a:r>
            <a:r>
              <a:rPr lang="en-US" sz="2400" b="1" dirty="0" err="1">
                <a:solidFill>
                  <a:schemeClr val="tx1"/>
                </a:solidFill>
                <a:latin typeface="Calibri" panose="020F0502020204030204" pitchFamily="34" charset="0"/>
                <a:cs typeface="Calibri" panose="020F0502020204030204" pitchFamily="34" charset="0"/>
              </a:rPr>
              <a:t>conio.h</a:t>
            </a:r>
            <a:r>
              <a:rPr lang="en-US" sz="2400" b="1" dirty="0">
                <a:solidFill>
                  <a:schemeClr val="tx1"/>
                </a:solidFill>
                <a:latin typeface="Calibri" panose="020F0502020204030204" pitchFamily="34" charset="0"/>
                <a:cs typeface="Calibri" panose="020F0502020204030204" pitchFamily="34" charset="0"/>
              </a:rPr>
              <a:t>&gt;</a:t>
            </a:r>
          </a:p>
          <a:p>
            <a:pPr>
              <a:buNone/>
            </a:pPr>
            <a:r>
              <a:rPr lang="en-US" sz="2400" b="1" dirty="0">
                <a:solidFill>
                  <a:schemeClr val="tx1"/>
                </a:solidFill>
                <a:latin typeface="Calibri" panose="020F0502020204030204" pitchFamily="34" charset="0"/>
                <a:cs typeface="Calibri" panose="020F0502020204030204" pitchFamily="34" charset="0"/>
              </a:rPr>
              <a:t>#include &lt;</a:t>
            </a:r>
            <a:r>
              <a:rPr lang="en-US" sz="2400" b="1" dirty="0" err="1">
                <a:solidFill>
                  <a:schemeClr val="tx1"/>
                </a:solidFill>
                <a:latin typeface="Calibri" panose="020F0502020204030204" pitchFamily="34" charset="0"/>
                <a:cs typeface="Calibri" panose="020F0502020204030204" pitchFamily="34" charset="0"/>
              </a:rPr>
              <a:t>ctype.h</a:t>
            </a:r>
            <a:r>
              <a:rPr lang="en-US" sz="2400" b="1" dirty="0">
                <a:solidFill>
                  <a:schemeClr val="tx1"/>
                </a:solidFill>
                <a:latin typeface="Calibri" panose="020F0502020204030204" pitchFamily="34" charset="0"/>
                <a:cs typeface="Calibri" panose="020F0502020204030204" pitchFamily="34" charset="0"/>
              </a:rPr>
              <a:t>&gt;</a:t>
            </a:r>
          </a:p>
          <a:p>
            <a:pPr>
              <a:buNone/>
            </a:pPr>
            <a:r>
              <a:rPr lang="en-US" sz="2400" b="1" dirty="0">
                <a:solidFill>
                  <a:schemeClr val="tx1"/>
                </a:solidFill>
                <a:latin typeface="Calibri" panose="020F0502020204030204" pitchFamily="34" charset="0"/>
                <a:cs typeface="Calibri" panose="020F0502020204030204" pitchFamily="34" charset="0"/>
              </a:rPr>
              <a:t>#include &lt;</a:t>
            </a:r>
            <a:r>
              <a:rPr lang="en-US" sz="2400" b="1" dirty="0" err="1">
                <a:solidFill>
                  <a:schemeClr val="tx1"/>
                </a:solidFill>
                <a:latin typeface="Calibri" panose="020F0502020204030204" pitchFamily="34" charset="0"/>
                <a:cs typeface="Calibri" panose="020F0502020204030204" pitchFamily="34" charset="0"/>
              </a:rPr>
              <a:t>string.h</a:t>
            </a:r>
            <a:r>
              <a:rPr lang="en-US" sz="2400" b="1" dirty="0">
                <a:solidFill>
                  <a:schemeClr val="tx1"/>
                </a:solidFill>
                <a:latin typeface="Calibri" panose="020F0502020204030204" pitchFamily="34" charset="0"/>
                <a:cs typeface="Calibri" panose="020F0502020204030204" pitchFamily="34" charset="0"/>
              </a:rPr>
              <a:t>&gt;</a:t>
            </a:r>
          </a:p>
          <a:p>
            <a:pPr>
              <a:buNone/>
            </a:pPr>
            <a:r>
              <a:rPr lang="en-US" sz="2400" b="1" dirty="0">
                <a:solidFill>
                  <a:schemeClr val="tx1"/>
                </a:solidFill>
                <a:latin typeface="Calibri" panose="020F0502020204030204" pitchFamily="34" charset="0"/>
                <a:cs typeface="Calibri" panose="020F0502020204030204" pitchFamily="34" charset="0"/>
              </a:rPr>
              <a:t>#define MAX 100</a:t>
            </a:r>
          </a:p>
          <a:p>
            <a:pPr>
              <a:buNone/>
            </a:pPr>
            <a:r>
              <a:rPr lang="en-US" sz="2400" b="1" dirty="0">
                <a:solidFill>
                  <a:schemeClr val="tx1"/>
                </a:solidFill>
                <a:latin typeface="Calibri" panose="020F0502020204030204" pitchFamily="34" charset="0"/>
                <a:cs typeface="Calibri" panose="020F0502020204030204" pitchFamily="34" charset="0"/>
              </a:rPr>
              <a:t>char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[MAX];</a:t>
            </a:r>
          </a:p>
          <a:p>
            <a:pPr>
              <a:buNone/>
            </a:pPr>
            <a:r>
              <a:rPr lang="en-US" sz="2400" b="1" dirty="0" err="1">
                <a:solidFill>
                  <a:schemeClr val="tx1"/>
                </a:solidFill>
                <a:latin typeface="Calibri" panose="020F0502020204030204" pitchFamily="34" charset="0"/>
                <a:cs typeface="Calibri" panose="020F0502020204030204" pitchFamily="34" charset="0"/>
              </a:rPr>
              <a:t>int</a:t>
            </a:r>
            <a:r>
              <a:rPr lang="en-US" sz="2400" b="1" dirty="0">
                <a:solidFill>
                  <a:schemeClr val="tx1"/>
                </a:solidFill>
                <a:latin typeface="Calibri" panose="020F0502020204030204" pitchFamily="34" charset="0"/>
                <a:cs typeface="Calibri" panose="020F0502020204030204" pitchFamily="34" charset="0"/>
              </a:rPr>
              <a:t> top = –1;</a:t>
            </a:r>
          </a:p>
          <a:p>
            <a:pPr>
              <a:buNone/>
            </a:pPr>
            <a:r>
              <a:rPr lang="en-IN" sz="3300" b="1" dirty="0">
                <a:solidFill>
                  <a:schemeClr val="tx1"/>
                </a:solidFill>
                <a:highlight>
                  <a:srgbClr val="00FF00"/>
                </a:highlight>
                <a:ea typeface="Calibri" panose="020F0502020204030204" pitchFamily="34" charset="0"/>
              </a:rPr>
              <a:t>void reverse(char </a:t>
            </a:r>
            <a:r>
              <a:rPr lang="en-IN" sz="3300" b="1" dirty="0" err="1">
                <a:solidFill>
                  <a:schemeClr val="tx1"/>
                </a:solidFill>
                <a:highlight>
                  <a:srgbClr val="00FF00"/>
                </a:highlight>
                <a:ea typeface="Calibri" panose="020F0502020204030204" pitchFamily="34" charset="0"/>
              </a:rPr>
              <a:t>str</a:t>
            </a:r>
            <a:r>
              <a:rPr lang="en-IN" sz="3300" b="1" dirty="0">
                <a:solidFill>
                  <a:schemeClr val="tx1"/>
                </a:solidFill>
                <a:highlight>
                  <a:srgbClr val="00FF00"/>
                </a:highlight>
                <a:ea typeface="Calibri" panose="020F0502020204030204" pitchFamily="34" charset="0"/>
              </a:rPr>
              <a:t>[]);</a:t>
            </a:r>
            <a:endParaRPr lang="en-US" sz="3300" b="1" dirty="0">
              <a:solidFill>
                <a:schemeClr val="tx1"/>
              </a:solidFill>
              <a:highlight>
                <a:srgbClr val="00FF00"/>
              </a:highlight>
              <a:ea typeface="Calibri" panose="020F0502020204030204" pitchFamily="34" charset="0"/>
            </a:endParaRPr>
          </a:p>
          <a:p>
            <a:pPr>
              <a:buNone/>
            </a:pPr>
            <a:r>
              <a:rPr lang="en-US" sz="2400" b="1" dirty="0">
                <a:solidFill>
                  <a:schemeClr val="tx1"/>
                </a:solidFill>
                <a:latin typeface="Calibri" panose="020F0502020204030204" pitchFamily="34" charset="0"/>
                <a:cs typeface="Calibri" panose="020F0502020204030204" pitchFamily="34" charset="0"/>
              </a:rPr>
              <a:t>void push(char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 ], char);</a:t>
            </a:r>
          </a:p>
          <a:p>
            <a:pPr>
              <a:buNone/>
            </a:pPr>
            <a:r>
              <a:rPr lang="en-US" sz="2400" b="1" dirty="0">
                <a:solidFill>
                  <a:schemeClr val="tx1"/>
                </a:solidFill>
                <a:latin typeface="Calibri" panose="020F0502020204030204" pitchFamily="34" charset="0"/>
                <a:cs typeface="Calibri" panose="020F0502020204030204" pitchFamily="34" charset="0"/>
              </a:rPr>
              <a:t>char pop(char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 ]);</a:t>
            </a:r>
          </a:p>
          <a:p>
            <a:pPr>
              <a:buNone/>
            </a:pPr>
            <a:r>
              <a:rPr lang="en-US" sz="2400" b="1" dirty="0">
                <a:solidFill>
                  <a:schemeClr val="tx1"/>
                </a:solidFill>
                <a:latin typeface="Calibri" panose="020F0502020204030204" pitchFamily="34" charset="0"/>
                <a:cs typeface="Calibri" panose="020F0502020204030204" pitchFamily="34" charset="0"/>
              </a:rPr>
              <a:t>void </a:t>
            </a:r>
            <a:r>
              <a:rPr lang="en-US" sz="32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InfixtoPostfix</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(char source[ ], char target[ ]);</a:t>
            </a:r>
          </a:p>
          <a:p>
            <a:pPr>
              <a:buNone/>
            </a:pPr>
            <a:r>
              <a:rPr lang="en-US" sz="2400" b="1" dirty="0" err="1">
                <a:solidFill>
                  <a:schemeClr val="tx1"/>
                </a:solidFill>
                <a:latin typeface="Calibri" panose="020F0502020204030204" pitchFamily="34" charset="0"/>
                <a:cs typeface="Calibri" panose="020F0502020204030204" pitchFamily="34" charset="0"/>
              </a:rPr>
              <a:t>int</a:t>
            </a: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getPriority</a:t>
            </a:r>
            <a:r>
              <a:rPr lang="en-US" sz="2400" b="1" dirty="0">
                <a:solidFill>
                  <a:schemeClr val="tx1"/>
                </a:solidFill>
                <a:latin typeface="Calibri" panose="020F0502020204030204" pitchFamily="34" charset="0"/>
                <a:cs typeface="Calibri" panose="020F0502020204030204" pitchFamily="34" charset="0"/>
              </a:rPr>
              <a:t>( char ); </a:t>
            </a:r>
          </a:p>
          <a:p>
            <a:pPr>
              <a:buNone/>
            </a:pPr>
            <a:r>
              <a:rPr lang="en-IN" sz="3300" b="1" dirty="0">
                <a:solidFill>
                  <a:schemeClr val="tx1"/>
                </a:solidFill>
                <a:highlight>
                  <a:srgbClr val="00FF00"/>
                </a:highlight>
                <a:ea typeface="Calibri" panose="020F0502020204030204" pitchFamily="34" charset="0"/>
              </a:rPr>
              <a:t>char infix[100], postfix[100], temp[100];</a:t>
            </a:r>
            <a:endParaRPr lang="en-US" sz="3300" b="1" dirty="0">
              <a:solidFill>
                <a:schemeClr val="tx1"/>
              </a:solidFill>
              <a:highlight>
                <a:srgbClr val="00FF00"/>
              </a:highlight>
              <a:ea typeface="Calibri" panose="020F0502020204030204" pitchFamily="34" charset="0"/>
            </a:endParaRPr>
          </a:p>
        </p:txBody>
      </p:sp>
      <p:pic>
        <p:nvPicPr>
          <p:cNvPr id="5" name="D74ED7A" hidden="1">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18655" y="304800"/>
            <a:ext cx="7225145" cy="6096000"/>
          </a:xfrm>
          <a:prstGeom prst="rect">
            <a:avLst/>
          </a:prstGeom>
        </p:spPr>
      </p:pic>
    </p:spTree>
    <p:extLst>
      <p:ext uri="{BB962C8B-B14F-4D97-AF65-F5344CB8AC3E}">
        <p14:creationId xmlns:p14="http://schemas.microsoft.com/office/powerpoint/2010/main" val="3206981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1" presetClass="entr" presetSubtype="1"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heel(1)">
                                      <p:cBhvr>
                                        <p:cTn id="13" dur="20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21" presetClass="exit" presetSubtype="1" fill="hold" nodeType="clickEffect">
                                  <p:stCondLst>
                                    <p:cond delay="0"/>
                                  </p:stCondLst>
                                  <p:childTnLst>
                                    <p:animEffect transition="out" filter="wheel(1)">
                                      <p:cBhvr>
                                        <p:cTn id="17" dur="2000"/>
                                        <p:tgtEl>
                                          <p:spTgt spid="5"/>
                                        </p:tgtEl>
                                      </p:cBhvr>
                                    </p:animEffect>
                                    <p:set>
                                      <p:cBhvr>
                                        <p:cTn id="18" dur="1" fill="hold">
                                          <p:stCondLst>
                                            <p:cond delay="1999"/>
                                          </p:stCondLst>
                                        </p:cTn>
                                        <p:tgtEl>
                                          <p:spTgt spid="5"/>
                                        </p:tgtEl>
                                        <p:attrNameLst>
                                          <p:attrName>style.visibility</p:attrName>
                                        </p:attrNameLst>
                                      </p:cBhvr>
                                      <p:to>
                                        <p:strVal val="hidden"/>
                                      </p:to>
                                    </p:set>
                                    <p:cmd type="call" cmd="stop">
                                      <p:cBhvr>
                                        <p:cTn id="19" dur="1">
                                          <p:stCondLst>
                                            <p:cond delay="1999"/>
                                          </p:stCondLst>
                                        </p:cTn>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showWhenStopped="0">
                <p:cTn id="20" fill="hold" display="0">
                  <p:stCondLst>
                    <p:cond delay="indefinite"/>
                  </p:stCondLst>
                </p:cTn>
                <p:tgtEl>
                  <p:spTgt spid="5"/>
                </p:tgtEl>
              </p:cMediaNode>
            </p:video>
          </p:childTnLst>
        </p:cTn>
      </p:par>
    </p:tnLst>
    <p:bldLst>
      <p:bldP spid="2"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229600" cy="6324600"/>
          </a:xfrm>
        </p:spPr>
        <p:txBody>
          <a:bodyPr>
            <a:noAutofit/>
          </a:bodyPr>
          <a:lstStyle/>
          <a:p>
            <a:pPr>
              <a:spcBef>
                <a:spcPts val="200"/>
              </a:spcBef>
              <a:buNone/>
            </a:pPr>
            <a:r>
              <a:rPr lang="en-US" sz="2400" b="1" dirty="0" err="1">
                <a:solidFill>
                  <a:schemeClr val="tx1"/>
                </a:solidFill>
                <a:latin typeface="Calibri" panose="020F0502020204030204" pitchFamily="34" charset="0"/>
                <a:cs typeface="Calibri" panose="020F0502020204030204" pitchFamily="34" charset="0"/>
              </a:rPr>
              <a:t>int</a:t>
            </a:r>
            <a:r>
              <a:rPr lang="en-US" sz="2400" b="1" dirty="0">
                <a:solidFill>
                  <a:schemeClr val="tx1"/>
                </a:solidFill>
                <a:latin typeface="Calibri" panose="020F0502020204030204" pitchFamily="34" charset="0"/>
                <a:cs typeface="Calibri" panose="020F0502020204030204" pitchFamily="34" charset="0"/>
              </a:rPr>
              <a:t> main()</a:t>
            </a: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a:t>
            </a: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clrscr</a:t>
            </a:r>
            <a:r>
              <a:rPr lang="en-US" sz="2400" b="1" dirty="0">
                <a:solidFill>
                  <a:schemeClr val="tx1"/>
                </a:solidFill>
                <a:latin typeface="Calibri" panose="020F0502020204030204" pitchFamily="34" charset="0"/>
                <a:cs typeface="Calibri" panose="020F0502020204030204" pitchFamily="34" charset="0"/>
              </a:rPr>
              <a:t>();</a:t>
            </a: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printf</a:t>
            </a:r>
            <a:r>
              <a:rPr lang="en-US" sz="2400" b="1" dirty="0">
                <a:solidFill>
                  <a:schemeClr val="tx1"/>
                </a:solidFill>
                <a:latin typeface="Calibri" panose="020F0502020204030204" pitchFamily="34" charset="0"/>
                <a:cs typeface="Calibri" panose="020F0502020204030204" pitchFamily="34" charset="0"/>
              </a:rPr>
              <a:t>("\n Enter any infix expression : ");</a:t>
            </a: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gets(infix);</a:t>
            </a:r>
          </a:p>
          <a:p>
            <a:pPr>
              <a:lnSpc>
                <a:spcPct val="70000"/>
              </a:lnSpc>
              <a:spcBef>
                <a:spcPts val="600"/>
              </a:spcBef>
              <a:buNone/>
            </a:pPr>
            <a:r>
              <a:rPr lang="en-IN" dirty="0"/>
              <a:t>   </a:t>
            </a:r>
            <a:r>
              <a:rPr lang="en-IN" sz="2800" b="1" dirty="0">
                <a:solidFill>
                  <a:schemeClr val="tx1"/>
                </a:solidFill>
                <a:highlight>
                  <a:srgbClr val="00FF00"/>
                </a:highlight>
                <a:ea typeface="Calibri" panose="020F0502020204030204" pitchFamily="34" charset="0"/>
              </a:rPr>
              <a:t>reverse(infix);</a:t>
            </a:r>
            <a:endParaRPr lang="en-US" sz="2800" b="1" dirty="0">
              <a:solidFill>
                <a:schemeClr val="tx1"/>
              </a:solidFill>
              <a:highlight>
                <a:srgbClr val="00FF00"/>
              </a:highlight>
              <a:ea typeface="Calibri" panose="020F0502020204030204" pitchFamily="34" charset="0"/>
            </a:endParaRP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strcpy</a:t>
            </a:r>
            <a:r>
              <a:rPr lang="en-US" sz="2400" b="1" dirty="0">
                <a:solidFill>
                  <a:schemeClr val="tx1"/>
                </a:solidFill>
                <a:latin typeface="Calibri" panose="020F0502020204030204" pitchFamily="34" charset="0"/>
                <a:cs typeface="Calibri" panose="020F0502020204030204" pitchFamily="34" charset="0"/>
              </a:rPr>
              <a:t>(postfix, "");</a:t>
            </a: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	</a:t>
            </a:r>
            <a:r>
              <a:rPr lang="en-US" sz="3200" b="1" dirty="0" err="1">
                <a:solidFill>
                  <a:srgbClr val="FFFF00"/>
                </a:solidFill>
                <a:highlight>
                  <a:srgbClr val="FF00FF"/>
                </a:highlight>
                <a:ea typeface="Calibri" panose="020F0502020204030204" pitchFamily="34" charset="0"/>
              </a:rPr>
              <a:t>InfixtoPostfix</a:t>
            </a:r>
            <a:r>
              <a:rPr lang="en-US" sz="3200" b="1" dirty="0">
                <a:solidFill>
                  <a:srgbClr val="FFFF00"/>
                </a:solidFill>
                <a:highlight>
                  <a:srgbClr val="FF00FF"/>
                </a:highlight>
                <a:ea typeface="Calibri" panose="020F0502020204030204" pitchFamily="34" charset="0"/>
              </a:rPr>
              <a:t>(</a:t>
            </a:r>
            <a:r>
              <a:rPr lang="en-IN" sz="3200" b="1" dirty="0">
                <a:solidFill>
                  <a:srgbClr val="FFFF00"/>
                </a:solidFill>
                <a:highlight>
                  <a:srgbClr val="FF00FF"/>
                </a:highlight>
                <a:ea typeface="Calibri" panose="020F0502020204030204" pitchFamily="34" charset="0"/>
              </a:rPr>
              <a:t>temp</a:t>
            </a:r>
            <a:r>
              <a:rPr lang="en-US" sz="3200" b="1" dirty="0">
                <a:solidFill>
                  <a:srgbClr val="FFFF00"/>
                </a:solidFill>
                <a:highlight>
                  <a:srgbClr val="FF00FF"/>
                </a:highlight>
                <a:ea typeface="Calibri" panose="020F0502020204030204" pitchFamily="34" charset="0"/>
              </a:rPr>
              <a:t>, postfix</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a:t>
            </a:r>
            <a:r>
              <a:rPr lang="en-IN"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a:t>
            </a:r>
            <a:endParaRPr lang="en-US" sz="3200" b="1" dirty="0">
              <a:solidFill>
                <a:schemeClr val="tx1"/>
              </a:solidFill>
              <a:latin typeface="Calibri" panose="020F0502020204030204" pitchFamily="34" charset="0"/>
              <a:cs typeface="Calibri" panose="020F0502020204030204" pitchFamily="34" charset="0"/>
            </a:endParaRP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printf</a:t>
            </a:r>
            <a:r>
              <a:rPr lang="en-US" sz="2400" b="1" dirty="0">
                <a:solidFill>
                  <a:schemeClr val="tx1"/>
                </a:solidFill>
                <a:latin typeface="Calibri" panose="020F0502020204030204" pitchFamily="34" charset="0"/>
                <a:cs typeface="Calibri" panose="020F0502020204030204" pitchFamily="34" charset="0"/>
              </a:rPr>
              <a:t>("\n The corresponding postfix expression is : ");</a:t>
            </a: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puts(postfix);</a:t>
            </a:r>
          </a:p>
          <a:p>
            <a:pPr>
              <a:lnSpc>
                <a:spcPct val="70000"/>
              </a:lnSpc>
              <a:spcBef>
                <a:spcPts val="600"/>
              </a:spcBef>
              <a:buNone/>
            </a:pPr>
            <a:r>
              <a:rPr lang="en-US" sz="2400" b="1" dirty="0">
                <a:solidFill>
                  <a:schemeClr val="tx1"/>
                </a:solidFill>
              </a:rPr>
              <a:t>  </a:t>
            </a:r>
            <a:r>
              <a:rPr lang="en-US" sz="2800" b="1" dirty="0">
                <a:solidFill>
                  <a:schemeClr val="tx1"/>
                </a:solidFill>
                <a:highlight>
                  <a:srgbClr val="00FF00"/>
                </a:highlight>
                <a:ea typeface="Calibri" panose="020F0502020204030204" pitchFamily="34" charset="0"/>
              </a:rPr>
              <a:t> </a:t>
            </a:r>
            <a:r>
              <a:rPr lang="en-IN" sz="2800" b="1" dirty="0" err="1">
                <a:solidFill>
                  <a:schemeClr val="tx1"/>
                </a:solidFill>
                <a:highlight>
                  <a:srgbClr val="00FF00"/>
                </a:highlight>
                <a:ea typeface="Calibri" panose="020F0502020204030204" pitchFamily="34" charset="0"/>
              </a:rPr>
              <a:t>strcpy</a:t>
            </a:r>
            <a:r>
              <a:rPr lang="en-IN" sz="2800" b="1" dirty="0">
                <a:solidFill>
                  <a:schemeClr val="tx1"/>
                </a:solidFill>
                <a:highlight>
                  <a:srgbClr val="00FF00"/>
                </a:highlight>
                <a:ea typeface="Calibri" panose="020F0502020204030204" pitchFamily="34" charset="0"/>
              </a:rPr>
              <a:t>(temp,“ ");</a:t>
            </a:r>
          </a:p>
          <a:p>
            <a:pPr>
              <a:lnSpc>
                <a:spcPct val="70000"/>
              </a:lnSpc>
              <a:spcBef>
                <a:spcPts val="600"/>
              </a:spcBef>
              <a:buNone/>
            </a:pPr>
            <a:r>
              <a:rPr lang="en-IN" sz="2400" b="1" dirty="0">
                <a:solidFill>
                  <a:schemeClr val="tx1"/>
                </a:solidFill>
              </a:rPr>
              <a:t>  </a:t>
            </a:r>
            <a:r>
              <a:rPr lang="en-IN" sz="2800" b="1" dirty="0">
                <a:solidFill>
                  <a:schemeClr val="tx1"/>
                </a:solidFill>
                <a:highlight>
                  <a:srgbClr val="00FF00"/>
                </a:highlight>
                <a:ea typeface="Calibri" panose="020F0502020204030204" pitchFamily="34" charset="0"/>
              </a:rPr>
              <a:t>  reverse(postfix);</a:t>
            </a:r>
          </a:p>
          <a:p>
            <a:pPr>
              <a:lnSpc>
                <a:spcPct val="70000"/>
              </a:lnSpc>
              <a:spcBef>
                <a:spcPts val="600"/>
              </a:spcBef>
              <a:buNone/>
            </a:pPr>
            <a:r>
              <a:rPr lang="en-IN" sz="2400" b="1" dirty="0">
                <a:solidFill>
                  <a:schemeClr val="tx1"/>
                </a:solidFill>
              </a:rPr>
              <a:t>  </a:t>
            </a:r>
            <a:r>
              <a:rPr lang="en-IN" sz="2800" b="1" dirty="0">
                <a:solidFill>
                  <a:schemeClr val="tx1"/>
                </a:solidFill>
                <a:highlight>
                  <a:srgbClr val="00FF00"/>
                </a:highlight>
                <a:ea typeface="Calibri" panose="020F0502020204030204" pitchFamily="34" charset="0"/>
              </a:rPr>
              <a:t>  printf("\n The prefix expression is : \n");</a:t>
            </a:r>
          </a:p>
          <a:p>
            <a:pPr>
              <a:lnSpc>
                <a:spcPct val="70000"/>
              </a:lnSpc>
              <a:spcBef>
                <a:spcPts val="600"/>
              </a:spcBef>
              <a:buNone/>
            </a:pPr>
            <a:r>
              <a:rPr lang="en-IN" sz="2400" b="1" dirty="0">
                <a:solidFill>
                  <a:schemeClr val="tx1"/>
                </a:solidFill>
              </a:rPr>
              <a:t>  </a:t>
            </a:r>
            <a:r>
              <a:rPr lang="en-IN" sz="2800" b="1" dirty="0">
                <a:solidFill>
                  <a:schemeClr val="tx1"/>
                </a:solidFill>
                <a:highlight>
                  <a:srgbClr val="00FF00"/>
                </a:highlight>
                <a:ea typeface="Calibri" panose="020F0502020204030204" pitchFamily="34" charset="0"/>
              </a:rPr>
              <a:t>  puts(temp);</a:t>
            </a:r>
            <a:endParaRPr lang="en-US" sz="2800" b="1" dirty="0">
              <a:solidFill>
                <a:schemeClr val="tx1"/>
              </a:solidFill>
              <a:highlight>
                <a:srgbClr val="00FF00"/>
              </a:highlight>
              <a:ea typeface="Calibri" panose="020F0502020204030204" pitchFamily="34" charset="0"/>
            </a:endParaRP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getch</a:t>
            </a:r>
            <a:r>
              <a:rPr lang="en-US" sz="2400" b="1" dirty="0">
                <a:solidFill>
                  <a:schemeClr val="tx1"/>
                </a:solidFill>
                <a:latin typeface="Calibri" panose="020F0502020204030204" pitchFamily="34" charset="0"/>
                <a:cs typeface="Calibri" panose="020F0502020204030204" pitchFamily="34" charset="0"/>
              </a:rPr>
              <a:t>();</a:t>
            </a: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	return 0;</a:t>
            </a:r>
          </a:p>
          <a:p>
            <a:pPr>
              <a:spcBef>
                <a:spcPts val="200"/>
              </a:spcBef>
              <a:buNone/>
            </a:pPr>
            <a:r>
              <a:rPr lang="en-US" sz="2400" b="1" dirty="0">
                <a:solidFill>
                  <a:schemeClr val="tx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5227804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9872871" cy="5943600"/>
          </a:xfrm>
        </p:spPr>
        <p:txBody>
          <a:bodyPr>
            <a:noAutofit/>
          </a:bodyPr>
          <a:lstStyle/>
          <a:p>
            <a:pPr marL="45720" indent="0">
              <a:spcBef>
                <a:spcPts val="300"/>
              </a:spcBef>
              <a:buNone/>
            </a:pPr>
            <a:r>
              <a:rPr lang="en-IN" sz="2400" b="1" dirty="0">
                <a:solidFill>
                  <a:schemeClr val="tx1"/>
                </a:solidFill>
              </a:rPr>
              <a:t>void </a:t>
            </a:r>
            <a:r>
              <a:rPr lang="en-IN" sz="2800" b="1" dirty="0">
                <a:solidFill>
                  <a:schemeClr val="tx1"/>
                </a:solidFill>
                <a:highlight>
                  <a:srgbClr val="00FF00"/>
                </a:highlight>
                <a:ea typeface="Calibri" panose="020F0502020204030204" pitchFamily="34" charset="0"/>
              </a:rPr>
              <a:t>reverse</a:t>
            </a:r>
            <a:r>
              <a:rPr lang="en-IN" sz="2400" b="1" dirty="0">
                <a:solidFill>
                  <a:schemeClr val="tx1"/>
                </a:solidFill>
              </a:rPr>
              <a:t>(char </a:t>
            </a:r>
            <a:r>
              <a:rPr lang="en-IN" sz="2400" b="1" dirty="0" err="1">
                <a:solidFill>
                  <a:schemeClr val="tx1"/>
                </a:solidFill>
              </a:rPr>
              <a:t>str</a:t>
            </a:r>
            <a:r>
              <a:rPr lang="en-IN" sz="2400" b="1" dirty="0">
                <a:solidFill>
                  <a:schemeClr val="tx1"/>
                </a:solidFill>
              </a:rPr>
              <a:t>[])</a:t>
            </a:r>
          </a:p>
          <a:p>
            <a:pPr marL="45720" indent="0">
              <a:spcBef>
                <a:spcPts val="300"/>
              </a:spcBef>
              <a:buNone/>
            </a:pPr>
            <a:r>
              <a:rPr lang="en-IN" sz="2400" b="1" dirty="0">
                <a:solidFill>
                  <a:schemeClr val="tx1"/>
                </a:solidFill>
              </a:rPr>
              <a:t>{</a:t>
            </a:r>
          </a:p>
          <a:p>
            <a:pPr marL="45720" indent="0">
              <a:spcBef>
                <a:spcPts val="300"/>
              </a:spcBef>
              <a:buNone/>
            </a:pPr>
            <a:r>
              <a:rPr lang="en-IN" sz="2400" b="1" dirty="0">
                <a:solidFill>
                  <a:schemeClr val="tx1"/>
                </a:solidFill>
              </a:rPr>
              <a:t>	</a:t>
            </a:r>
            <a:r>
              <a:rPr lang="en-IN" sz="2400" b="1" dirty="0" err="1">
                <a:solidFill>
                  <a:schemeClr val="tx1"/>
                </a:solidFill>
              </a:rPr>
              <a:t>int</a:t>
            </a:r>
            <a:r>
              <a:rPr lang="en-IN" sz="2400" b="1" dirty="0">
                <a:solidFill>
                  <a:schemeClr val="tx1"/>
                </a:solidFill>
              </a:rPr>
              <a:t> </a:t>
            </a:r>
            <a:r>
              <a:rPr lang="en-IN" sz="2400" b="1" dirty="0" err="1">
                <a:solidFill>
                  <a:schemeClr val="tx1"/>
                </a:solidFill>
              </a:rPr>
              <a:t>len</a:t>
            </a:r>
            <a:r>
              <a:rPr lang="en-IN" sz="2400" b="1" dirty="0">
                <a:solidFill>
                  <a:schemeClr val="tx1"/>
                </a:solidFill>
              </a:rPr>
              <a:t>, </a:t>
            </a:r>
            <a:r>
              <a:rPr lang="en-IN" sz="2400" b="1" dirty="0" err="1">
                <a:solidFill>
                  <a:schemeClr val="tx1"/>
                </a:solidFill>
              </a:rPr>
              <a:t>i</a:t>
            </a:r>
            <a:r>
              <a:rPr lang="en-IN" sz="2400" b="1" dirty="0">
                <a:solidFill>
                  <a:schemeClr val="tx1"/>
                </a:solidFill>
              </a:rPr>
              <a:t>=0, j=0;</a:t>
            </a:r>
          </a:p>
          <a:p>
            <a:pPr marL="45720" indent="0">
              <a:spcBef>
                <a:spcPts val="300"/>
              </a:spcBef>
              <a:buNone/>
            </a:pPr>
            <a:r>
              <a:rPr lang="en-IN" sz="2400" b="1" dirty="0">
                <a:solidFill>
                  <a:schemeClr val="tx1"/>
                </a:solidFill>
              </a:rPr>
              <a:t>	</a:t>
            </a:r>
            <a:r>
              <a:rPr lang="en-IN" sz="2400" b="1" dirty="0" err="1">
                <a:solidFill>
                  <a:schemeClr val="tx1"/>
                </a:solidFill>
              </a:rPr>
              <a:t>len</a:t>
            </a:r>
            <a:r>
              <a:rPr lang="en-IN" sz="2400" b="1" dirty="0">
                <a:solidFill>
                  <a:schemeClr val="tx1"/>
                </a:solidFill>
              </a:rPr>
              <a:t>=</a:t>
            </a:r>
            <a:r>
              <a:rPr lang="en-IN" sz="2400" b="1" dirty="0" err="1">
                <a:solidFill>
                  <a:schemeClr val="tx1"/>
                </a:solidFill>
              </a:rPr>
              <a:t>strlen</a:t>
            </a:r>
            <a:r>
              <a:rPr lang="en-IN" sz="2400" b="1" dirty="0">
                <a:solidFill>
                  <a:schemeClr val="tx1"/>
                </a:solidFill>
              </a:rPr>
              <a:t>(</a:t>
            </a:r>
            <a:r>
              <a:rPr lang="en-IN" sz="2400" b="1" dirty="0" err="1">
                <a:solidFill>
                  <a:schemeClr val="tx1"/>
                </a:solidFill>
              </a:rPr>
              <a:t>str</a:t>
            </a:r>
            <a:r>
              <a:rPr lang="en-IN" sz="2400" b="1" dirty="0">
                <a:solidFill>
                  <a:schemeClr val="tx1"/>
                </a:solidFill>
              </a:rPr>
              <a:t>);</a:t>
            </a:r>
          </a:p>
          <a:p>
            <a:pPr marL="45720" indent="0">
              <a:spcBef>
                <a:spcPts val="300"/>
              </a:spcBef>
              <a:buNone/>
            </a:pPr>
            <a:r>
              <a:rPr lang="en-IN" sz="2400" b="1" dirty="0">
                <a:solidFill>
                  <a:schemeClr val="tx1"/>
                </a:solidFill>
              </a:rPr>
              <a:t>	j=</a:t>
            </a:r>
            <a:r>
              <a:rPr lang="en-IN" sz="2400" b="1" dirty="0" err="1">
                <a:solidFill>
                  <a:schemeClr val="tx1"/>
                </a:solidFill>
              </a:rPr>
              <a:t>len</a:t>
            </a:r>
            <a:r>
              <a:rPr lang="en-IN" sz="2400" b="1" dirty="0">
                <a:solidFill>
                  <a:schemeClr val="tx1"/>
                </a:solidFill>
              </a:rPr>
              <a:t>–1;</a:t>
            </a:r>
          </a:p>
          <a:p>
            <a:pPr marL="45720" indent="0">
              <a:spcBef>
                <a:spcPts val="300"/>
              </a:spcBef>
              <a:buNone/>
            </a:pPr>
            <a:r>
              <a:rPr lang="en-IN" sz="2400" b="1" dirty="0">
                <a:solidFill>
                  <a:schemeClr val="tx1"/>
                </a:solidFill>
              </a:rPr>
              <a:t>	while(j&gt;= 0)</a:t>
            </a:r>
          </a:p>
          <a:p>
            <a:pPr marL="45720" indent="0">
              <a:spcBef>
                <a:spcPts val="300"/>
              </a:spcBef>
              <a:buNone/>
            </a:pPr>
            <a:r>
              <a:rPr lang="en-IN" sz="2400" b="1" dirty="0">
                <a:solidFill>
                  <a:schemeClr val="tx1"/>
                </a:solidFill>
              </a:rPr>
              <a:t>	{</a:t>
            </a:r>
          </a:p>
          <a:p>
            <a:pPr marL="45720" indent="0">
              <a:spcBef>
                <a:spcPts val="300"/>
              </a:spcBef>
              <a:buNone/>
            </a:pPr>
            <a:r>
              <a:rPr lang="en-IN" sz="2400" b="1" dirty="0">
                <a:solidFill>
                  <a:schemeClr val="tx1"/>
                </a:solidFill>
              </a:rPr>
              <a:t>		if (</a:t>
            </a:r>
            <a:r>
              <a:rPr lang="en-IN" sz="2400" b="1" dirty="0" err="1">
                <a:solidFill>
                  <a:schemeClr val="tx1"/>
                </a:solidFill>
              </a:rPr>
              <a:t>str</a:t>
            </a:r>
            <a:r>
              <a:rPr lang="en-IN" sz="2400" b="1" dirty="0">
                <a:solidFill>
                  <a:schemeClr val="tx1"/>
                </a:solidFill>
              </a:rPr>
              <a:t>[j] == '(')</a:t>
            </a:r>
          </a:p>
          <a:p>
            <a:pPr marL="45720" indent="0">
              <a:spcBef>
                <a:spcPts val="300"/>
              </a:spcBef>
              <a:buNone/>
            </a:pPr>
            <a:r>
              <a:rPr lang="en-IN" sz="2400" b="1" dirty="0">
                <a:solidFill>
                  <a:schemeClr val="tx1"/>
                </a:solidFill>
              </a:rPr>
              <a:t>			temp[</a:t>
            </a:r>
            <a:r>
              <a:rPr lang="en-IN" sz="2400" b="1" dirty="0" err="1">
                <a:solidFill>
                  <a:schemeClr val="tx1"/>
                </a:solidFill>
              </a:rPr>
              <a:t>i</a:t>
            </a:r>
            <a:r>
              <a:rPr lang="en-IN" sz="2400" b="1" dirty="0">
                <a:solidFill>
                  <a:schemeClr val="tx1"/>
                </a:solidFill>
              </a:rPr>
              <a:t>] = ')';</a:t>
            </a:r>
          </a:p>
          <a:p>
            <a:pPr marL="45720" indent="0">
              <a:spcBef>
                <a:spcPts val="300"/>
              </a:spcBef>
              <a:buNone/>
            </a:pPr>
            <a:r>
              <a:rPr lang="en-IN" sz="2400" b="1" dirty="0">
                <a:solidFill>
                  <a:schemeClr val="tx1"/>
                </a:solidFill>
              </a:rPr>
              <a:t>		else if ( </a:t>
            </a:r>
            <a:r>
              <a:rPr lang="en-IN" sz="2400" b="1" dirty="0" err="1">
                <a:solidFill>
                  <a:schemeClr val="tx1"/>
                </a:solidFill>
              </a:rPr>
              <a:t>str</a:t>
            </a:r>
            <a:r>
              <a:rPr lang="en-IN" sz="2400" b="1" dirty="0">
                <a:solidFill>
                  <a:schemeClr val="tx1"/>
                </a:solidFill>
              </a:rPr>
              <a:t>[j] == ')')</a:t>
            </a:r>
          </a:p>
          <a:p>
            <a:pPr marL="45720" indent="0">
              <a:spcBef>
                <a:spcPts val="300"/>
              </a:spcBef>
              <a:buNone/>
            </a:pPr>
            <a:r>
              <a:rPr lang="en-IN" sz="2400" b="1" dirty="0">
                <a:solidFill>
                  <a:schemeClr val="tx1"/>
                </a:solidFill>
              </a:rPr>
              <a:t>			temp[</a:t>
            </a:r>
            <a:r>
              <a:rPr lang="en-IN" sz="2400" b="1" dirty="0" err="1">
                <a:solidFill>
                  <a:schemeClr val="tx1"/>
                </a:solidFill>
              </a:rPr>
              <a:t>i</a:t>
            </a:r>
            <a:r>
              <a:rPr lang="en-IN" sz="2400" b="1" dirty="0">
                <a:solidFill>
                  <a:schemeClr val="tx1"/>
                </a:solidFill>
              </a:rPr>
              <a:t>] = '(';</a:t>
            </a:r>
          </a:p>
          <a:p>
            <a:pPr marL="45720" indent="0">
              <a:spcBef>
                <a:spcPts val="300"/>
              </a:spcBef>
              <a:buNone/>
            </a:pPr>
            <a:r>
              <a:rPr lang="en-IN" sz="2400" b="1" dirty="0">
                <a:solidFill>
                  <a:schemeClr val="tx1"/>
                </a:solidFill>
              </a:rPr>
              <a:t>		else</a:t>
            </a:r>
          </a:p>
          <a:p>
            <a:pPr marL="45720" indent="0">
              <a:spcBef>
                <a:spcPts val="300"/>
              </a:spcBef>
              <a:buNone/>
            </a:pPr>
            <a:r>
              <a:rPr lang="en-IN" sz="2400" b="1" dirty="0">
                <a:solidFill>
                  <a:schemeClr val="tx1"/>
                </a:solidFill>
              </a:rPr>
              <a:t>			temp[</a:t>
            </a:r>
            <a:r>
              <a:rPr lang="en-IN" sz="2400" b="1" dirty="0" err="1">
                <a:solidFill>
                  <a:schemeClr val="tx1"/>
                </a:solidFill>
              </a:rPr>
              <a:t>i</a:t>
            </a:r>
            <a:r>
              <a:rPr lang="en-IN" sz="2400" b="1" dirty="0">
                <a:solidFill>
                  <a:schemeClr val="tx1"/>
                </a:solidFill>
              </a:rPr>
              <a:t>] = </a:t>
            </a:r>
            <a:r>
              <a:rPr lang="en-IN" sz="2400" b="1" dirty="0" err="1">
                <a:solidFill>
                  <a:schemeClr val="tx1"/>
                </a:solidFill>
              </a:rPr>
              <a:t>str</a:t>
            </a:r>
            <a:r>
              <a:rPr lang="en-IN" sz="2400" b="1" dirty="0">
                <a:solidFill>
                  <a:schemeClr val="tx1"/>
                </a:solidFill>
              </a:rPr>
              <a:t>[j];</a:t>
            </a:r>
          </a:p>
          <a:p>
            <a:pPr marL="45720" indent="0">
              <a:spcBef>
                <a:spcPts val="300"/>
              </a:spcBef>
              <a:buNone/>
            </a:pPr>
            <a:r>
              <a:rPr lang="en-IN" sz="2400" b="1" dirty="0">
                <a:solidFill>
                  <a:schemeClr val="tx1"/>
                </a:solidFill>
              </a:rPr>
              <a:t>		</a:t>
            </a:r>
            <a:r>
              <a:rPr lang="en-IN" sz="2400" b="1" dirty="0" err="1">
                <a:solidFill>
                  <a:schemeClr val="tx1"/>
                </a:solidFill>
              </a:rPr>
              <a:t>i</a:t>
            </a:r>
            <a:r>
              <a:rPr lang="en-IN" sz="2400" b="1" dirty="0">
                <a:solidFill>
                  <a:schemeClr val="tx1"/>
                </a:solidFill>
              </a:rPr>
              <a:t> + +, j – –;</a:t>
            </a:r>
          </a:p>
          <a:p>
            <a:pPr marL="45720" indent="0">
              <a:spcBef>
                <a:spcPts val="300"/>
              </a:spcBef>
              <a:buNone/>
            </a:pPr>
            <a:r>
              <a:rPr lang="en-IN" sz="2400" b="1" dirty="0">
                <a:solidFill>
                  <a:schemeClr val="tx1"/>
                </a:solidFill>
              </a:rPr>
              <a:t>	}</a:t>
            </a:r>
          </a:p>
          <a:p>
            <a:pPr marL="45720" indent="0">
              <a:spcBef>
                <a:spcPts val="300"/>
              </a:spcBef>
              <a:buNone/>
            </a:pPr>
            <a:r>
              <a:rPr lang="en-IN" sz="2400" b="1" dirty="0">
                <a:solidFill>
                  <a:schemeClr val="tx1"/>
                </a:solidFill>
              </a:rPr>
              <a:t>	temp[</a:t>
            </a:r>
            <a:r>
              <a:rPr lang="en-IN" sz="2400" b="1" dirty="0" err="1">
                <a:solidFill>
                  <a:schemeClr val="tx1"/>
                </a:solidFill>
              </a:rPr>
              <a:t>i</a:t>
            </a:r>
            <a:r>
              <a:rPr lang="en-IN" sz="2400" b="1" dirty="0">
                <a:solidFill>
                  <a:schemeClr val="tx1"/>
                </a:solidFill>
              </a:rPr>
              <a:t>] = '\0';</a:t>
            </a:r>
          </a:p>
          <a:p>
            <a:pPr marL="45720" indent="0">
              <a:spcBef>
                <a:spcPts val="300"/>
              </a:spcBef>
              <a:buNone/>
            </a:pPr>
            <a:r>
              <a:rPr lang="en-IN" sz="2400" b="1" dirty="0">
                <a:solidFill>
                  <a:schemeClr val="tx1"/>
                </a:solidFill>
              </a:rPr>
              <a:t>}</a:t>
            </a:r>
          </a:p>
        </p:txBody>
      </p:sp>
    </p:spTree>
    <p:extLst>
      <p:ext uri="{BB962C8B-B14F-4D97-AF65-F5344CB8AC3E}">
        <p14:creationId xmlns:p14="http://schemas.microsoft.com/office/powerpoint/2010/main" val="24119017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9067800" cy="5821363"/>
          </a:xfrm>
        </p:spPr>
        <p:txBody>
          <a:bodyPr>
            <a:noAutofit/>
          </a:bodyPr>
          <a:lstStyle/>
          <a:p>
            <a:pPr>
              <a:spcBef>
                <a:spcPts val="600"/>
              </a:spcBef>
              <a:buNone/>
            </a:pPr>
            <a:r>
              <a:rPr lang="en-US" sz="3200" b="1" dirty="0">
                <a:solidFill>
                  <a:schemeClr val="tx1"/>
                </a:solidFill>
                <a:latin typeface="Calibri" panose="020F0502020204030204" pitchFamily="34" charset="0"/>
                <a:cs typeface="Calibri" panose="020F0502020204030204" pitchFamily="34" charset="0"/>
              </a:rPr>
              <a:t>void </a:t>
            </a:r>
            <a:r>
              <a:rPr lang="en-US" sz="3200" b="1" dirty="0" err="1">
                <a:solidFill>
                  <a:srgbClr val="FFFF00"/>
                </a:solidFill>
                <a:highlight>
                  <a:srgbClr val="FF00FF"/>
                </a:highlight>
                <a:ea typeface="Calibri" panose="020F0502020204030204" pitchFamily="34" charset="0"/>
              </a:rPr>
              <a:t>InfixtoPostfix</a:t>
            </a:r>
            <a:r>
              <a:rPr lang="en-US" sz="3200" b="1" dirty="0">
                <a:solidFill>
                  <a:schemeClr val="tx1"/>
                </a:solidFill>
                <a:latin typeface="Calibri" panose="020F0502020204030204" pitchFamily="34" charset="0"/>
                <a:cs typeface="Calibri" panose="020F0502020204030204" pitchFamily="34" charset="0"/>
              </a:rPr>
              <a:t>( char source[] , char target[]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r>
              <a:rPr lang="en-US" sz="3200" b="1" dirty="0" err="1">
                <a:solidFill>
                  <a:schemeClr val="tx1"/>
                </a:solidFill>
                <a:latin typeface="Calibri" panose="020F0502020204030204" pitchFamily="34" charset="0"/>
                <a:cs typeface="Calibri" panose="020F0502020204030204" pitchFamily="34" charset="0"/>
              </a:rPr>
              <a:t>int</a:t>
            </a:r>
            <a:r>
              <a:rPr lang="en-US" sz="3200" b="1" dirty="0">
                <a:solidFill>
                  <a:schemeClr val="tx1"/>
                </a:solidFill>
                <a:latin typeface="Calibri" panose="020F0502020204030204" pitchFamily="34" charset="0"/>
                <a:cs typeface="Calibri" panose="020F0502020204030204" pitchFamily="34" charset="0"/>
              </a:rPr>
              <a:t> </a:t>
            </a:r>
            <a:r>
              <a:rPr lang="en-US" sz="3200" b="1" dirty="0" err="1">
                <a:solidFill>
                  <a:schemeClr val="tx1"/>
                </a:solidFill>
                <a:latin typeface="Calibri" panose="020F0502020204030204" pitchFamily="34" charset="0"/>
                <a:cs typeface="Calibri" panose="020F0502020204030204" pitchFamily="34" charset="0"/>
              </a:rPr>
              <a:t>i</a:t>
            </a:r>
            <a:r>
              <a:rPr lang="en-US" sz="3200" b="1" dirty="0">
                <a:solidFill>
                  <a:schemeClr val="tx1"/>
                </a:solidFill>
                <a:latin typeface="Calibri" panose="020F0502020204030204" pitchFamily="34" charset="0"/>
                <a:cs typeface="Calibri" panose="020F0502020204030204" pitchFamily="34" charset="0"/>
              </a:rPr>
              <a:t>=0, j=0;</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char temp;</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r>
              <a:rPr lang="en-US" sz="3200" b="1" dirty="0" err="1">
                <a:solidFill>
                  <a:schemeClr val="tx1"/>
                </a:solidFill>
                <a:latin typeface="Calibri" panose="020F0502020204030204" pitchFamily="34" charset="0"/>
                <a:cs typeface="Calibri" panose="020F0502020204030204" pitchFamily="34" charset="0"/>
              </a:rPr>
              <a:t>strcpy</a:t>
            </a:r>
            <a:r>
              <a:rPr lang="en-US" sz="3200" b="1" dirty="0">
                <a:solidFill>
                  <a:schemeClr val="tx1"/>
                </a:solidFill>
                <a:latin typeface="Calibri" panose="020F0502020204030204" pitchFamily="34" charset="0"/>
                <a:cs typeface="Calibri" panose="020F0502020204030204" pitchFamily="34" charset="0"/>
              </a:rPr>
              <a:t>( target , "“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while( </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source[</a:t>
            </a:r>
            <a:r>
              <a:rPr lang="en-US" sz="32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 '\0‘</a:t>
            </a:r>
            <a:r>
              <a:rPr lang="en-US" sz="32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if( </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source[</a:t>
            </a:r>
            <a:r>
              <a:rPr lang="en-US" sz="32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a:t>
            </a:r>
            <a:r>
              <a:rPr lang="en-US" sz="32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 '(‘</a:t>
            </a:r>
            <a:r>
              <a:rPr lang="en-US" sz="32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r>
              <a:rPr lang="en-US" sz="32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push( </a:t>
            </a:r>
            <a:r>
              <a:rPr lang="en-US" sz="3200" dirty="0" err="1">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st</a:t>
            </a:r>
            <a:r>
              <a:rPr lang="en-US" sz="32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 source[</a:t>
            </a:r>
            <a:r>
              <a:rPr lang="en-US" sz="3200" dirty="0" err="1">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i</a:t>
            </a:r>
            <a:r>
              <a:rPr lang="en-US" sz="32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 );</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r>
              <a:rPr lang="en-US" sz="3200" b="1" dirty="0" err="1">
                <a:solidFill>
                  <a:schemeClr val="tx1"/>
                </a:solidFill>
                <a:latin typeface="Calibri" panose="020F0502020204030204" pitchFamily="34" charset="0"/>
                <a:cs typeface="Calibri" panose="020F0502020204030204" pitchFamily="34" charset="0"/>
              </a:rPr>
              <a:t>i</a:t>
            </a:r>
            <a:r>
              <a:rPr lang="en-US" sz="3200" b="1" dirty="0">
                <a:solidFill>
                  <a:schemeClr val="tx1"/>
                </a:solidFill>
                <a:latin typeface="Calibri" panose="020F0502020204030204" pitchFamily="34" charset="0"/>
                <a:cs typeface="Calibri" panose="020F0502020204030204" pitchFamily="34" charset="0"/>
              </a:rPr>
              <a:t>++;</a:t>
            </a:r>
          </a:p>
          <a:p>
            <a:pPr>
              <a:spcBef>
                <a:spcPts val="600"/>
              </a:spcBef>
              <a:buNone/>
            </a:pPr>
            <a:r>
              <a:rPr lang="en-US" sz="3200" b="1" dirty="0">
                <a:solidFill>
                  <a:schemeClr val="tx1"/>
                </a:solidFill>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38682080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229600" cy="5821363"/>
          </a:xfrm>
        </p:spPr>
        <p:txBody>
          <a:bodyPr>
            <a:noAutofit/>
          </a:bodyPr>
          <a:lstStyle/>
          <a:p>
            <a:pPr>
              <a:spcBef>
                <a:spcPts val="600"/>
              </a:spcBef>
              <a:buNone/>
            </a:pPr>
            <a:r>
              <a:rPr lang="en-US" sz="2100" b="1" dirty="0">
                <a:solidFill>
                  <a:schemeClr val="tx1"/>
                </a:solidFill>
                <a:latin typeface="Calibri" panose="020F0502020204030204" pitchFamily="34" charset="0"/>
                <a:cs typeface="Calibri" panose="020F0502020204030204" pitchFamily="34" charset="0"/>
              </a:rPr>
              <a:t>		</a:t>
            </a:r>
            <a:r>
              <a:rPr lang="en-US" sz="2400" b="1" dirty="0">
                <a:solidFill>
                  <a:schemeClr val="tx1"/>
                </a:solidFill>
                <a:latin typeface="Calibri" panose="020F0502020204030204" pitchFamily="34" charset="0"/>
                <a:cs typeface="Calibri" panose="020F0502020204030204" pitchFamily="34" charset="0"/>
              </a:rPr>
              <a:t>else if ( </a:t>
            </a:r>
            <a:r>
              <a:rPr lang="en-US" sz="24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source[</a:t>
            </a:r>
            <a:r>
              <a:rPr lang="en-US" sz="24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i</a:t>
            </a:r>
            <a:r>
              <a:rPr lang="en-US" sz="2400" b="1" dirty="0">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 == ')‘</a:t>
            </a:r>
            <a:r>
              <a:rPr lang="en-US" dirty="0">
                <a:latin typeface="Calibri" panose="020F0502020204030204" pitchFamily="34" charset="0"/>
                <a:cs typeface="Calibri" panose="020F0502020204030204" pitchFamily="34" charset="0"/>
              </a:rPr>
              <a:t> </a:t>
            </a:r>
            <a:r>
              <a:rPr lang="en-US" sz="2400" b="1" dirty="0">
                <a:solidFill>
                  <a:schemeClr val="tx1"/>
                </a:solidFill>
                <a:latin typeface="Calibri" panose="020F0502020204030204" pitchFamily="34" charset="0"/>
                <a:cs typeface="Calibri" panose="020F0502020204030204" pitchFamily="34" charset="0"/>
              </a:rPr>
              <a:t>)</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while( ( top != –1 ) &amp;&amp; (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 top ] != '(‘ )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target[ j ] = pop(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   );</a:t>
            </a:r>
            <a:endParaRPr lang="en-IN" sz="2400" b="1" dirty="0">
              <a:solidFill>
                <a:srgbClr val="FFFF00"/>
              </a:solidFill>
              <a:highlight>
                <a:srgbClr val="FF00FF"/>
              </a:highlight>
              <a:latin typeface="Calibri" panose="020F0502020204030204" pitchFamily="34" charset="0"/>
              <a:cs typeface="Calibri" panose="020F0502020204030204" pitchFamily="34" charset="0"/>
            </a:endParaRP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j++</a:t>
            </a:r>
            <a:r>
              <a:rPr lang="en-US" sz="2400" b="1" dirty="0">
                <a:solidFill>
                  <a:schemeClr val="tx1"/>
                </a:solidFill>
                <a:latin typeface="Calibri" panose="020F0502020204030204" pitchFamily="34" charset="0"/>
                <a:cs typeface="Calibri" panose="020F0502020204030204" pitchFamily="34" charset="0"/>
              </a:rPr>
              <a:t>;</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if ( top == –1 )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printf</a:t>
            </a:r>
            <a:r>
              <a:rPr lang="en-US" sz="2400" b="1" dirty="0">
                <a:solidFill>
                  <a:schemeClr val="tx1"/>
                </a:solidFill>
                <a:latin typeface="Calibri" panose="020F0502020204030204" pitchFamily="34" charset="0"/>
                <a:cs typeface="Calibri" panose="020F0502020204030204" pitchFamily="34" charset="0"/>
              </a:rPr>
              <a:t> ( "\n INCORRECT EXPRESSION“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exit ( 1 );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temp = pop( </a:t>
            </a:r>
            <a:r>
              <a:rPr lang="en-US" sz="2400" b="1" dirty="0" err="1">
                <a:solidFill>
                  <a:schemeClr val="tx1"/>
                </a:solidFill>
                <a:latin typeface="Calibri" panose="020F0502020204030204" pitchFamily="34" charset="0"/>
                <a:cs typeface="Calibri" panose="020F0502020204030204" pitchFamily="34" charset="0"/>
              </a:rPr>
              <a:t>st</a:t>
            </a:r>
            <a:r>
              <a:rPr lang="en-US" sz="2400" b="1" dirty="0">
                <a:solidFill>
                  <a:schemeClr val="tx1"/>
                </a:solidFill>
                <a:latin typeface="Calibri" panose="020F0502020204030204" pitchFamily="34" charset="0"/>
                <a:cs typeface="Calibri" panose="020F0502020204030204" pitchFamily="34" charset="0"/>
              </a:rPr>
              <a:t> );//remove left parenthesis</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r>
              <a:rPr lang="en-US" sz="2400" b="1" dirty="0" err="1">
                <a:solidFill>
                  <a:schemeClr val="tx1"/>
                </a:solidFill>
                <a:latin typeface="Calibri" panose="020F0502020204030204" pitchFamily="34" charset="0"/>
                <a:cs typeface="Calibri" panose="020F0502020204030204" pitchFamily="34" charset="0"/>
              </a:rPr>
              <a:t>i</a:t>
            </a:r>
            <a:r>
              <a:rPr lang="en-US" sz="2400" b="1" dirty="0">
                <a:solidFill>
                  <a:schemeClr val="tx1"/>
                </a:solidFill>
                <a:latin typeface="Calibri" panose="020F0502020204030204" pitchFamily="34" charset="0"/>
                <a:cs typeface="Calibri" panose="020F0502020204030204" pitchFamily="34" charset="0"/>
              </a:rPr>
              <a:t>++;</a:t>
            </a:r>
          </a:p>
          <a:p>
            <a:pPr>
              <a:spcBef>
                <a:spcPts val="600"/>
              </a:spcBef>
              <a:buNone/>
            </a:pPr>
            <a:r>
              <a:rPr lang="en-US" sz="2400" b="1" dirty="0">
                <a:solidFill>
                  <a:schemeClr val="tx1"/>
                </a:solidFill>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17046146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228600"/>
            <a:ext cx="10439400" cy="5821363"/>
          </a:xfrm>
        </p:spPr>
        <p:txBody>
          <a:bodyPr>
            <a:noAutofit/>
          </a:bodyPr>
          <a:lstStyle/>
          <a:p>
            <a:pPr>
              <a:spcBef>
                <a:spcPts val="400"/>
              </a:spcBef>
              <a:buNone/>
            </a:pPr>
            <a:r>
              <a:rPr lang="en-US" b="1" dirty="0">
                <a:solidFill>
                  <a:schemeClr val="tx1"/>
                </a:solidFill>
              </a:rPr>
              <a:t>	</a:t>
            </a:r>
            <a:r>
              <a:rPr lang="en-US" b="1" dirty="0">
                <a:solidFill>
                  <a:schemeClr val="tx1"/>
                </a:solidFill>
                <a:latin typeface="Calibri" panose="020F0502020204030204" pitchFamily="34" charset="0"/>
                <a:cs typeface="Calibri" panose="020F0502020204030204" pitchFamily="34" charset="0"/>
              </a:rPr>
              <a:t>	else if( </a:t>
            </a:r>
            <a:r>
              <a:rPr lang="en-US" sz="2400" b="1" dirty="0" err="1">
                <a:solidFill>
                  <a:srgbClr val="FFFF00"/>
                </a:solidFill>
                <a:highlight>
                  <a:srgbClr val="0000FF"/>
                </a:highlight>
                <a:latin typeface="Calibri" panose="020F0502020204030204" pitchFamily="34" charset="0"/>
                <a:ea typeface="Calibri" panose="020F0502020204030204" pitchFamily="34" charset="0"/>
                <a:cs typeface="Calibri" panose="020F0502020204030204" pitchFamily="34" charset="0"/>
              </a:rPr>
              <a:t>isdigit</a:t>
            </a: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a:t>
            </a:r>
            <a:r>
              <a:rPr lang="en-US" sz="2400" b="1" dirty="0" err="1">
                <a:solidFill>
                  <a:srgbClr val="FFFF00"/>
                </a:solidFill>
                <a:highlight>
                  <a:srgbClr val="0000FF"/>
                </a:highlight>
                <a:latin typeface="Calibri" panose="020F0502020204030204" pitchFamily="34" charset="0"/>
                <a:ea typeface="Calibri" panose="020F0502020204030204" pitchFamily="34" charset="0"/>
                <a:cs typeface="Calibri" panose="020F0502020204030204" pitchFamily="34" charset="0"/>
              </a:rPr>
              <a:t>isalpha</a:t>
            </a: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target[ j ]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j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else if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while( ( top != –1 ) &amp;&amp; (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top ] != '(‘ ) &amp;&amp; ( </a:t>
            </a:r>
            <a:r>
              <a:rPr lang="en-US" b="1" dirty="0" err="1">
                <a:solidFill>
                  <a:schemeClr val="tx1"/>
                </a:solidFill>
                <a:latin typeface="Calibri" panose="020F0502020204030204" pitchFamily="34" charset="0"/>
                <a:cs typeface="Calibri" panose="020F0502020204030204" pitchFamily="34" charset="0"/>
              </a:rPr>
              <a:t>getPriority</a:t>
            </a: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top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&gt; </a:t>
            </a:r>
            <a:r>
              <a:rPr lang="en-US" b="1" dirty="0" err="1">
                <a:solidFill>
                  <a:schemeClr val="tx1"/>
                </a:solidFill>
                <a:latin typeface="Calibri" panose="020F0502020204030204" pitchFamily="34" charset="0"/>
                <a:cs typeface="Calibri" panose="020F0502020204030204" pitchFamily="34" charset="0"/>
              </a:rPr>
              <a:t>getPriority</a:t>
            </a: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target[ j ] = pop(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j++</a:t>
            </a:r>
            <a:r>
              <a:rPr lang="en-US" b="1" dirty="0">
                <a:solidFill>
                  <a:schemeClr val="tx1"/>
                </a:solidFill>
                <a:latin typeface="Calibri" panose="020F0502020204030204" pitchFamily="34" charset="0"/>
                <a:cs typeface="Calibri" panose="020F0502020204030204" pitchFamily="34" charset="0"/>
              </a:rPr>
              <a:t>;</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push(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source[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 ] );</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i</a:t>
            </a:r>
            <a:r>
              <a:rPr lang="en-US" b="1" dirty="0">
                <a:solidFill>
                  <a:schemeClr val="tx1"/>
                </a:solidFill>
                <a:latin typeface="Calibri" panose="020F0502020204030204" pitchFamily="34" charset="0"/>
                <a:cs typeface="Calibri" panose="020F0502020204030204" pitchFamily="34" charset="0"/>
              </a:rPr>
              <a:t>++;</a:t>
            </a:r>
          </a:p>
          <a:p>
            <a:pPr>
              <a:spcBef>
                <a:spcPts val="400"/>
              </a:spcBef>
              <a:buNone/>
            </a:pPr>
            <a:r>
              <a:rPr lang="en-US" b="1" dirty="0">
                <a:solidFill>
                  <a:schemeClr val="tx1"/>
                </a:solidFill>
                <a:latin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5931047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228607"/>
            <a:ext cx="9448800" cy="5897563"/>
          </a:xfrm>
        </p:spPr>
        <p:txBody>
          <a:bodyPr>
            <a:normAutofit lnSpcReduction="10000"/>
          </a:bodyPr>
          <a:lstStyle/>
          <a:p>
            <a:pPr>
              <a:buNone/>
            </a:pPr>
            <a:r>
              <a:rPr lang="en-US" b="1" dirty="0">
                <a:solidFill>
                  <a:schemeClr val="tx1"/>
                </a:solidFill>
                <a:latin typeface="Calibri" panose="020F0502020204030204" pitchFamily="34" charset="0"/>
                <a:cs typeface="Calibri" panose="020F0502020204030204" pitchFamily="34" charset="0"/>
              </a:rPr>
              <a:t>		else</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printf</a:t>
            </a:r>
            <a:r>
              <a:rPr lang="en-US" b="1" dirty="0">
                <a:solidFill>
                  <a:schemeClr val="tx1"/>
                </a:solidFill>
                <a:latin typeface="Calibri" panose="020F0502020204030204" pitchFamily="34" charset="0"/>
                <a:cs typeface="Calibri" panose="020F0502020204030204" pitchFamily="34" charset="0"/>
              </a:rPr>
              <a:t>("\n INCORRECT ELEMENT IN EXPRESSION");</a:t>
            </a:r>
          </a:p>
          <a:p>
            <a:pPr>
              <a:buNone/>
            </a:pPr>
            <a:r>
              <a:rPr lang="en-US" b="1" dirty="0">
                <a:solidFill>
                  <a:schemeClr val="tx1"/>
                </a:solidFill>
                <a:latin typeface="Calibri" panose="020F0502020204030204" pitchFamily="34" charset="0"/>
                <a:cs typeface="Calibri" panose="020F0502020204030204" pitchFamily="34" charset="0"/>
              </a:rPr>
              <a:t>			exit(1);</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while( ( top != –1 ) &amp;&amp; (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top ] != '(‘ ) )</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target[ j ] = pop(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j++</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target[ j ]='\0';</a:t>
            </a:r>
          </a:p>
          <a:p>
            <a:pPr>
              <a:buNone/>
            </a:pPr>
            <a:r>
              <a:rPr lang="en-US" b="1" dirty="0">
                <a:solidFill>
                  <a:schemeClr val="tx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6669341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81007"/>
            <a:ext cx="8229600" cy="5745163"/>
          </a:xfrm>
        </p:spPr>
        <p:txBody>
          <a:bodyPr/>
          <a:lstStyle/>
          <a:p>
            <a:pPr>
              <a:buNone/>
            </a:pPr>
            <a:r>
              <a:rPr lang="en-US" b="1" dirty="0" err="1">
                <a:solidFill>
                  <a:schemeClr val="tx1"/>
                </a:solidFill>
                <a:latin typeface="Calibri" panose="020F0502020204030204" pitchFamily="34" charset="0"/>
                <a:cs typeface="Calibri" panose="020F0502020204030204" pitchFamily="34" charset="0"/>
              </a:rPr>
              <a:t>int</a:t>
            </a:r>
            <a:r>
              <a:rPr lang="en-US" b="1" dirty="0">
                <a:solidFill>
                  <a:schemeClr val="tx1"/>
                </a:solidFill>
                <a:latin typeface="Calibri" panose="020F0502020204030204" pitchFamily="34" charset="0"/>
                <a:cs typeface="Calibri" panose="020F0502020204030204" pitchFamily="34" charset="0"/>
              </a:rPr>
              <a:t> </a:t>
            </a:r>
            <a:r>
              <a:rPr lang="en-US" sz="2800" b="1" dirty="0" err="1">
                <a:solidFill>
                  <a:srgbClr val="FFFF00"/>
                </a:solidFill>
                <a:highlight>
                  <a:srgbClr val="FF00FF"/>
                </a:highlight>
                <a:latin typeface="Calibri" panose="020F0502020204030204" pitchFamily="34" charset="0"/>
                <a:ea typeface="Calibri" panose="020F0502020204030204" pitchFamily="34" charset="0"/>
                <a:cs typeface="Calibri" panose="020F0502020204030204" pitchFamily="34" charset="0"/>
              </a:rPr>
              <a:t>getPriority</a:t>
            </a:r>
            <a:r>
              <a:rPr lang="en-US" b="1" dirty="0">
                <a:solidFill>
                  <a:schemeClr val="tx1"/>
                </a:solidFill>
                <a:latin typeface="Calibri" panose="020F0502020204030204" pitchFamily="34" charset="0"/>
                <a:cs typeface="Calibri" panose="020F0502020204030204" pitchFamily="34" charset="0"/>
              </a:rPr>
              <a:t>(char op)</a:t>
            </a:r>
          </a:p>
          <a:p>
            <a:pPr>
              <a:buNone/>
            </a:pP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if(op=='/' || op == '*' || op=='%')</a:t>
            </a:r>
          </a:p>
          <a:p>
            <a:pPr>
              <a:buNone/>
            </a:pPr>
            <a:r>
              <a:rPr lang="en-US" b="1" dirty="0">
                <a:solidFill>
                  <a:schemeClr val="tx1"/>
                </a:solidFill>
                <a:latin typeface="Calibri" panose="020F0502020204030204" pitchFamily="34" charset="0"/>
                <a:cs typeface="Calibri" panose="020F0502020204030204" pitchFamily="34" charset="0"/>
              </a:rPr>
              <a:t>		</a:t>
            </a:r>
            <a:r>
              <a:rPr lang="en-US" sz="28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return 1;</a:t>
            </a:r>
          </a:p>
          <a:p>
            <a:pPr>
              <a:buNone/>
            </a:pPr>
            <a:r>
              <a:rPr lang="en-US" b="1" dirty="0">
                <a:solidFill>
                  <a:schemeClr val="tx1"/>
                </a:solidFill>
                <a:latin typeface="Calibri" panose="020F0502020204030204" pitchFamily="34" charset="0"/>
                <a:cs typeface="Calibri" panose="020F0502020204030204" pitchFamily="34" charset="0"/>
              </a:rPr>
              <a:t>	else if(op=='+' || op=='–')</a:t>
            </a:r>
          </a:p>
          <a:p>
            <a:pPr>
              <a:buNone/>
            </a:pPr>
            <a:r>
              <a:rPr lang="en-US" b="1" dirty="0">
                <a:solidFill>
                  <a:schemeClr val="tx1"/>
                </a:solidFill>
                <a:latin typeface="Calibri" panose="020F0502020204030204" pitchFamily="34" charset="0"/>
                <a:cs typeface="Calibri" panose="020F0502020204030204" pitchFamily="34" charset="0"/>
              </a:rPr>
              <a:t>		</a:t>
            </a:r>
            <a:r>
              <a:rPr lang="en-US" sz="28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rPr>
              <a:t>return 0;</a:t>
            </a:r>
            <a:endParaRPr lang="en-US" sz="3200" dirty="0">
              <a:solidFill>
                <a:srgbClr val="CC0066"/>
              </a:solidFill>
              <a:highlight>
                <a:srgbClr val="FFFF00"/>
              </a:highlight>
              <a:latin typeface="Calibri" panose="020F0502020204030204" pitchFamily="34" charset="0"/>
              <a:ea typeface="Calibri" panose="020F0502020204030204" pitchFamily="34" charset="0"/>
              <a:cs typeface="Calibri" panose="020F0502020204030204" pitchFamily="34" charset="0"/>
            </a:endParaRPr>
          </a:p>
          <a:p>
            <a:pPr>
              <a:buNone/>
            </a:pPr>
            <a:r>
              <a:rPr lang="en-US" b="1" dirty="0">
                <a:solidFill>
                  <a:schemeClr val="tx1"/>
                </a:solidFill>
                <a:latin typeface="Calibri" panose="020F0502020204030204" pitchFamily="34" charset="0"/>
                <a:cs typeface="Calibri" panose="020F0502020204030204" pitchFamily="34" charset="0"/>
              </a:rPr>
              <a:t>}</a:t>
            </a:r>
          </a:p>
        </p:txBody>
      </p:sp>
      <p:sp>
        <p:nvSpPr>
          <p:cNvPr id="2" name="Cloud Callout 1"/>
          <p:cNvSpPr/>
          <p:nvPr/>
        </p:nvSpPr>
        <p:spPr>
          <a:xfrm>
            <a:off x="609600" y="1066800"/>
            <a:ext cx="7239000" cy="4267200"/>
          </a:xfrm>
          <a:prstGeom prst="cloudCallout">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FFFF00"/>
                  </a:solidFill>
                </a:ln>
                <a:solidFill>
                  <a:srgbClr val="FFFF00"/>
                </a:solidFill>
                <a:effectLst>
                  <a:outerShdw blurRad="38100" dist="19050" dir="2700000" algn="tl" rotWithShape="0">
                    <a:srgbClr val="000000">
                      <a:alpha val="40000"/>
                    </a:srgbClr>
                  </a:outerShdw>
                </a:effectLst>
                <a:uLnTx/>
                <a:uFillTx/>
                <a:latin typeface="Corbel" panose="020B0503020204020204"/>
                <a:ea typeface="+mn-ea"/>
                <a:cs typeface="+mn-cs"/>
              </a:rPr>
              <a:t>Higher priority  *,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FFFF00"/>
                  </a:solidFill>
                </a:ln>
                <a:solidFill>
                  <a:srgbClr val="FFFF00"/>
                </a:solidFill>
                <a:effectLst>
                  <a:outerShdw blurRad="38100" dist="19050" dir="2700000" algn="tl" rotWithShape="0">
                    <a:srgbClr val="000000">
                      <a:alpha val="40000"/>
                    </a:srgbClr>
                  </a:outerShdw>
                </a:effectLst>
                <a:uLnTx/>
                <a:uFillTx/>
                <a:latin typeface="Corbel" panose="020B0503020204020204"/>
                <a:ea typeface="+mn-ea"/>
                <a:cs typeface="+mn-cs"/>
              </a:rPr>
              <a:t>Lower priority  +, –</a:t>
            </a:r>
          </a:p>
        </p:txBody>
      </p:sp>
    </p:spTree>
    <p:extLst>
      <p:ext uri="{BB962C8B-B14F-4D97-AF65-F5344CB8AC3E}">
        <p14:creationId xmlns:p14="http://schemas.microsoft.com/office/powerpoint/2010/main" val="3299468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1"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plus(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xit" presetSubtype="32" fill="hold" grpId="0" nodeType="clickEffect">
                                  <p:stCondLst>
                                    <p:cond delay="0"/>
                                  </p:stCondLst>
                                  <p:childTnLst>
                                    <p:animEffect transition="out" filter="plus(out)">
                                      <p:cBhvr>
                                        <p:cTn id="11" dur="2000"/>
                                        <p:tgtEl>
                                          <p:spTgt spid="2"/>
                                        </p:tgtEl>
                                      </p:cBhvr>
                                    </p:animEffect>
                                    <p:set>
                                      <p:cBhvr>
                                        <p:cTn id="12"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304807"/>
            <a:ext cx="8229600" cy="5821363"/>
          </a:xfrm>
        </p:spPr>
        <p:txBody>
          <a:bodyPr>
            <a:normAutofit/>
          </a:bodyPr>
          <a:lstStyle/>
          <a:p>
            <a:pPr>
              <a:buNone/>
            </a:pPr>
            <a:r>
              <a:rPr lang="en-US" b="1" dirty="0">
                <a:solidFill>
                  <a:schemeClr val="tx1"/>
                </a:solidFill>
                <a:latin typeface="Calibri" panose="020F0502020204030204" pitchFamily="34" charset="0"/>
                <a:cs typeface="Calibri" panose="020F0502020204030204" pitchFamily="34" charset="0"/>
              </a:rPr>
              <a:t>void </a:t>
            </a:r>
            <a:r>
              <a:rPr lang="en-US" sz="2800" b="1" dirty="0">
                <a:solidFill>
                  <a:schemeClr val="tx1"/>
                </a:solidFill>
                <a:highlight>
                  <a:srgbClr val="00FF00"/>
                </a:highlight>
                <a:latin typeface="Calibri" panose="020F0502020204030204" pitchFamily="34" charset="0"/>
                <a:ea typeface="Calibri" panose="020F0502020204030204" pitchFamily="34" charset="0"/>
                <a:cs typeface="Calibri" panose="020F0502020204030204" pitchFamily="34" charset="0"/>
              </a:rPr>
              <a:t>push</a:t>
            </a:r>
            <a:r>
              <a:rPr lang="en-US" b="1" dirty="0">
                <a:solidFill>
                  <a:schemeClr val="tx1"/>
                </a:solidFill>
                <a:latin typeface="Calibri" panose="020F0502020204030204" pitchFamily="34" charset="0"/>
                <a:cs typeface="Calibri" panose="020F0502020204030204" pitchFamily="34" charset="0"/>
              </a:rPr>
              <a:t>(char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char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if( </a:t>
            </a:r>
            <a:r>
              <a:rPr lang="en-US" sz="2800" b="1" dirty="0">
                <a:solidFill>
                  <a:srgbClr val="FFFF00"/>
                </a:solidFill>
                <a:highlight>
                  <a:srgbClr val="FF00FF"/>
                </a:highlight>
                <a:ea typeface="Calibri" panose="020F0502020204030204" pitchFamily="34" charset="0"/>
              </a:rPr>
              <a:t>top == MAX–1 </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printf</a:t>
            </a:r>
            <a:r>
              <a:rPr lang="en-US" b="1" dirty="0">
                <a:solidFill>
                  <a:schemeClr val="tx1"/>
                </a:solidFill>
                <a:latin typeface="Calibri" panose="020F0502020204030204" pitchFamily="34" charset="0"/>
                <a:cs typeface="Calibri" panose="020F0502020204030204" pitchFamily="34" charset="0"/>
              </a:rPr>
              <a:t>("\n STACK OVERFLOW");</a:t>
            </a:r>
          </a:p>
          <a:p>
            <a:pPr>
              <a:buNone/>
            </a:pPr>
            <a:r>
              <a:rPr lang="en-US" b="1" dirty="0">
                <a:solidFill>
                  <a:schemeClr val="tx1"/>
                </a:solidFill>
                <a:latin typeface="Calibri" panose="020F0502020204030204" pitchFamily="34" charset="0"/>
                <a:cs typeface="Calibri" panose="020F0502020204030204" pitchFamily="34" charset="0"/>
              </a:rPr>
              <a:t>	else</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		</a:t>
            </a:r>
            <a:r>
              <a:rPr lang="en-US" sz="2400" b="1" dirty="0">
                <a:solidFill>
                  <a:srgbClr val="FFFF00"/>
                </a:solidFill>
                <a:highlight>
                  <a:srgbClr val="FF00FF"/>
                </a:highlight>
                <a:ea typeface="Calibri" panose="020F0502020204030204" pitchFamily="34" charset="0"/>
              </a:rPr>
              <a:t>top++</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a:t>
            </a:r>
            <a:r>
              <a:rPr lang="en-US" sz="2400" b="1" dirty="0" err="1">
                <a:solidFill>
                  <a:srgbClr val="FFFF00"/>
                </a:solidFill>
                <a:highlight>
                  <a:srgbClr val="0000FF"/>
                </a:highlight>
                <a:ea typeface="Calibri" panose="020F0502020204030204" pitchFamily="34" charset="0"/>
              </a:rPr>
              <a:t>st</a:t>
            </a:r>
            <a:r>
              <a:rPr lang="en-US" sz="2400" b="1" dirty="0">
                <a:solidFill>
                  <a:srgbClr val="FFFF00"/>
                </a:solidFill>
                <a:highlight>
                  <a:srgbClr val="0000FF"/>
                </a:highlight>
                <a:ea typeface="Calibri" panose="020F0502020204030204" pitchFamily="34" charset="0"/>
              </a:rPr>
              <a:t>[ top ] </a:t>
            </a: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a:t>
            </a:r>
          </a:p>
          <a:p>
            <a:pPr>
              <a:buNone/>
            </a:pPr>
            <a:r>
              <a:rPr lang="en-US" b="1" dirty="0">
                <a:solidFill>
                  <a:schemeClr val="tx1"/>
                </a:solidFill>
                <a:latin typeface="Calibri" panose="020F0502020204030204" pitchFamily="34" charset="0"/>
                <a:cs typeface="Calibri" panose="020F0502020204030204" pitchFamily="34" charset="0"/>
              </a:rPr>
              <a:t>	}</a:t>
            </a:r>
          </a:p>
          <a:p>
            <a:pPr>
              <a:buNone/>
            </a:pPr>
            <a:r>
              <a:rPr lang="en-US" b="1" dirty="0">
                <a:solidFill>
                  <a:schemeClr val="tx1"/>
                </a:solidFill>
                <a:latin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0574181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8229600" cy="6172200"/>
          </a:xfrm>
        </p:spPr>
        <p:txBody>
          <a:bodyPr>
            <a:normAutofit fontScale="92500" lnSpcReduction="10000"/>
          </a:bodyPr>
          <a:lstStyle/>
          <a:p>
            <a:pPr>
              <a:spcBef>
                <a:spcPts val="800"/>
              </a:spcBef>
              <a:buNone/>
            </a:pPr>
            <a:r>
              <a:rPr lang="en-US" b="1" dirty="0">
                <a:solidFill>
                  <a:schemeClr val="tx1"/>
                </a:solidFill>
                <a:latin typeface="Calibri" panose="020F0502020204030204" pitchFamily="34" charset="0"/>
                <a:cs typeface="Calibri" panose="020F0502020204030204" pitchFamily="34" charset="0"/>
              </a:rPr>
              <a:t>char </a:t>
            </a:r>
            <a:r>
              <a:rPr lang="en-US" sz="2800" b="1" dirty="0">
                <a:solidFill>
                  <a:srgbClr val="FFFF00"/>
                </a:solidFill>
                <a:highlight>
                  <a:srgbClr val="0000FF"/>
                </a:highlight>
                <a:latin typeface="Calibri" panose="020F0502020204030204" pitchFamily="34" charset="0"/>
                <a:ea typeface="Calibri" panose="020F0502020204030204" pitchFamily="34" charset="0"/>
                <a:cs typeface="Calibri" panose="020F0502020204030204" pitchFamily="34" charset="0"/>
              </a:rPr>
              <a:t>pop</a:t>
            </a:r>
            <a:r>
              <a:rPr lang="en-US" b="1" dirty="0">
                <a:solidFill>
                  <a:schemeClr val="tx1"/>
                </a:solidFill>
                <a:latin typeface="Calibri" panose="020F0502020204030204" pitchFamily="34" charset="0"/>
                <a:cs typeface="Calibri" panose="020F0502020204030204" pitchFamily="34" charset="0"/>
              </a:rPr>
              <a:t>( char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 )</a:t>
            </a:r>
          </a:p>
          <a:p>
            <a:pPr>
              <a:spcBef>
                <a:spcPts val="800"/>
              </a:spcBef>
              <a:buNone/>
            </a:pPr>
            <a:r>
              <a:rPr lang="en-US" b="1" dirty="0">
                <a:solidFill>
                  <a:schemeClr val="tx1"/>
                </a:solidFill>
                <a:latin typeface="Calibri" panose="020F0502020204030204" pitchFamily="34" charset="0"/>
                <a:cs typeface="Calibri" panose="020F0502020204030204" pitchFamily="34" charset="0"/>
              </a:rPr>
              <a:t>{</a:t>
            </a:r>
          </a:p>
          <a:p>
            <a:pPr>
              <a:spcBef>
                <a:spcPts val="800"/>
              </a:spcBef>
              <a:buNone/>
            </a:pPr>
            <a:r>
              <a:rPr lang="en-US" b="1" dirty="0">
                <a:solidFill>
                  <a:schemeClr val="tx1"/>
                </a:solidFill>
                <a:latin typeface="Calibri" panose="020F0502020204030204" pitchFamily="34" charset="0"/>
                <a:cs typeface="Calibri" panose="020F0502020204030204" pitchFamily="34" charset="0"/>
              </a:rPr>
              <a:t>		char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 = '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if( top == –1 )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printf</a:t>
            </a:r>
            <a:r>
              <a:rPr lang="en-US" b="1" dirty="0">
                <a:solidFill>
                  <a:schemeClr val="tx1"/>
                </a:solidFill>
                <a:latin typeface="Calibri" panose="020F0502020204030204" pitchFamily="34" charset="0"/>
                <a:cs typeface="Calibri" panose="020F0502020204030204" pitchFamily="34" charset="0"/>
              </a:rPr>
              <a:t>("\n STACK UNDERFLOW");</a:t>
            </a:r>
          </a:p>
          <a:p>
            <a:pPr>
              <a:spcBef>
                <a:spcPts val="800"/>
              </a:spcBef>
              <a:buNone/>
            </a:pPr>
            <a:r>
              <a:rPr lang="en-US" b="1" dirty="0">
                <a:solidFill>
                  <a:schemeClr val="tx1"/>
                </a:solidFill>
                <a:latin typeface="Calibri" panose="020F0502020204030204" pitchFamily="34" charset="0"/>
                <a:cs typeface="Calibri" panose="020F0502020204030204" pitchFamily="34" charset="0"/>
              </a:rPr>
              <a:t>		else</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r>
              <a:rPr lang="en-US" sz="2800" b="1" dirty="0" err="1">
                <a:solidFill>
                  <a:srgbClr val="FFFF00"/>
                </a:solidFill>
                <a:highlight>
                  <a:srgbClr val="0000FF"/>
                </a:highlight>
                <a:ea typeface="Calibri" panose="020F0502020204030204" pitchFamily="34" charset="0"/>
              </a:rPr>
              <a:t>val</a:t>
            </a:r>
            <a:r>
              <a:rPr lang="en-US" sz="2800" b="1" dirty="0">
                <a:solidFill>
                  <a:srgbClr val="FFFF00"/>
                </a:solidFill>
                <a:highlight>
                  <a:srgbClr val="0000FF"/>
                </a:highlight>
                <a:ea typeface="Calibri" panose="020F0502020204030204" pitchFamily="34" charset="0"/>
              </a:rPr>
              <a:t> </a:t>
            </a:r>
            <a:r>
              <a:rPr lang="en-US" b="1" dirty="0">
                <a:solidFill>
                  <a:schemeClr val="tx1"/>
                </a:solidFill>
                <a:latin typeface="Calibri" panose="020F0502020204030204" pitchFamily="34" charset="0"/>
                <a:cs typeface="Calibri" panose="020F0502020204030204" pitchFamily="34" charset="0"/>
              </a:rPr>
              <a:t>= </a:t>
            </a:r>
            <a:r>
              <a:rPr lang="en-US" b="1" dirty="0" err="1">
                <a:solidFill>
                  <a:schemeClr val="tx1"/>
                </a:solidFill>
                <a:latin typeface="Calibri" panose="020F0502020204030204" pitchFamily="34" charset="0"/>
                <a:cs typeface="Calibri" panose="020F0502020204030204" pitchFamily="34" charset="0"/>
              </a:rPr>
              <a:t>st</a:t>
            </a:r>
            <a:r>
              <a:rPr lang="en-US" b="1" dirty="0">
                <a:solidFill>
                  <a:schemeClr val="tx1"/>
                </a:solidFill>
                <a:latin typeface="Calibri" panose="020F0502020204030204" pitchFamily="34" charset="0"/>
                <a:cs typeface="Calibri" panose="020F0502020204030204" pitchFamily="34" charset="0"/>
              </a:rPr>
              <a:t>[ top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r>
              <a:rPr lang="en-US" sz="3000" b="1" dirty="0">
                <a:solidFill>
                  <a:srgbClr val="FFFF00"/>
                </a:solidFill>
                <a:highlight>
                  <a:srgbClr val="FF00FF"/>
                </a:highlight>
                <a:ea typeface="Calibri" panose="020F0502020204030204" pitchFamily="34" charset="0"/>
              </a:rPr>
              <a:t>top – –</a:t>
            </a:r>
            <a:r>
              <a:rPr lang="en-US" sz="1700" b="1" dirty="0">
                <a:solidFill>
                  <a:schemeClr val="tx1"/>
                </a:solidFill>
                <a:latin typeface="Calibri" panose="020F0502020204030204" pitchFamily="34" charset="0"/>
                <a:cs typeface="Calibri" panose="020F0502020204030204" pitchFamily="34" charset="0"/>
              </a:rPr>
              <a:t>;</a:t>
            </a:r>
          </a:p>
          <a:p>
            <a:pPr>
              <a:spcBef>
                <a:spcPts val="800"/>
              </a:spcBef>
              <a:buNone/>
            </a:pPr>
            <a:r>
              <a:rPr lang="en-US" b="1" dirty="0">
                <a:solidFill>
                  <a:schemeClr val="tx1"/>
                </a:solidFill>
                <a:latin typeface="Calibri" panose="020F0502020204030204" pitchFamily="34" charset="0"/>
                <a:cs typeface="Calibri" panose="020F0502020204030204" pitchFamily="34" charset="0"/>
              </a:rPr>
              <a:t>		}</a:t>
            </a:r>
          </a:p>
          <a:p>
            <a:pPr>
              <a:spcBef>
                <a:spcPts val="800"/>
              </a:spcBef>
              <a:buNone/>
            </a:pPr>
            <a:r>
              <a:rPr lang="en-US" b="1" dirty="0">
                <a:solidFill>
                  <a:schemeClr val="tx1"/>
                </a:solidFill>
                <a:latin typeface="Calibri" panose="020F0502020204030204" pitchFamily="34" charset="0"/>
                <a:cs typeface="Calibri" panose="020F0502020204030204" pitchFamily="34" charset="0"/>
              </a:rPr>
              <a:t>		return </a:t>
            </a:r>
            <a:r>
              <a:rPr lang="en-US" b="1" dirty="0" err="1">
                <a:solidFill>
                  <a:schemeClr val="tx1"/>
                </a:solidFill>
                <a:latin typeface="Calibri" panose="020F0502020204030204" pitchFamily="34" charset="0"/>
                <a:cs typeface="Calibri" panose="020F0502020204030204" pitchFamily="34" charset="0"/>
              </a:rPr>
              <a:t>val</a:t>
            </a:r>
            <a:r>
              <a:rPr lang="en-US" b="1" dirty="0">
                <a:solidFill>
                  <a:schemeClr val="tx1"/>
                </a:solidFill>
                <a:latin typeface="Calibri" panose="020F0502020204030204" pitchFamily="34" charset="0"/>
                <a:cs typeface="Calibri" panose="020F0502020204030204" pitchFamily="34" charset="0"/>
              </a:rPr>
              <a:t>;</a:t>
            </a:r>
          </a:p>
          <a:p>
            <a:pPr>
              <a:spcBef>
                <a:spcPts val="800"/>
              </a:spcBef>
              <a:buNone/>
            </a:pPr>
            <a:r>
              <a:rPr lang="en-US" b="1" dirty="0">
                <a:solidFill>
                  <a:schemeClr val="tx1"/>
                </a:solidFill>
                <a:latin typeface="Calibri" panose="020F0502020204030204" pitchFamily="34" charset="0"/>
                <a:cs typeface="Calibri" panose="020F0502020204030204" pitchFamily="34" charset="0"/>
              </a:rPr>
              <a:t>}</a:t>
            </a:r>
          </a:p>
          <a:p>
            <a:pPr>
              <a:spcBef>
                <a:spcPts val="800"/>
              </a:spcBef>
              <a:buNone/>
            </a:pPr>
            <a:r>
              <a:rPr lang="en-US" sz="2800" b="1" u="sng" dirty="0">
                <a:solidFill>
                  <a:srgbClr val="FF0000"/>
                </a:solidFill>
                <a:latin typeface="Calibri" panose="020F0502020204030204" pitchFamily="34" charset="0"/>
                <a:cs typeface="Calibri" panose="020F0502020204030204" pitchFamily="34" charset="0"/>
              </a:rPr>
              <a:t>Output</a:t>
            </a:r>
          </a:p>
          <a:p>
            <a:pPr marL="45720" indent="0">
              <a:buNone/>
            </a:pPr>
            <a:r>
              <a:rPr lang="en-IN" b="1" dirty="0">
                <a:solidFill>
                  <a:schemeClr val="tx1"/>
                </a:solidFill>
              </a:rPr>
              <a:t>Enter any infix expression : A + B – C * D</a:t>
            </a:r>
          </a:p>
          <a:p>
            <a:pPr marL="45720" indent="0">
              <a:buNone/>
            </a:pPr>
            <a:r>
              <a:rPr lang="en-IN" b="1" dirty="0">
                <a:solidFill>
                  <a:schemeClr val="tx1"/>
                </a:solidFill>
              </a:rPr>
              <a:t>The corresponding postfix expression is : A B + C D * –</a:t>
            </a:r>
          </a:p>
          <a:p>
            <a:pPr marL="45720" indent="0">
              <a:buNone/>
            </a:pPr>
            <a:r>
              <a:rPr lang="en-IN" b="1" dirty="0">
                <a:solidFill>
                  <a:schemeClr val="tx1"/>
                </a:solidFill>
              </a:rPr>
              <a:t>The prefix expression is : – + A B * C D</a:t>
            </a:r>
            <a:endParaRPr lang="en-US" b="1" spc="3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638454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4550" y="38100"/>
            <a:ext cx="11127849" cy="1356360"/>
          </a:xfrm>
        </p:spPr>
        <p:txBody>
          <a:bodyPr>
            <a:normAutofit/>
          </a:bodyPr>
          <a:lstStyle/>
          <a:p>
            <a:r>
              <a:rPr lang="en-IN" sz="4000" spc="-150" dirty="0">
                <a:solidFill>
                  <a:srgbClr val="D20C9E"/>
                </a:solidFill>
              </a:rPr>
              <a:t>Algorithm for evaluation of a prefix expression</a:t>
            </a:r>
            <a:endParaRPr lang="en-US" sz="4000" spc="-150" dirty="0">
              <a:solidFill>
                <a:srgbClr val="D20C9E"/>
              </a:solidFill>
            </a:endParaRPr>
          </a:p>
        </p:txBody>
      </p:sp>
      <p:sp>
        <p:nvSpPr>
          <p:cNvPr id="3" name="Content Placeholder 2"/>
          <p:cNvSpPr>
            <a:spLocks noGrp="1"/>
          </p:cNvSpPr>
          <p:nvPr>
            <p:ph idx="1"/>
          </p:nvPr>
        </p:nvSpPr>
        <p:spPr>
          <a:xfrm>
            <a:off x="473600" y="1143000"/>
            <a:ext cx="9872871" cy="5181600"/>
          </a:xfrm>
        </p:spPr>
        <p:txBody>
          <a:bodyPr>
            <a:normAutofit/>
          </a:bodyPr>
          <a:lstStyle/>
          <a:p>
            <a:pPr marL="45720" indent="0">
              <a:buNone/>
            </a:pPr>
            <a:r>
              <a:rPr lang="en-US" sz="2400" b="1" dirty="0">
                <a:solidFill>
                  <a:srgbClr val="FFFF00"/>
                </a:solidFill>
                <a:highlight>
                  <a:srgbClr val="FF00FF"/>
                </a:highlight>
                <a:ea typeface="Calibri" panose="020F0502020204030204" pitchFamily="34" charset="0"/>
              </a:rPr>
              <a:t>Step 1:</a:t>
            </a:r>
            <a:r>
              <a:rPr lang="en-US" sz="2400" b="1" dirty="0">
                <a:solidFill>
                  <a:schemeClr val="tx1"/>
                </a:solidFill>
              </a:rPr>
              <a:t> Accept the prefix expression</a:t>
            </a:r>
          </a:p>
          <a:p>
            <a:pPr marL="45720" indent="0">
              <a:buNone/>
            </a:pPr>
            <a:r>
              <a:rPr lang="en-US" sz="2400" b="1" dirty="0">
                <a:solidFill>
                  <a:srgbClr val="FFFF00"/>
                </a:solidFill>
                <a:highlight>
                  <a:srgbClr val="FF00FF"/>
                </a:highlight>
                <a:ea typeface="Calibri" panose="020F0502020204030204" pitchFamily="34" charset="0"/>
              </a:rPr>
              <a:t>Step 2:</a:t>
            </a:r>
            <a:r>
              <a:rPr lang="en-US" sz="1800" b="1" dirty="0">
                <a:solidFill>
                  <a:schemeClr val="tx1"/>
                </a:solidFill>
              </a:rPr>
              <a:t> </a:t>
            </a:r>
            <a:r>
              <a:rPr lang="en-US" sz="2400" b="1" dirty="0">
                <a:solidFill>
                  <a:schemeClr val="tx1"/>
                </a:solidFill>
              </a:rPr>
              <a:t>Repeat until all the characters in the prefix expression have been 	scanned</a:t>
            </a:r>
          </a:p>
          <a:p>
            <a:pPr marL="45720" indent="0">
              <a:buNone/>
            </a:pPr>
            <a:r>
              <a:rPr lang="en-US" sz="2400" b="1" dirty="0">
                <a:solidFill>
                  <a:schemeClr val="tx1"/>
                </a:solidFill>
              </a:rPr>
              <a:t>	(a) Scan the prefix expression from right, one character at a time.</a:t>
            </a:r>
          </a:p>
          <a:p>
            <a:pPr marL="45720" indent="0">
              <a:buNone/>
            </a:pPr>
            <a:r>
              <a:rPr lang="en-US" sz="2400" b="1" dirty="0">
                <a:solidFill>
                  <a:schemeClr val="tx1"/>
                </a:solidFill>
              </a:rPr>
              <a:t>	(b) If the scanned character is an operand, push it on the operand 	      stack.</a:t>
            </a:r>
          </a:p>
          <a:p>
            <a:pPr marL="45720" indent="0">
              <a:buNone/>
            </a:pPr>
            <a:r>
              <a:rPr lang="en-US" sz="2400" b="1" dirty="0">
                <a:solidFill>
                  <a:schemeClr val="tx1"/>
                </a:solidFill>
              </a:rPr>
              <a:t>	(c) If the scanned character is an operator, then</a:t>
            </a:r>
          </a:p>
          <a:p>
            <a:pPr marL="45720" indent="0">
              <a:buNone/>
            </a:pPr>
            <a:r>
              <a:rPr lang="en-US" sz="2400" b="1" dirty="0">
                <a:solidFill>
                  <a:schemeClr val="tx1"/>
                </a:solidFill>
              </a:rPr>
              <a:t>		(</a:t>
            </a:r>
            <a:r>
              <a:rPr lang="en-US" sz="2400" b="1" dirty="0" err="1">
                <a:solidFill>
                  <a:schemeClr val="tx1"/>
                </a:solidFill>
              </a:rPr>
              <a:t>i</a:t>
            </a:r>
            <a:r>
              <a:rPr lang="en-US" sz="2400" b="1" dirty="0">
                <a:solidFill>
                  <a:schemeClr val="tx1"/>
                </a:solidFill>
              </a:rPr>
              <a:t>) Pop two values from the operand stack</a:t>
            </a:r>
          </a:p>
          <a:p>
            <a:pPr marL="45720" indent="0">
              <a:buNone/>
            </a:pPr>
            <a:r>
              <a:rPr lang="en-US" sz="2400" b="1" dirty="0">
                <a:solidFill>
                  <a:schemeClr val="tx1"/>
                </a:solidFill>
              </a:rPr>
              <a:t>		(ii) Apply the operator on the popped operands</a:t>
            </a:r>
          </a:p>
          <a:p>
            <a:pPr marL="45720" indent="0">
              <a:buNone/>
            </a:pPr>
            <a:r>
              <a:rPr lang="en-US" sz="2400" b="1" dirty="0">
                <a:solidFill>
                  <a:schemeClr val="tx1"/>
                </a:solidFill>
              </a:rPr>
              <a:t>		(iii) Push the results on the operand stack</a:t>
            </a:r>
          </a:p>
          <a:p>
            <a:pPr marL="45720" indent="0">
              <a:buNone/>
            </a:pPr>
            <a:r>
              <a:rPr lang="en-US" sz="2400" b="1" dirty="0">
                <a:solidFill>
                  <a:srgbClr val="FFFF00"/>
                </a:solidFill>
                <a:highlight>
                  <a:srgbClr val="FF00FF"/>
                </a:highlight>
                <a:ea typeface="Calibri" panose="020F0502020204030204" pitchFamily="34" charset="0"/>
              </a:rPr>
              <a:t>Step 3:</a:t>
            </a:r>
            <a:r>
              <a:rPr lang="en-US" sz="2000" b="1" dirty="0">
                <a:solidFill>
                  <a:schemeClr val="tx1"/>
                </a:solidFill>
              </a:rPr>
              <a:t> </a:t>
            </a:r>
            <a:r>
              <a:rPr lang="en-US" sz="2400" b="1" dirty="0">
                <a:solidFill>
                  <a:schemeClr val="tx1"/>
                </a:solidFill>
              </a:rPr>
              <a:t>End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11353800" cy="1356360"/>
          </a:xfrm>
        </p:spPr>
        <p:txBody>
          <a:bodyPr>
            <a:normAutofit fontScale="90000"/>
          </a:bodyPr>
          <a:lstStyle/>
          <a:p>
            <a:r>
              <a:rPr lang="en-IN" spc="-150" dirty="0">
                <a:solidFill>
                  <a:srgbClr val="D20C9E"/>
                </a:solidFill>
              </a:rPr>
              <a:t>For example, </a:t>
            </a:r>
            <a:r>
              <a:rPr lang="en-IN" spc="-300" dirty="0">
                <a:solidFill>
                  <a:srgbClr val="D20C9E"/>
                </a:solidFill>
              </a:rPr>
              <a:t>consider the prefix expression </a:t>
            </a:r>
            <a:r>
              <a:rPr lang="en-IN" spc="-150" dirty="0">
                <a:solidFill>
                  <a:srgbClr val="D20C9E"/>
                </a:solidFill>
              </a:rPr>
              <a:t>+ – 2 7 * 8 / 4 12. Let us now apply the algorithm to evaluate this expression.</a:t>
            </a:r>
            <a:endParaRPr lang="en-US" spc="-150" dirty="0">
              <a:solidFill>
                <a:srgbClr val="D20C9E"/>
              </a:solidFill>
            </a:endParaRPr>
          </a:p>
        </p:txBody>
      </p:sp>
      <p:pic>
        <p:nvPicPr>
          <p:cNvPr id="4" name="Picture 2"/>
          <p:cNvPicPr>
            <a:picLocks noGrp="1" noChangeAspect="1" noChangeArrowheads="1"/>
          </p:cNvPicPr>
          <p:nvPr>
            <p:ph idx="1"/>
          </p:nvPr>
        </p:nvPicPr>
        <p:blipFill>
          <a:blip r:embed="rId2" cstate="print"/>
          <a:stretch>
            <a:fillRect/>
          </a:stretch>
        </p:blipFill>
        <p:spPr bwMode="auto">
          <a:xfrm>
            <a:off x="381000" y="1965960"/>
            <a:ext cx="8001000" cy="4495800"/>
          </a:xfrm>
          <a:prstGeom prst="rect">
            <a:avLst/>
          </a:prstGeom>
          <a:noFill/>
          <a:ln w="9525">
            <a:noFill/>
            <a:miter lim="800000"/>
            <a:headEnd/>
            <a:tailEnd/>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9875520" cy="1356360"/>
          </a:xfrm>
        </p:spPr>
        <p:txBody>
          <a:bodyPr/>
          <a:lstStyle/>
          <a:p>
            <a:r>
              <a:rPr lang="en-IN" b="1" i="1" dirty="0">
                <a:solidFill>
                  <a:srgbClr val="D20C9E"/>
                </a:solidFill>
              </a:rPr>
              <a:t>Evaluation of a Prefix Expression</a:t>
            </a:r>
            <a:endParaRPr lang="en-US" dirty="0">
              <a:solidFill>
                <a:srgbClr val="D20C9E"/>
              </a:solidFill>
            </a:endParaRPr>
          </a:p>
        </p:txBody>
      </p:sp>
      <p:sp>
        <p:nvSpPr>
          <p:cNvPr id="3" name="Content Placeholder 2"/>
          <p:cNvSpPr>
            <a:spLocks noGrp="1"/>
          </p:cNvSpPr>
          <p:nvPr>
            <p:ph idx="1"/>
          </p:nvPr>
        </p:nvSpPr>
        <p:spPr>
          <a:xfrm>
            <a:off x="307449" y="1066800"/>
            <a:ext cx="9872871" cy="5410200"/>
          </a:xfrm>
        </p:spPr>
        <p:txBody>
          <a:bodyPr>
            <a:normAutofit/>
          </a:bodyPr>
          <a:lstStyle/>
          <a:p>
            <a:pPr marL="45720" indent="0">
              <a:spcBef>
                <a:spcPts val="400"/>
              </a:spcBef>
              <a:buNone/>
            </a:pPr>
            <a:r>
              <a:rPr lang="en-IN" b="1" dirty="0">
                <a:solidFill>
                  <a:schemeClr val="tx1"/>
                </a:solidFill>
              </a:rPr>
              <a:t>#include &lt;</a:t>
            </a:r>
            <a:r>
              <a:rPr lang="en-IN" b="1" dirty="0" err="1">
                <a:solidFill>
                  <a:schemeClr val="tx1"/>
                </a:solidFill>
              </a:rPr>
              <a:t>stdio.h</a:t>
            </a:r>
            <a:r>
              <a:rPr lang="en-IN" b="1" dirty="0">
                <a:solidFill>
                  <a:schemeClr val="tx1"/>
                </a:solidFill>
              </a:rPr>
              <a:t>&gt;</a:t>
            </a:r>
          </a:p>
          <a:p>
            <a:pPr marL="45720" indent="0">
              <a:spcBef>
                <a:spcPts val="400"/>
              </a:spcBef>
              <a:buNone/>
            </a:pPr>
            <a:r>
              <a:rPr lang="en-IN" b="1" dirty="0">
                <a:solidFill>
                  <a:schemeClr val="tx1"/>
                </a:solidFill>
              </a:rPr>
              <a:t>#include &lt;</a:t>
            </a:r>
            <a:r>
              <a:rPr lang="en-IN" b="1" dirty="0" err="1">
                <a:solidFill>
                  <a:schemeClr val="tx1"/>
                </a:solidFill>
              </a:rPr>
              <a:t>conio.h</a:t>
            </a:r>
            <a:r>
              <a:rPr lang="en-IN" b="1" dirty="0">
                <a:solidFill>
                  <a:schemeClr val="tx1"/>
                </a:solidFill>
              </a:rPr>
              <a:t>&gt;</a:t>
            </a:r>
          </a:p>
          <a:p>
            <a:pPr marL="45720" indent="0">
              <a:spcBef>
                <a:spcPts val="400"/>
              </a:spcBef>
              <a:buNone/>
            </a:pPr>
            <a:r>
              <a:rPr lang="en-IN" b="1" dirty="0">
                <a:solidFill>
                  <a:schemeClr val="tx1"/>
                </a:solidFill>
              </a:rPr>
              <a:t>#include &lt;</a:t>
            </a:r>
            <a:r>
              <a:rPr lang="en-IN" b="1" dirty="0" err="1">
                <a:solidFill>
                  <a:schemeClr val="tx1"/>
                </a:solidFill>
              </a:rPr>
              <a:t>string.h</a:t>
            </a:r>
            <a:r>
              <a:rPr lang="en-IN" b="1" dirty="0">
                <a:solidFill>
                  <a:schemeClr val="tx1"/>
                </a:solidFill>
              </a:rPr>
              <a:t>&gt;</a:t>
            </a:r>
          </a:p>
          <a:p>
            <a:pPr marL="45720" indent="0">
              <a:spcBef>
                <a:spcPts val="400"/>
              </a:spcBef>
              <a:buNone/>
            </a:pPr>
            <a:r>
              <a:rPr lang="en-IN" b="1" dirty="0" err="1">
                <a:solidFill>
                  <a:schemeClr val="tx1"/>
                </a:solidFill>
              </a:rPr>
              <a:t>int</a:t>
            </a:r>
            <a:r>
              <a:rPr lang="en-IN" b="1" dirty="0">
                <a:solidFill>
                  <a:schemeClr val="tx1"/>
                </a:solidFill>
              </a:rPr>
              <a:t> </a:t>
            </a:r>
            <a:r>
              <a:rPr lang="en-IN" b="1" dirty="0" err="1">
                <a:solidFill>
                  <a:schemeClr val="tx1"/>
                </a:solidFill>
              </a:rPr>
              <a:t>stk</a:t>
            </a:r>
            <a:r>
              <a:rPr lang="en-IN" b="1" dirty="0">
                <a:solidFill>
                  <a:schemeClr val="tx1"/>
                </a:solidFill>
              </a:rPr>
              <a:t>[10];</a:t>
            </a:r>
          </a:p>
          <a:p>
            <a:pPr marL="45720" indent="0">
              <a:spcBef>
                <a:spcPts val="400"/>
              </a:spcBef>
              <a:buNone/>
            </a:pPr>
            <a:r>
              <a:rPr lang="en-IN" b="1" dirty="0" err="1">
                <a:solidFill>
                  <a:schemeClr val="tx1"/>
                </a:solidFill>
              </a:rPr>
              <a:t>int</a:t>
            </a:r>
            <a:r>
              <a:rPr lang="en-IN" b="1" dirty="0">
                <a:solidFill>
                  <a:schemeClr val="tx1"/>
                </a:solidFill>
              </a:rPr>
              <a:t> top=–1;</a:t>
            </a:r>
          </a:p>
          <a:p>
            <a:pPr marL="45720" indent="0">
              <a:spcBef>
                <a:spcPts val="400"/>
              </a:spcBef>
              <a:buNone/>
            </a:pPr>
            <a:r>
              <a:rPr lang="en-IN" b="1" dirty="0" err="1">
                <a:solidFill>
                  <a:schemeClr val="tx1"/>
                </a:solidFill>
              </a:rPr>
              <a:t>int</a:t>
            </a:r>
            <a:r>
              <a:rPr lang="en-IN" b="1" dirty="0">
                <a:solidFill>
                  <a:schemeClr val="tx1"/>
                </a:solidFill>
              </a:rPr>
              <a:t> pop();</a:t>
            </a:r>
          </a:p>
          <a:p>
            <a:pPr marL="45720" indent="0">
              <a:spcBef>
                <a:spcPts val="400"/>
              </a:spcBef>
              <a:buNone/>
            </a:pPr>
            <a:r>
              <a:rPr lang="en-IN" b="1" dirty="0">
                <a:solidFill>
                  <a:schemeClr val="tx1"/>
                </a:solidFill>
              </a:rPr>
              <a:t>void push(</a:t>
            </a:r>
            <a:r>
              <a:rPr lang="en-IN" b="1" dirty="0" err="1">
                <a:solidFill>
                  <a:schemeClr val="tx1"/>
                </a:solidFill>
              </a:rPr>
              <a:t>int</a:t>
            </a:r>
            <a:r>
              <a:rPr lang="en-IN" b="1" dirty="0">
                <a:solidFill>
                  <a:schemeClr val="tx1"/>
                </a:solidFill>
              </a:rPr>
              <a:t>);</a:t>
            </a:r>
          </a:p>
          <a:p>
            <a:pPr marL="45720" indent="0">
              <a:spcBef>
                <a:spcPts val="400"/>
              </a:spcBef>
              <a:buNone/>
            </a:pPr>
            <a:r>
              <a:rPr lang="en-IN" b="1" dirty="0" err="1">
                <a:solidFill>
                  <a:schemeClr val="tx1"/>
                </a:solidFill>
              </a:rPr>
              <a:t>int</a:t>
            </a:r>
            <a:r>
              <a:rPr lang="en-IN" b="1" dirty="0">
                <a:solidFill>
                  <a:schemeClr val="tx1"/>
                </a:solidFill>
              </a:rPr>
              <a:t> main()</a:t>
            </a:r>
          </a:p>
          <a:p>
            <a:pPr marL="45720" indent="0">
              <a:spcBef>
                <a:spcPts val="400"/>
              </a:spcBef>
              <a:buNone/>
            </a:pPr>
            <a:r>
              <a:rPr lang="en-IN" b="1" dirty="0">
                <a:solidFill>
                  <a:schemeClr val="tx1"/>
                </a:solidFill>
              </a:rPr>
              <a:t>{</a:t>
            </a:r>
          </a:p>
          <a:p>
            <a:pPr marL="45720" indent="0">
              <a:spcBef>
                <a:spcPts val="400"/>
              </a:spcBef>
              <a:buNone/>
            </a:pPr>
            <a:r>
              <a:rPr lang="en-IN" b="1" dirty="0">
                <a:solidFill>
                  <a:schemeClr val="tx1"/>
                </a:solidFill>
              </a:rPr>
              <a:t>	char prefix[10];</a:t>
            </a:r>
          </a:p>
          <a:p>
            <a:pPr marL="45720" indent="0">
              <a:spcBef>
                <a:spcPts val="400"/>
              </a:spcBef>
              <a:buNone/>
            </a:pPr>
            <a:r>
              <a:rPr lang="en-IN" b="1" dirty="0">
                <a:solidFill>
                  <a:schemeClr val="tx1"/>
                </a:solidFill>
              </a:rPr>
              <a:t>	</a:t>
            </a:r>
            <a:r>
              <a:rPr lang="en-IN" b="1" dirty="0" err="1">
                <a:solidFill>
                  <a:schemeClr val="tx1"/>
                </a:solidFill>
              </a:rPr>
              <a:t>int</a:t>
            </a:r>
            <a:r>
              <a:rPr lang="en-IN" b="1" dirty="0">
                <a:solidFill>
                  <a:schemeClr val="tx1"/>
                </a:solidFill>
              </a:rPr>
              <a:t> </a:t>
            </a:r>
            <a:r>
              <a:rPr lang="en-IN" b="1" dirty="0" err="1">
                <a:solidFill>
                  <a:schemeClr val="tx1"/>
                </a:solidFill>
              </a:rPr>
              <a:t>len</a:t>
            </a:r>
            <a:r>
              <a:rPr lang="en-IN" b="1" dirty="0">
                <a:solidFill>
                  <a:schemeClr val="tx1"/>
                </a:solidFill>
              </a:rPr>
              <a:t>, </a:t>
            </a:r>
            <a:r>
              <a:rPr lang="en-IN" b="1" dirty="0" err="1">
                <a:solidFill>
                  <a:schemeClr val="tx1"/>
                </a:solidFill>
              </a:rPr>
              <a:t>val</a:t>
            </a:r>
            <a:r>
              <a:rPr lang="en-IN" b="1" dirty="0">
                <a:solidFill>
                  <a:schemeClr val="tx1"/>
                </a:solidFill>
              </a:rPr>
              <a:t>, </a:t>
            </a:r>
            <a:r>
              <a:rPr lang="en-IN" b="1" dirty="0" err="1">
                <a:solidFill>
                  <a:schemeClr val="tx1"/>
                </a:solidFill>
              </a:rPr>
              <a:t>i</a:t>
            </a:r>
            <a:r>
              <a:rPr lang="en-IN" b="1" dirty="0">
                <a:solidFill>
                  <a:schemeClr val="tx1"/>
                </a:solidFill>
              </a:rPr>
              <a:t>, opr1, opr2, res;</a:t>
            </a:r>
          </a:p>
          <a:p>
            <a:pPr marL="45720" indent="0">
              <a:spcBef>
                <a:spcPts val="400"/>
              </a:spcBef>
              <a:buNone/>
            </a:pPr>
            <a:r>
              <a:rPr lang="en-IN" b="1" dirty="0">
                <a:solidFill>
                  <a:schemeClr val="tx1"/>
                </a:solidFill>
              </a:rPr>
              <a:t>	</a:t>
            </a:r>
            <a:r>
              <a:rPr lang="en-IN" b="1" dirty="0" err="1">
                <a:solidFill>
                  <a:schemeClr val="tx1"/>
                </a:solidFill>
              </a:rPr>
              <a:t>clrscr</a:t>
            </a:r>
            <a:r>
              <a:rPr lang="en-IN" b="1" dirty="0">
                <a:solidFill>
                  <a:schemeClr val="tx1"/>
                </a:solidFill>
              </a:rPr>
              <a:t>();</a:t>
            </a:r>
          </a:p>
          <a:p>
            <a:pPr marL="45720" indent="0">
              <a:spcBef>
                <a:spcPts val="400"/>
              </a:spcBef>
              <a:buNone/>
            </a:pPr>
            <a:r>
              <a:rPr lang="en-IN" b="1" dirty="0">
                <a:solidFill>
                  <a:schemeClr val="tx1"/>
                </a:solidFill>
              </a:rPr>
              <a:t>	printf("\n Enter the prefix expression : ");</a:t>
            </a:r>
          </a:p>
          <a:p>
            <a:pPr marL="45720" indent="0">
              <a:spcBef>
                <a:spcPts val="400"/>
              </a:spcBef>
              <a:buNone/>
            </a:pPr>
            <a:r>
              <a:rPr lang="en-IN" b="1" dirty="0">
                <a:solidFill>
                  <a:schemeClr val="tx1"/>
                </a:solidFill>
              </a:rPr>
              <a:t>	gets(prefix);</a:t>
            </a:r>
          </a:p>
          <a:p>
            <a:pPr marL="45720" indent="0">
              <a:spcBef>
                <a:spcPts val="400"/>
              </a:spcBef>
              <a:buNone/>
            </a:pPr>
            <a:r>
              <a:rPr lang="en-IN" b="1" dirty="0">
                <a:solidFill>
                  <a:schemeClr val="tx1"/>
                </a:solidFill>
              </a:rPr>
              <a:t>	</a:t>
            </a:r>
            <a:r>
              <a:rPr lang="en-IN" b="1" dirty="0" err="1">
                <a:solidFill>
                  <a:schemeClr val="tx1"/>
                </a:solidFill>
              </a:rPr>
              <a:t>len</a:t>
            </a:r>
            <a:r>
              <a:rPr lang="en-IN" b="1" dirty="0">
                <a:solidFill>
                  <a:schemeClr val="tx1"/>
                </a:solidFill>
              </a:rPr>
              <a:t> = </a:t>
            </a:r>
            <a:r>
              <a:rPr lang="en-IN" b="1" dirty="0" err="1">
                <a:solidFill>
                  <a:schemeClr val="tx1"/>
                </a:solidFill>
              </a:rPr>
              <a:t>strlen</a:t>
            </a:r>
            <a:r>
              <a:rPr lang="en-IN" b="1" dirty="0">
                <a:solidFill>
                  <a:schemeClr val="tx1"/>
                </a:solidFill>
              </a:rPr>
              <a:t>(prefix);</a:t>
            </a:r>
            <a:endParaRPr lang="en-US" b="1" dirty="0">
              <a:solidFill>
                <a:schemeClr val="tx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81000" y="381000"/>
            <a:ext cx="8382000" cy="6096000"/>
          </a:xfrm>
        </p:spPr>
        <p:txBody>
          <a:bodyPr>
            <a:normAutofit/>
          </a:bodyPr>
          <a:lstStyle/>
          <a:p>
            <a:pPr marL="45720" indent="0">
              <a:spcBef>
                <a:spcPts val="400"/>
              </a:spcBef>
              <a:buNone/>
            </a:pPr>
            <a:r>
              <a:rPr lang="en-IN" b="1" dirty="0">
                <a:solidFill>
                  <a:schemeClr val="tx1"/>
                </a:solidFill>
              </a:rPr>
              <a:t>for(</a:t>
            </a:r>
            <a:r>
              <a:rPr lang="en-IN" b="1" dirty="0" err="1">
                <a:solidFill>
                  <a:schemeClr val="tx1"/>
                </a:solidFill>
              </a:rPr>
              <a:t>i</a:t>
            </a:r>
            <a:r>
              <a:rPr lang="en-IN" b="1" dirty="0">
                <a:solidFill>
                  <a:schemeClr val="tx1"/>
                </a:solidFill>
              </a:rPr>
              <a:t>=</a:t>
            </a:r>
            <a:r>
              <a:rPr lang="en-IN" b="1" dirty="0" err="1">
                <a:solidFill>
                  <a:schemeClr val="tx1"/>
                </a:solidFill>
              </a:rPr>
              <a:t>len</a:t>
            </a:r>
            <a:r>
              <a:rPr lang="en-IN" b="1" dirty="0">
                <a:solidFill>
                  <a:schemeClr val="tx1"/>
                </a:solidFill>
              </a:rPr>
              <a:t>–1;i&gt;=0;i – –)</a:t>
            </a:r>
          </a:p>
          <a:p>
            <a:pPr marL="45720" indent="0">
              <a:spcBef>
                <a:spcPts val="400"/>
              </a:spcBef>
              <a:buNone/>
            </a:pPr>
            <a:r>
              <a:rPr lang="en-IN" sz="2600" b="1" dirty="0">
                <a:solidFill>
                  <a:srgbClr val="FFFF00"/>
                </a:solidFill>
                <a:highlight>
                  <a:srgbClr val="0000FF"/>
                </a:highlight>
                <a:ea typeface="Calibri" panose="020F0502020204030204" pitchFamily="34" charset="0"/>
              </a:rPr>
              <a:t>{    </a:t>
            </a:r>
          </a:p>
          <a:p>
            <a:pPr marL="45720" indent="0">
              <a:spcBef>
                <a:spcPts val="400"/>
              </a:spcBef>
              <a:buNone/>
            </a:pPr>
            <a:r>
              <a:rPr lang="en-IN" b="1" dirty="0">
                <a:solidFill>
                  <a:schemeClr val="tx1"/>
                </a:solidFill>
              </a:rPr>
              <a:t>	switch(</a:t>
            </a:r>
            <a:r>
              <a:rPr lang="en-IN" b="1" dirty="0" err="1">
                <a:solidFill>
                  <a:schemeClr val="tx1"/>
                </a:solidFill>
              </a:rPr>
              <a:t>get_type</a:t>
            </a:r>
            <a:r>
              <a:rPr lang="en-IN" b="1" dirty="0">
                <a:solidFill>
                  <a:schemeClr val="tx1"/>
                </a:solidFill>
              </a:rPr>
              <a:t>(prefix[</a:t>
            </a:r>
            <a:r>
              <a:rPr lang="en-IN" b="1" dirty="0" err="1">
                <a:solidFill>
                  <a:schemeClr val="tx1"/>
                </a:solidFill>
              </a:rPr>
              <a:t>i</a:t>
            </a:r>
            <a:r>
              <a:rPr lang="en-IN" b="1" dirty="0">
                <a:solidFill>
                  <a:schemeClr val="tx1"/>
                </a:solidFill>
              </a:rPr>
              <a:t>]))</a:t>
            </a:r>
          </a:p>
          <a:p>
            <a:pPr marL="45720" indent="0">
              <a:spcBef>
                <a:spcPts val="400"/>
              </a:spcBef>
              <a:buNone/>
            </a:pPr>
            <a:r>
              <a:rPr lang="en-IN" b="1" dirty="0">
                <a:solidFill>
                  <a:schemeClr val="tx1"/>
                </a:solidFill>
              </a:rPr>
              <a:t>	</a:t>
            </a:r>
            <a:r>
              <a:rPr lang="en-IN" sz="3300" b="1" dirty="0">
                <a:solidFill>
                  <a:srgbClr val="FFFF00"/>
                </a:solidFill>
                <a:highlight>
                  <a:srgbClr val="FF00FF"/>
                </a:highlight>
                <a:ea typeface="Calibri" panose="020F0502020204030204" pitchFamily="34" charset="0"/>
              </a:rPr>
              <a:t>{</a:t>
            </a:r>
          </a:p>
          <a:p>
            <a:pPr marL="45720" indent="0">
              <a:spcBef>
                <a:spcPts val="400"/>
              </a:spcBef>
              <a:buNone/>
            </a:pPr>
            <a:r>
              <a:rPr lang="en-IN" b="1" dirty="0">
                <a:solidFill>
                  <a:schemeClr val="tx1"/>
                </a:solidFill>
              </a:rPr>
              <a:t>		case 0:</a:t>
            </a:r>
          </a:p>
          <a:p>
            <a:pPr marL="45720" indent="0">
              <a:spcBef>
                <a:spcPts val="400"/>
              </a:spcBef>
              <a:buNone/>
            </a:pPr>
            <a:r>
              <a:rPr lang="en-IN" b="1" dirty="0">
                <a:solidFill>
                  <a:schemeClr val="tx1"/>
                </a:solidFill>
              </a:rPr>
              <a:t>			</a:t>
            </a:r>
            <a:r>
              <a:rPr lang="en-IN" b="1" dirty="0" err="1">
                <a:solidFill>
                  <a:schemeClr val="tx1"/>
                </a:solidFill>
              </a:rPr>
              <a:t>val</a:t>
            </a:r>
            <a:r>
              <a:rPr lang="en-IN" b="1" dirty="0">
                <a:solidFill>
                  <a:schemeClr val="tx1"/>
                </a:solidFill>
              </a:rPr>
              <a:t> = prefix[</a:t>
            </a:r>
            <a:r>
              <a:rPr lang="en-IN" b="1" dirty="0" err="1">
                <a:solidFill>
                  <a:schemeClr val="tx1"/>
                </a:solidFill>
              </a:rPr>
              <a:t>i</a:t>
            </a:r>
            <a:r>
              <a:rPr lang="en-IN" b="1" dirty="0">
                <a:solidFill>
                  <a:schemeClr val="tx1"/>
                </a:solidFill>
              </a:rPr>
              <a:t>] – '0';</a:t>
            </a:r>
          </a:p>
          <a:p>
            <a:pPr marL="45720" indent="0">
              <a:spcBef>
                <a:spcPts val="400"/>
              </a:spcBef>
              <a:buNone/>
            </a:pPr>
            <a:r>
              <a:rPr lang="en-IN" b="1" dirty="0">
                <a:solidFill>
                  <a:schemeClr val="tx1"/>
                </a:solidFill>
              </a:rPr>
              <a:t>			push(</a:t>
            </a:r>
            <a:r>
              <a:rPr lang="en-IN" b="1" dirty="0" err="1">
                <a:solidFill>
                  <a:schemeClr val="tx1"/>
                </a:solidFill>
              </a:rPr>
              <a:t>val</a:t>
            </a:r>
            <a:r>
              <a:rPr lang="en-IN" b="1" dirty="0">
                <a:solidFill>
                  <a:schemeClr val="tx1"/>
                </a:solidFill>
              </a:rPr>
              <a:t>);</a:t>
            </a:r>
          </a:p>
          <a:p>
            <a:pPr marL="45720" indent="0">
              <a:spcBef>
                <a:spcPts val="400"/>
              </a:spcBef>
              <a:buNone/>
            </a:pPr>
            <a:r>
              <a:rPr lang="en-IN" b="1" dirty="0">
                <a:solidFill>
                  <a:schemeClr val="tx1"/>
                </a:solidFill>
              </a:rPr>
              <a:t>			break;</a:t>
            </a:r>
          </a:p>
          <a:p>
            <a:pPr marL="45720" indent="0">
              <a:spcBef>
                <a:spcPts val="400"/>
              </a:spcBef>
              <a:buNone/>
            </a:pPr>
            <a:r>
              <a:rPr lang="en-IN" b="1" dirty="0">
                <a:solidFill>
                  <a:schemeClr val="tx1"/>
                </a:solidFill>
              </a:rPr>
              <a:t>		case 1:</a:t>
            </a:r>
          </a:p>
          <a:p>
            <a:pPr marL="45720" indent="0">
              <a:spcBef>
                <a:spcPts val="400"/>
              </a:spcBef>
              <a:buNone/>
            </a:pPr>
            <a:r>
              <a:rPr lang="en-IN" b="1" dirty="0">
                <a:solidFill>
                  <a:schemeClr val="tx1"/>
                </a:solidFill>
              </a:rPr>
              <a:t>			opr1 = pop();</a:t>
            </a:r>
          </a:p>
          <a:p>
            <a:pPr marL="45720" indent="0">
              <a:spcBef>
                <a:spcPts val="400"/>
              </a:spcBef>
              <a:buNone/>
            </a:pPr>
            <a:r>
              <a:rPr lang="en-IN" b="1" dirty="0">
                <a:solidFill>
                  <a:schemeClr val="tx1"/>
                </a:solidFill>
              </a:rPr>
              <a:t>			opr2 = pop();</a:t>
            </a:r>
          </a:p>
          <a:p>
            <a:pPr marL="45720" indent="0">
              <a:spcBef>
                <a:spcPts val="400"/>
              </a:spcBef>
              <a:buNone/>
            </a:pPr>
            <a:r>
              <a:rPr lang="en-IN" b="1" dirty="0">
                <a:solidFill>
                  <a:schemeClr val="tx1"/>
                </a:solidFill>
              </a:rPr>
              <a:t>			switch(prefix[</a:t>
            </a:r>
            <a:r>
              <a:rPr lang="en-IN" b="1" dirty="0" err="1">
                <a:solidFill>
                  <a:schemeClr val="tx1"/>
                </a:solidFill>
              </a:rPr>
              <a:t>i</a:t>
            </a:r>
            <a:r>
              <a:rPr lang="en-IN" b="1" dirty="0">
                <a:solidFill>
                  <a:schemeClr val="tx1"/>
                </a:solidFill>
              </a:rPr>
              <a:t>])</a:t>
            </a:r>
          </a:p>
          <a:p>
            <a:pPr marL="45720" indent="0">
              <a:spcBef>
                <a:spcPts val="400"/>
              </a:spcBef>
              <a:buNone/>
            </a:pPr>
            <a:r>
              <a:rPr lang="en-IN" b="1" dirty="0">
                <a:solidFill>
                  <a:schemeClr val="tx1"/>
                </a:solidFill>
              </a:rPr>
              <a:t>			</a:t>
            </a:r>
            <a:r>
              <a:rPr lang="en-IN" sz="2800" b="1" dirty="0">
                <a:solidFill>
                  <a:schemeClr val="tx1"/>
                </a:solidFill>
                <a:highlight>
                  <a:srgbClr val="00FF00"/>
                </a:highlight>
                <a:ea typeface="Calibri" panose="020F0502020204030204" pitchFamily="34" charset="0"/>
              </a:rPr>
              <a:t>{</a:t>
            </a:r>
          </a:p>
          <a:p>
            <a:pPr marL="45720" indent="0">
              <a:spcBef>
                <a:spcPts val="400"/>
              </a:spcBef>
              <a:buNone/>
            </a:pPr>
            <a:r>
              <a:rPr lang="en-IN" b="1" dirty="0">
                <a:solidFill>
                  <a:schemeClr val="tx1"/>
                </a:solidFill>
              </a:rPr>
              <a:t>				case '+':</a:t>
            </a:r>
          </a:p>
          <a:p>
            <a:pPr marL="45720" indent="0">
              <a:spcBef>
                <a:spcPts val="400"/>
              </a:spcBef>
              <a:buNone/>
            </a:pPr>
            <a:r>
              <a:rPr lang="en-IN" b="1" dirty="0">
                <a:solidFill>
                  <a:schemeClr val="tx1"/>
                </a:solidFill>
              </a:rPr>
              <a:t>					res = opr1 + opr2;</a:t>
            </a:r>
          </a:p>
          <a:p>
            <a:pPr marL="45720" indent="0">
              <a:spcBef>
                <a:spcPts val="400"/>
              </a:spcBef>
              <a:buNone/>
            </a:pPr>
            <a:r>
              <a:rPr lang="en-IN" b="1" dirty="0">
                <a:solidFill>
                  <a:schemeClr val="tx1"/>
                </a:solidFill>
              </a:rPr>
              <a:t>					break;</a:t>
            </a:r>
          </a:p>
          <a:p>
            <a:pPr marL="45720" indent="0">
              <a:spcBef>
                <a:spcPts val="400"/>
              </a:spcBef>
              <a:buNone/>
            </a:pPr>
            <a:endParaRPr lang="en-IN" b="1" dirty="0">
              <a:solidFill>
                <a:schemeClr val="tx1"/>
              </a:solidFill>
            </a:endParaRPr>
          </a:p>
        </p:txBody>
      </p:sp>
      <p:sp>
        <p:nvSpPr>
          <p:cNvPr id="5" name="Content Placeholder 4"/>
          <p:cNvSpPr>
            <a:spLocks noGrp="1"/>
          </p:cNvSpPr>
          <p:nvPr>
            <p:ph sz="half" idx="2"/>
          </p:nvPr>
        </p:nvSpPr>
        <p:spPr>
          <a:xfrm>
            <a:off x="7315200" y="304800"/>
            <a:ext cx="4754880" cy="5547360"/>
          </a:xfrm>
        </p:spPr>
        <p:txBody>
          <a:bodyPr>
            <a:normAutofit/>
          </a:bodyPr>
          <a:lstStyle/>
          <a:p>
            <a:pPr marL="45720" indent="0">
              <a:spcBef>
                <a:spcPts val="400"/>
              </a:spcBef>
              <a:buNone/>
            </a:pPr>
            <a:r>
              <a:rPr lang="en-IN" b="1" dirty="0">
                <a:solidFill>
                  <a:schemeClr val="tx1"/>
                </a:solidFill>
              </a:rPr>
              <a:t>	case '–':</a:t>
            </a:r>
          </a:p>
          <a:p>
            <a:pPr marL="45720" indent="0">
              <a:spcBef>
                <a:spcPts val="400"/>
              </a:spcBef>
              <a:buNone/>
            </a:pPr>
            <a:r>
              <a:rPr lang="en-IN" b="1" dirty="0">
                <a:solidFill>
                  <a:schemeClr val="tx1"/>
                </a:solidFill>
              </a:rPr>
              <a:t>		res = opr1 – opr2;</a:t>
            </a:r>
          </a:p>
          <a:p>
            <a:pPr marL="45720" indent="0">
              <a:spcBef>
                <a:spcPts val="400"/>
              </a:spcBef>
              <a:buNone/>
            </a:pPr>
            <a:r>
              <a:rPr lang="en-IN" b="1" dirty="0">
                <a:solidFill>
                  <a:schemeClr val="tx1"/>
                </a:solidFill>
              </a:rPr>
              <a:t>		break;</a:t>
            </a:r>
          </a:p>
          <a:p>
            <a:pPr marL="45720" indent="0">
              <a:spcBef>
                <a:spcPts val="400"/>
              </a:spcBef>
              <a:buNone/>
            </a:pPr>
            <a:r>
              <a:rPr lang="en-IN" b="1" dirty="0">
                <a:solidFill>
                  <a:schemeClr val="tx1"/>
                </a:solidFill>
              </a:rPr>
              <a:t>	case '*':</a:t>
            </a:r>
          </a:p>
          <a:p>
            <a:pPr marL="45720" indent="0">
              <a:spcBef>
                <a:spcPts val="400"/>
              </a:spcBef>
              <a:buNone/>
            </a:pPr>
            <a:r>
              <a:rPr lang="en-IN" b="1" dirty="0">
                <a:solidFill>
                  <a:schemeClr val="tx1"/>
                </a:solidFill>
              </a:rPr>
              <a:t>		res = opr1 * opr2;</a:t>
            </a:r>
          </a:p>
          <a:p>
            <a:pPr marL="45720" indent="0">
              <a:spcBef>
                <a:spcPts val="400"/>
              </a:spcBef>
              <a:buNone/>
            </a:pPr>
            <a:r>
              <a:rPr lang="en-IN" b="1" dirty="0">
                <a:solidFill>
                  <a:schemeClr val="tx1"/>
                </a:solidFill>
              </a:rPr>
              <a:t>		break;</a:t>
            </a:r>
          </a:p>
          <a:p>
            <a:pPr marL="45720" indent="0">
              <a:spcBef>
                <a:spcPts val="400"/>
              </a:spcBef>
              <a:buNone/>
            </a:pPr>
            <a:r>
              <a:rPr lang="en-IN" b="1" dirty="0">
                <a:solidFill>
                  <a:schemeClr val="tx1"/>
                </a:solidFill>
              </a:rPr>
              <a:t>	case '/':</a:t>
            </a:r>
          </a:p>
          <a:p>
            <a:pPr marL="45720" indent="0">
              <a:spcBef>
                <a:spcPts val="400"/>
              </a:spcBef>
              <a:buNone/>
            </a:pPr>
            <a:r>
              <a:rPr lang="en-IN" b="1" dirty="0">
                <a:solidFill>
                  <a:schemeClr val="tx1"/>
                </a:solidFill>
              </a:rPr>
              <a:t>		res = opr1 / opr2;</a:t>
            </a:r>
          </a:p>
          <a:p>
            <a:pPr marL="45720" indent="0">
              <a:spcBef>
                <a:spcPts val="400"/>
              </a:spcBef>
              <a:buNone/>
            </a:pPr>
            <a:r>
              <a:rPr lang="en-IN" b="1" dirty="0">
                <a:solidFill>
                  <a:schemeClr val="tx1"/>
                </a:solidFill>
              </a:rPr>
              <a:t>		break;</a:t>
            </a:r>
          </a:p>
          <a:p>
            <a:pPr marL="45720" indent="0">
              <a:spcBef>
                <a:spcPts val="400"/>
              </a:spcBef>
              <a:buNone/>
            </a:pPr>
            <a:r>
              <a:rPr lang="en-IN" b="1" dirty="0">
                <a:solidFill>
                  <a:schemeClr val="tx1"/>
                </a:solidFill>
              </a:rPr>
              <a:t>	</a:t>
            </a:r>
            <a:r>
              <a:rPr lang="en-IN" sz="2800" b="1" dirty="0">
                <a:solidFill>
                  <a:schemeClr val="tx1"/>
                </a:solidFill>
                <a:highlight>
                  <a:srgbClr val="00FF00"/>
                </a:highlight>
                <a:ea typeface="Calibri" panose="020F0502020204030204" pitchFamily="34" charset="0"/>
              </a:rPr>
              <a:t>}</a:t>
            </a:r>
          </a:p>
          <a:p>
            <a:pPr marL="45720" indent="0">
              <a:spcBef>
                <a:spcPts val="400"/>
              </a:spcBef>
              <a:buNone/>
            </a:pPr>
            <a:r>
              <a:rPr lang="en-IN" b="1" dirty="0">
                <a:solidFill>
                  <a:schemeClr val="tx1"/>
                </a:solidFill>
              </a:rPr>
              <a:t>	push(res);</a:t>
            </a:r>
          </a:p>
          <a:p>
            <a:pPr marL="45720" indent="0">
              <a:spcBef>
                <a:spcPts val="400"/>
              </a:spcBef>
              <a:buNone/>
            </a:pPr>
            <a:r>
              <a:rPr lang="en-IN" b="1" dirty="0">
                <a:solidFill>
                  <a:schemeClr val="tx1"/>
                </a:solidFill>
              </a:rPr>
              <a:t>      </a:t>
            </a:r>
            <a:r>
              <a:rPr lang="en-IN" sz="3300" b="1" dirty="0">
                <a:solidFill>
                  <a:srgbClr val="FFFF00"/>
                </a:solidFill>
                <a:highlight>
                  <a:srgbClr val="FF00FF"/>
                </a:highlight>
                <a:ea typeface="Calibri" panose="020F0502020204030204" pitchFamily="34" charset="0"/>
              </a:rPr>
              <a:t> }</a:t>
            </a:r>
          </a:p>
          <a:p>
            <a:pPr marL="45720" indent="0">
              <a:spcBef>
                <a:spcPts val="400"/>
              </a:spcBef>
              <a:buNone/>
            </a:pPr>
            <a:r>
              <a:rPr lang="en-IN" sz="2600" b="1" dirty="0">
                <a:solidFill>
                  <a:srgbClr val="FFFF00"/>
                </a:solidFill>
                <a:highlight>
                  <a:srgbClr val="0000FF"/>
                </a:highlight>
                <a:ea typeface="Calibri" panose="020F0502020204030204" pitchFamily="34" charset="0"/>
              </a:rPr>
              <a:t>}</a:t>
            </a:r>
          </a:p>
          <a:p>
            <a:pPr marL="45720" indent="0">
              <a:buNone/>
            </a:pPr>
            <a:endParaRPr lang="en-IN" dirty="0"/>
          </a:p>
        </p:txBody>
      </p:sp>
      <p:cxnSp>
        <p:nvCxnSpPr>
          <p:cNvPr id="7" name="Straight Connector 6"/>
          <p:cNvCxnSpPr/>
          <p:nvPr/>
        </p:nvCxnSpPr>
        <p:spPr>
          <a:xfrm>
            <a:off x="7315200" y="381000"/>
            <a:ext cx="0" cy="609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457200"/>
            <a:ext cx="5440680" cy="5623559"/>
          </a:xfrm>
        </p:spPr>
        <p:txBody>
          <a:bodyPr>
            <a:normAutofit fontScale="92500" lnSpcReduction="10000"/>
          </a:bodyPr>
          <a:lstStyle/>
          <a:p>
            <a:pPr marL="45720" indent="0">
              <a:buNone/>
            </a:pPr>
            <a:r>
              <a:rPr lang="en-IN" b="1" dirty="0">
                <a:solidFill>
                  <a:schemeClr val="tx1"/>
                </a:solidFill>
              </a:rPr>
              <a:t>	printf("\n RESULT = %d", </a:t>
            </a:r>
            <a:r>
              <a:rPr lang="en-IN" b="1" dirty="0" err="1">
                <a:solidFill>
                  <a:schemeClr val="tx1"/>
                </a:solidFill>
              </a:rPr>
              <a:t>stk</a:t>
            </a:r>
            <a:r>
              <a:rPr lang="en-IN" b="1" dirty="0">
                <a:solidFill>
                  <a:schemeClr val="tx1"/>
                </a:solidFill>
              </a:rPr>
              <a:t>[0]);</a:t>
            </a:r>
          </a:p>
          <a:p>
            <a:pPr marL="45720" indent="0">
              <a:buNone/>
            </a:pPr>
            <a:r>
              <a:rPr lang="en-IN" b="1" dirty="0">
                <a:solidFill>
                  <a:schemeClr val="tx1"/>
                </a:solidFill>
              </a:rPr>
              <a:t>	</a:t>
            </a:r>
            <a:r>
              <a:rPr lang="en-IN" b="1" dirty="0" err="1">
                <a:solidFill>
                  <a:schemeClr val="tx1"/>
                </a:solidFill>
              </a:rPr>
              <a:t>getch</a:t>
            </a:r>
            <a:r>
              <a:rPr lang="en-IN" b="1" dirty="0">
                <a:solidFill>
                  <a:schemeClr val="tx1"/>
                </a:solidFill>
              </a:rPr>
              <a:t>( );</a:t>
            </a:r>
          </a:p>
          <a:p>
            <a:pPr marL="45720" indent="0">
              <a:buNone/>
            </a:pPr>
            <a:r>
              <a:rPr lang="en-IN" b="1" dirty="0">
                <a:solidFill>
                  <a:schemeClr val="tx1"/>
                </a:solidFill>
              </a:rPr>
              <a:t>	return 0;</a:t>
            </a:r>
          </a:p>
          <a:p>
            <a:pPr marL="45720" indent="0">
              <a:buNone/>
            </a:pPr>
            <a:r>
              <a:rPr lang="en-IN" b="1" dirty="0">
                <a:solidFill>
                  <a:schemeClr val="tx1"/>
                </a:solidFill>
              </a:rPr>
              <a:t>}</a:t>
            </a:r>
          </a:p>
          <a:p>
            <a:pPr marL="45720" indent="0">
              <a:buNone/>
            </a:pPr>
            <a:r>
              <a:rPr lang="en-IN" b="1" dirty="0">
                <a:solidFill>
                  <a:schemeClr val="tx1"/>
                </a:solidFill>
              </a:rPr>
              <a:t>void push( </a:t>
            </a:r>
            <a:r>
              <a:rPr lang="en-IN" b="1" dirty="0" err="1">
                <a:solidFill>
                  <a:schemeClr val="tx1"/>
                </a:solidFill>
              </a:rPr>
              <a:t>int</a:t>
            </a:r>
            <a:r>
              <a:rPr lang="en-IN" b="1" dirty="0">
                <a:solidFill>
                  <a:schemeClr val="tx1"/>
                </a:solidFill>
              </a:rPr>
              <a:t> </a:t>
            </a:r>
            <a:r>
              <a:rPr lang="en-IN" b="1" dirty="0" err="1">
                <a:solidFill>
                  <a:schemeClr val="tx1"/>
                </a:solidFill>
              </a:rPr>
              <a:t>val</a:t>
            </a:r>
            <a:r>
              <a:rPr lang="en-IN" b="1" dirty="0">
                <a:solidFill>
                  <a:schemeClr val="tx1"/>
                </a:solidFill>
              </a:rPr>
              <a:t> )</a:t>
            </a:r>
          </a:p>
          <a:p>
            <a:pPr marL="45720" indent="0">
              <a:buNone/>
            </a:pPr>
            <a:r>
              <a:rPr lang="en-IN" b="1" dirty="0">
                <a:solidFill>
                  <a:schemeClr val="tx1"/>
                </a:solidFill>
              </a:rPr>
              <a:t>{</a:t>
            </a:r>
          </a:p>
          <a:p>
            <a:pPr marL="45720" indent="0">
              <a:buNone/>
            </a:pPr>
            <a:r>
              <a:rPr lang="en-IN" b="1" dirty="0">
                <a:solidFill>
                  <a:schemeClr val="tx1"/>
                </a:solidFill>
              </a:rPr>
              <a:t>	</a:t>
            </a:r>
            <a:r>
              <a:rPr lang="en-IN" sz="3200" b="1" dirty="0" err="1">
                <a:solidFill>
                  <a:srgbClr val="FFFF00"/>
                </a:solidFill>
                <a:highlight>
                  <a:srgbClr val="0000FF"/>
                </a:highlight>
                <a:ea typeface="Calibri" panose="020F0502020204030204" pitchFamily="34" charset="0"/>
              </a:rPr>
              <a:t>stk</a:t>
            </a:r>
            <a:r>
              <a:rPr lang="en-IN" sz="3200" b="1" dirty="0">
                <a:solidFill>
                  <a:srgbClr val="FFFF00"/>
                </a:solidFill>
                <a:highlight>
                  <a:srgbClr val="0000FF"/>
                </a:highlight>
                <a:ea typeface="Calibri" panose="020F0502020204030204" pitchFamily="34" charset="0"/>
              </a:rPr>
              <a:t>[ + + top ] = </a:t>
            </a:r>
            <a:r>
              <a:rPr lang="en-IN" sz="3200" b="1" dirty="0" err="1">
                <a:solidFill>
                  <a:srgbClr val="FFFF00"/>
                </a:solidFill>
                <a:highlight>
                  <a:srgbClr val="0000FF"/>
                </a:highlight>
                <a:ea typeface="Calibri" panose="020F0502020204030204" pitchFamily="34" charset="0"/>
              </a:rPr>
              <a:t>val</a:t>
            </a:r>
            <a:r>
              <a:rPr lang="en-IN" sz="3200" b="1" dirty="0">
                <a:solidFill>
                  <a:srgbClr val="FFFF00"/>
                </a:solidFill>
                <a:highlight>
                  <a:srgbClr val="0000FF"/>
                </a:highlight>
                <a:ea typeface="Calibri" panose="020F0502020204030204" pitchFamily="34" charset="0"/>
              </a:rPr>
              <a:t>;</a:t>
            </a:r>
          </a:p>
          <a:p>
            <a:pPr marL="45720" indent="0">
              <a:lnSpc>
                <a:spcPct val="110000"/>
              </a:lnSpc>
              <a:buNone/>
            </a:pPr>
            <a:r>
              <a:rPr lang="en-IN" b="1" dirty="0">
                <a:solidFill>
                  <a:schemeClr val="tx1"/>
                </a:solidFill>
              </a:rPr>
              <a:t>}</a:t>
            </a:r>
          </a:p>
          <a:p>
            <a:pPr marL="45720" indent="0">
              <a:lnSpc>
                <a:spcPct val="110000"/>
              </a:lnSpc>
              <a:buNone/>
            </a:pPr>
            <a:r>
              <a:rPr lang="en-IN" b="1" dirty="0" err="1">
                <a:solidFill>
                  <a:schemeClr val="tx1"/>
                </a:solidFill>
              </a:rPr>
              <a:t>int</a:t>
            </a:r>
            <a:r>
              <a:rPr lang="en-IN" b="1" dirty="0">
                <a:solidFill>
                  <a:schemeClr val="tx1"/>
                </a:solidFill>
              </a:rPr>
              <a:t> pop( )</a:t>
            </a:r>
          </a:p>
          <a:p>
            <a:pPr marL="45720" indent="0">
              <a:lnSpc>
                <a:spcPct val="110000"/>
              </a:lnSpc>
              <a:buNone/>
            </a:pPr>
            <a:r>
              <a:rPr lang="en-IN" b="1" dirty="0">
                <a:solidFill>
                  <a:schemeClr val="tx1"/>
                </a:solidFill>
              </a:rPr>
              <a:t>{</a:t>
            </a:r>
          </a:p>
          <a:p>
            <a:pPr marL="45720" indent="0">
              <a:lnSpc>
                <a:spcPct val="110000"/>
              </a:lnSpc>
              <a:buNone/>
            </a:pPr>
            <a:r>
              <a:rPr lang="en-IN" b="1" dirty="0">
                <a:solidFill>
                  <a:schemeClr val="tx1"/>
                </a:solidFill>
              </a:rPr>
              <a:t>	</a:t>
            </a:r>
            <a:r>
              <a:rPr lang="en-IN" sz="3000" dirty="0">
                <a:solidFill>
                  <a:srgbClr val="CC0066"/>
                </a:solidFill>
                <a:highlight>
                  <a:srgbClr val="FFFF00"/>
                </a:highlight>
                <a:ea typeface="Calibri" panose="020F0502020204030204" pitchFamily="34" charset="0"/>
              </a:rPr>
              <a:t>return( </a:t>
            </a:r>
            <a:r>
              <a:rPr lang="en-IN" sz="3000" dirty="0" err="1">
                <a:solidFill>
                  <a:srgbClr val="CC0066"/>
                </a:solidFill>
                <a:highlight>
                  <a:srgbClr val="FFFF00"/>
                </a:highlight>
                <a:ea typeface="Calibri" panose="020F0502020204030204" pitchFamily="34" charset="0"/>
              </a:rPr>
              <a:t>stk</a:t>
            </a:r>
            <a:r>
              <a:rPr lang="en-IN" sz="3000" dirty="0">
                <a:solidFill>
                  <a:srgbClr val="CC0066"/>
                </a:solidFill>
                <a:highlight>
                  <a:srgbClr val="FFFF00"/>
                </a:highlight>
                <a:ea typeface="Calibri" panose="020F0502020204030204" pitchFamily="34" charset="0"/>
              </a:rPr>
              <a:t>[ top – – ] );</a:t>
            </a:r>
          </a:p>
          <a:p>
            <a:pPr marL="45720" indent="0">
              <a:lnSpc>
                <a:spcPct val="110000"/>
              </a:lnSpc>
              <a:buNone/>
            </a:pPr>
            <a:r>
              <a:rPr lang="en-IN" b="1" dirty="0">
                <a:solidFill>
                  <a:schemeClr val="tx1"/>
                </a:solidFill>
              </a:rPr>
              <a:t>}</a:t>
            </a:r>
          </a:p>
          <a:p>
            <a:endParaRPr lang="en-IN" dirty="0"/>
          </a:p>
        </p:txBody>
      </p:sp>
      <p:sp>
        <p:nvSpPr>
          <p:cNvPr id="4" name="Content Placeholder 3"/>
          <p:cNvSpPr>
            <a:spLocks noGrp="1"/>
          </p:cNvSpPr>
          <p:nvPr>
            <p:ph sz="half" idx="2"/>
          </p:nvPr>
        </p:nvSpPr>
        <p:spPr>
          <a:xfrm>
            <a:off x="5715000" y="457200"/>
            <a:ext cx="6172200" cy="5623560"/>
          </a:xfrm>
        </p:spPr>
        <p:txBody>
          <a:bodyPr>
            <a:normAutofit fontScale="92500" lnSpcReduction="10000"/>
          </a:bodyPr>
          <a:lstStyle/>
          <a:p>
            <a:pPr marL="45720" indent="0">
              <a:lnSpc>
                <a:spcPct val="100000"/>
              </a:lnSpc>
              <a:buNone/>
            </a:pPr>
            <a:r>
              <a:rPr lang="en-IN" b="1" dirty="0" err="1">
                <a:solidFill>
                  <a:schemeClr val="tx1"/>
                </a:solidFill>
              </a:rPr>
              <a:t>int</a:t>
            </a:r>
            <a:r>
              <a:rPr lang="en-IN" b="1" dirty="0">
                <a:solidFill>
                  <a:schemeClr val="tx1"/>
                </a:solidFill>
              </a:rPr>
              <a:t> </a:t>
            </a:r>
            <a:r>
              <a:rPr lang="en-IN" b="1" dirty="0" err="1">
                <a:solidFill>
                  <a:schemeClr val="tx1"/>
                </a:solidFill>
              </a:rPr>
              <a:t>get_type</a:t>
            </a:r>
            <a:r>
              <a:rPr lang="en-IN" b="1" dirty="0">
                <a:solidFill>
                  <a:schemeClr val="tx1"/>
                </a:solidFill>
              </a:rPr>
              <a:t>( char c )</a:t>
            </a:r>
          </a:p>
          <a:p>
            <a:pPr marL="45720" indent="0">
              <a:lnSpc>
                <a:spcPct val="100000"/>
              </a:lnSpc>
              <a:buNone/>
            </a:pPr>
            <a:r>
              <a:rPr lang="en-IN" b="1" dirty="0">
                <a:solidFill>
                  <a:schemeClr val="tx1"/>
                </a:solidFill>
              </a:rPr>
              <a:t>{</a:t>
            </a:r>
          </a:p>
          <a:p>
            <a:pPr marL="45720" indent="0">
              <a:lnSpc>
                <a:spcPct val="100000"/>
              </a:lnSpc>
              <a:buNone/>
            </a:pPr>
            <a:r>
              <a:rPr lang="en-IN" b="1" dirty="0">
                <a:solidFill>
                  <a:schemeClr val="tx1"/>
                </a:solidFill>
              </a:rPr>
              <a:t>	if(c == '+' || c == '–' || c == '*' || c == '/')</a:t>
            </a:r>
          </a:p>
          <a:p>
            <a:pPr marL="45720" indent="0">
              <a:lnSpc>
                <a:spcPct val="100000"/>
              </a:lnSpc>
              <a:buNone/>
            </a:pPr>
            <a:r>
              <a:rPr lang="en-IN" b="1" dirty="0">
                <a:solidFill>
                  <a:schemeClr val="tx1"/>
                </a:solidFill>
              </a:rPr>
              <a:t>		return 1;</a:t>
            </a:r>
          </a:p>
          <a:p>
            <a:pPr marL="45720" indent="0">
              <a:lnSpc>
                <a:spcPct val="100000"/>
              </a:lnSpc>
              <a:buNone/>
            </a:pPr>
            <a:r>
              <a:rPr lang="en-IN" b="1" dirty="0">
                <a:solidFill>
                  <a:schemeClr val="tx1"/>
                </a:solidFill>
              </a:rPr>
              <a:t>	else </a:t>
            </a:r>
          </a:p>
          <a:p>
            <a:pPr marL="45720" indent="0">
              <a:lnSpc>
                <a:spcPct val="100000"/>
              </a:lnSpc>
              <a:buNone/>
            </a:pPr>
            <a:r>
              <a:rPr lang="en-IN" b="1" dirty="0">
                <a:solidFill>
                  <a:schemeClr val="tx1"/>
                </a:solidFill>
              </a:rPr>
              <a:t>		return 0;</a:t>
            </a:r>
          </a:p>
          <a:p>
            <a:pPr marL="45720" indent="0">
              <a:lnSpc>
                <a:spcPct val="100000"/>
              </a:lnSpc>
              <a:buNone/>
            </a:pPr>
            <a:r>
              <a:rPr lang="en-IN" b="1" dirty="0">
                <a:solidFill>
                  <a:schemeClr val="tx1"/>
                </a:solidFill>
              </a:rPr>
              <a:t>}</a:t>
            </a:r>
          </a:p>
          <a:p>
            <a:pPr marL="45720" indent="0">
              <a:lnSpc>
                <a:spcPct val="100000"/>
              </a:lnSpc>
              <a:buNone/>
            </a:pPr>
            <a:endParaRPr lang="en-IN" b="1" dirty="0">
              <a:solidFill>
                <a:schemeClr val="tx1"/>
              </a:solidFill>
            </a:endParaRPr>
          </a:p>
          <a:p>
            <a:pPr marL="45720" indent="0">
              <a:lnSpc>
                <a:spcPct val="100000"/>
              </a:lnSpc>
              <a:buNone/>
            </a:pPr>
            <a:r>
              <a:rPr lang="en-IN" b="1" u="sng" dirty="0">
                <a:solidFill>
                  <a:srgbClr val="CC0066"/>
                </a:solidFill>
              </a:rPr>
              <a:t>Output</a:t>
            </a:r>
          </a:p>
          <a:p>
            <a:pPr marL="45720" indent="0">
              <a:lnSpc>
                <a:spcPct val="100000"/>
              </a:lnSpc>
              <a:buNone/>
            </a:pPr>
            <a:r>
              <a:rPr lang="en-IN" b="1" dirty="0">
                <a:solidFill>
                  <a:schemeClr val="tx1"/>
                </a:solidFill>
              </a:rPr>
              <a:t>Enter the prefix expression : + – 9 2 7</a:t>
            </a:r>
          </a:p>
          <a:p>
            <a:pPr marL="45720" indent="0">
              <a:lnSpc>
                <a:spcPct val="100000"/>
              </a:lnSpc>
              <a:buNone/>
            </a:pPr>
            <a:r>
              <a:rPr lang="en-IN" b="1" dirty="0">
                <a:solidFill>
                  <a:schemeClr val="tx1"/>
                </a:solidFill>
              </a:rPr>
              <a:t>RESULT = 14</a:t>
            </a:r>
          </a:p>
        </p:txBody>
      </p:sp>
    </p:spTree>
    <p:extLst>
      <p:ext uri="{BB962C8B-B14F-4D97-AF65-F5344CB8AC3E}">
        <p14:creationId xmlns:p14="http://schemas.microsoft.com/office/powerpoint/2010/main" val="18253217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9875520" cy="609600"/>
          </a:xfrm>
        </p:spPr>
        <p:txBody>
          <a:bodyPr>
            <a:normAutofit fontScale="90000"/>
          </a:bodyPr>
          <a:lstStyle/>
          <a:p>
            <a:r>
              <a:rPr lang="en-US" b="1" dirty="0">
                <a:solidFill>
                  <a:srgbClr val="CC0066"/>
                </a:solidFill>
              </a:rPr>
              <a:t>Recursion</a:t>
            </a:r>
            <a:endParaRPr lang="en-US" dirty="0">
              <a:solidFill>
                <a:srgbClr val="CC0066"/>
              </a:solidFill>
            </a:endParaRPr>
          </a:p>
        </p:txBody>
      </p:sp>
      <p:sp>
        <p:nvSpPr>
          <p:cNvPr id="3" name="Content Placeholder 2"/>
          <p:cNvSpPr>
            <a:spLocks noGrp="1"/>
          </p:cNvSpPr>
          <p:nvPr>
            <p:ph idx="1"/>
          </p:nvPr>
        </p:nvSpPr>
        <p:spPr>
          <a:xfrm>
            <a:off x="533401" y="1219200"/>
            <a:ext cx="9296400" cy="5105400"/>
          </a:xfrm>
        </p:spPr>
        <p:txBody>
          <a:bodyPr>
            <a:noAutofit/>
          </a:bodyPr>
          <a:lstStyle/>
          <a:p>
            <a:pPr>
              <a:spcBef>
                <a:spcPts val="1000"/>
              </a:spcBef>
              <a:buFont typeface="Wingdings" panose="05000000000000000000" pitchFamily="2" charset="2"/>
              <a:buChar char="q"/>
            </a:pPr>
            <a:r>
              <a:rPr lang="en-IN" sz="3200" b="1" dirty="0">
                <a:solidFill>
                  <a:schemeClr val="tx1"/>
                </a:solidFill>
              </a:rPr>
              <a:t>A </a:t>
            </a:r>
            <a:r>
              <a:rPr lang="en-IN" sz="3200" b="1" i="1" dirty="0">
                <a:solidFill>
                  <a:schemeClr val="tx1"/>
                </a:solidFill>
              </a:rPr>
              <a:t>recursive function </a:t>
            </a:r>
            <a:r>
              <a:rPr lang="en-IN" sz="3200" b="1" dirty="0">
                <a:solidFill>
                  <a:schemeClr val="tx1"/>
                </a:solidFill>
              </a:rPr>
              <a:t>is defined as a </a:t>
            </a:r>
            <a:r>
              <a:rPr lang="en-IN" sz="3200" b="1" dirty="0">
                <a:solidFill>
                  <a:schemeClr val="tx1"/>
                </a:solidFill>
                <a:highlight>
                  <a:srgbClr val="00FF00"/>
                </a:highlight>
                <a:ea typeface="Calibri" panose="020F0502020204030204" pitchFamily="34" charset="0"/>
              </a:rPr>
              <a:t>function that calls itself </a:t>
            </a:r>
            <a:r>
              <a:rPr lang="en-IN" sz="3200" b="1" dirty="0">
                <a:solidFill>
                  <a:schemeClr val="tx1"/>
                </a:solidFill>
              </a:rPr>
              <a:t>to solve a smaller version of its task until a final call is made which does not require a call to itself. </a:t>
            </a:r>
          </a:p>
          <a:p>
            <a:pPr>
              <a:spcBef>
                <a:spcPts val="1000"/>
              </a:spcBef>
              <a:buFont typeface="Wingdings" panose="05000000000000000000" pitchFamily="2" charset="2"/>
              <a:buChar char="q"/>
            </a:pPr>
            <a:r>
              <a:rPr lang="en-IN" sz="3200" b="1" dirty="0">
                <a:solidFill>
                  <a:schemeClr val="tx1"/>
                </a:solidFill>
              </a:rPr>
              <a:t>Since a recursive function repeatedly calls itself, it makes use of the </a:t>
            </a:r>
            <a:r>
              <a:rPr lang="en-IN" sz="3200" b="1" dirty="0">
                <a:solidFill>
                  <a:srgbClr val="FFFF00"/>
                </a:solidFill>
                <a:highlight>
                  <a:srgbClr val="0000FF"/>
                </a:highlight>
                <a:ea typeface="Calibri" panose="020F0502020204030204" pitchFamily="34" charset="0"/>
              </a:rPr>
              <a:t>system stack </a:t>
            </a:r>
            <a:r>
              <a:rPr lang="en-IN" sz="3200" b="1" dirty="0">
                <a:solidFill>
                  <a:schemeClr val="tx1"/>
                </a:solidFill>
              </a:rPr>
              <a:t>to temporarily store the return address and local variables of the calling function. </a:t>
            </a:r>
          </a:p>
          <a:p>
            <a:pPr>
              <a:spcBef>
                <a:spcPts val="1000"/>
              </a:spcBef>
              <a:buFont typeface="Wingdings" panose="05000000000000000000" pitchFamily="2" charset="2"/>
              <a:buChar char="q"/>
            </a:pPr>
            <a:r>
              <a:rPr lang="en-IN" sz="3200" b="1" dirty="0">
                <a:solidFill>
                  <a:schemeClr val="tx1"/>
                </a:solidFill>
              </a:rPr>
              <a:t>Therefore, recursion is defining </a:t>
            </a:r>
            <a:r>
              <a:rPr lang="en-IN" sz="3200" b="1" dirty="0">
                <a:solidFill>
                  <a:srgbClr val="FFFF00"/>
                </a:solidFill>
                <a:highlight>
                  <a:srgbClr val="0000FF"/>
                </a:highlight>
                <a:ea typeface="Calibri" panose="020F0502020204030204" pitchFamily="34" charset="0"/>
              </a:rPr>
              <a:t>large and complex </a:t>
            </a:r>
            <a:r>
              <a:rPr lang="en-IN" sz="3200" b="1" dirty="0">
                <a:solidFill>
                  <a:schemeClr val="tx1"/>
                </a:solidFill>
              </a:rPr>
              <a:t>problems in terms of smaller and more </a:t>
            </a:r>
            <a:r>
              <a:rPr lang="en-IN" sz="3200" b="1" dirty="0">
                <a:solidFill>
                  <a:srgbClr val="FFFF00"/>
                </a:solidFill>
                <a:highlight>
                  <a:srgbClr val="0000FF"/>
                </a:highlight>
                <a:ea typeface="Calibri" panose="020F0502020204030204" pitchFamily="34" charset="0"/>
              </a:rPr>
              <a:t>easily solvable </a:t>
            </a:r>
            <a:r>
              <a:rPr lang="en-IN" sz="3200" b="1" dirty="0">
                <a:solidFill>
                  <a:schemeClr val="tx1"/>
                </a:solidFill>
              </a:rPr>
              <a:t>problems.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81000" y="17929"/>
            <a:ext cx="9875520" cy="1356360"/>
          </a:xfrm>
        </p:spPr>
        <p:txBody>
          <a:bodyPr/>
          <a:lstStyle/>
          <a:p>
            <a:r>
              <a:rPr lang="en-IN" b="1" dirty="0">
                <a:solidFill>
                  <a:srgbClr val="CC0066"/>
                </a:solidFill>
              </a:rPr>
              <a:t>Recursive solution has two major cases</a:t>
            </a:r>
            <a:endParaRPr lang="en-IN" dirty="0">
              <a:solidFill>
                <a:srgbClr val="CC0066"/>
              </a:solidFill>
            </a:endParaRPr>
          </a:p>
        </p:txBody>
      </p:sp>
      <p:sp>
        <p:nvSpPr>
          <p:cNvPr id="6" name="Content Placeholder 5"/>
          <p:cNvSpPr>
            <a:spLocks noGrp="1"/>
          </p:cNvSpPr>
          <p:nvPr>
            <p:ph idx="1"/>
          </p:nvPr>
        </p:nvSpPr>
        <p:spPr>
          <a:xfrm>
            <a:off x="412376" y="1219200"/>
            <a:ext cx="9139518" cy="5486400"/>
          </a:xfrm>
        </p:spPr>
        <p:txBody>
          <a:bodyPr/>
          <a:lstStyle/>
          <a:p>
            <a:pPr algn="just">
              <a:spcBef>
                <a:spcPts val="1000"/>
              </a:spcBef>
            </a:pPr>
            <a:r>
              <a:rPr lang="en-IN" sz="2800" b="1" dirty="0">
                <a:solidFill>
                  <a:schemeClr val="tx1"/>
                </a:solidFill>
              </a:rPr>
              <a:t> </a:t>
            </a:r>
            <a:r>
              <a:rPr lang="en-IN" sz="3200" u="sng" dirty="0">
                <a:solidFill>
                  <a:srgbClr val="CC0066"/>
                </a:solidFill>
                <a:highlight>
                  <a:srgbClr val="FFFF00"/>
                </a:highlight>
                <a:ea typeface="Calibri" panose="020F0502020204030204" pitchFamily="34" charset="0"/>
              </a:rPr>
              <a:t>Base case</a:t>
            </a:r>
            <a:r>
              <a:rPr lang="en-IN" sz="2800" b="1" i="1" u="sng" dirty="0">
                <a:solidFill>
                  <a:schemeClr val="tx1"/>
                </a:solidFill>
              </a:rPr>
              <a:t>, </a:t>
            </a:r>
            <a:r>
              <a:rPr lang="en-IN" sz="2800" b="1" dirty="0">
                <a:solidFill>
                  <a:schemeClr val="tx1"/>
                </a:solidFill>
              </a:rPr>
              <a:t>in which the problem is simple enough to be solved directly without making any further calls to the same function.</a:t>
            </a:r>
          </a:p>
          <a:p>
            <a:pPr algn="just">
              <a:spcBef>
                <a:spcPts val="1000"/>
              </a:spcBef>
            </a:pPr>
            <a:r>
              <a:rPr lang="en-IN" sz="3200" u="sng" dirty="0">
                <a:solidFill>
                  <a:srgbClr val="CC0066"/>
                </a:solidFill>
                <a:highlight>
                  <a:srgbClr val="FFFF00"/>
                </a:highlight>
                <a:ea typeface="Calibri" panose="020F0502020204030204" pitchFamily="34" charset="0"/>
              </a:rPr>
              <a:t>Recursive case</a:t>
            </a:r>
            <a:r>
              <a:rPr lang="en-IN" sz="2800" b="1" i="1" dirty="0">
                <a:solidFill>
                  <a:schemeClr val="tx1"/>
                </a:solidFill>
              </a:rPr>
              <a:t>, </a:t>
            </a:r>
            <a:r>
              <a:rPr lang="en-IN" sz="2800" b="1" dirty="0">
                <a:solidFill>
                  <a:schemeClr val="tx1"/>
                </a:solidFill>
              </a:rPr>
              <a:t>in which </a:t>
            </a:r>
          </a:p>
          <a:p>
            <a:pPr marL="514350" indent="23813" algn="just">
              <a:spcBef>
                <a:spcPts val="1000"/>
              </a:spcBef>
              <a:buFont typeface="+mj-lt"/>
              <a:buAutoNum type="arabicPeriod"/>
            </a:pPr>
            <a:r>
              <a:rPr lang="en-IN" sz="2800" b="1" dirty="0">
                <a:solidFill>
                  <a:schemeClr val="tx1"/>
                </a:solidFill>
              </a:rPr>
              <a:t>	First the problem at hand is divided into simpler sub-parts. </a:t>
            </a:r>
          </a:p>
          <a:p>
            <a:pPr marL="514350" indent="23813" algn="just">
              <a:spcBef>
                <a:spcPts val="1000"/>
              </a:spcBef>
              <a:buFont typeface="+mj-lt"/>
              <a:buAutoNum type="arabicPeriod"/>
            </a:pPr>
            <a:r>
              <a:rPr lang="en-IN" sz="2800" b="1" dirty="0">
                <a:solidFill>
                  <a:schemeClr val="tx1"/>
                </a:solidFill>
              </a:rPr>
              <a:t>	Second the function calls itself but with sub-parts of the problem obtained in the first step. </a:t>
            </a:r>
          </a:p>
          <a:p>
            <a:pPr marL="514350" indent="23813" algn="just">
              <a:spcBef>
                <a:spcPts val="1000"/>
              </a:spcBef>
              <a:buFont typeface="+mj-lt"/>
              <a:buAutoNum type="arabicPeriod"/>
            </a:pPr>
            <a:r>
              <a:rPr lang="en-IN" sz="2800" b="1" dirty="0">
                <a:solidFill>
                  <a:schemeClr val="tx1"/>
                </a:solidFill>
              </a:rPr>
              <a:t>	Third, the result is obtained by combining the solutions of simpler sub-parts.</a:t>
            </a:r>
          </a:p>
          <a:p>
            <a:endParaRPr lang="en-IN" dirty="0"/>
          </a:p>
        </p:txBody>
      </p:sp>
    </p:spTree>
    <p:extLst>
      <p:ext uri="{BB962C8B-B14F-4D97-AF65-F5344CB8AC3E}">
        <p14:creationId xmlns:p14="http://schemas.microsoft.com/office/powerpoint/2010/main" val="4240173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8917" y="152400"/>
            <a:ext cx="9875520" cy="1356360"/>
          </a:xfrm>
        </p:spPr>
        <p:txBody>
          <a:bodyPr/>
          <a:lstStyle/>
          <a:p>
            <a:r>
              <a:rPr lang="en-IN" b="1" i="1" dirty="0">
                <a:solidFill>
                  <a:srgbClr val="CC0066"/>
                </a:solidFill>
              </a:rPr>
              <a:t>Types of Recursion</a:t>
            </a:r>
            <a:endParaRPr lang="en-IN" dirty="0">
              <a:solidFill>
                <a:srgbClr val="CC0066"/>
              </a:solidFill>
            </a:endParaRPr>
          </a:p>
        </p:txBody>
      </p:sp>
      <p:sp>
        <p:nvSpPr>
          <p:cNvPr id="3" name="Content Placeholder 2"/>
          <p:cNvSpPr>
            <a:spLocks noGrp="1"/>
          </p:cNvSpPr>
          <p:nvPr>
            <p:ph idx="1"/>
          </p:nvPr>
        </p:nvSpPr>
        <p:spPr>
          <a:xfrm>
            <a:off x="348916" y="1219200"/>
            <a:ext cx="9404683" cy="5181600"/>
          </a:xfrm>
        </p:spPr>
        <p:txBody>
          <a:bodyPr>
            <a:noAutofit/>
          </a:bodyPr>
          <a:lstStyle/>
          <a:p>
            <a:pPr marL="45720" indent="0" algn="just">
              <a:buNone/>
            </a:pPr>
            <a:r>
              <a:rPr lang="en-IN" sz="4000" b="1" dirty="0">
                <a:solidFill>
                  <a:schemeClr val="tx1"/>
                </a:solidFill>
              </a:rPr>
              <a:t>Recursive function can be characterized based on:</a:t>
            </a:r>
          </a:p>
          <a:p>
            <a:pPr algn="just"/>
            <a:r>
              <a:rPr lang="en-IN" sz="4000" b="1" dirty="0">
                <a:solidFill>
                  <a:schemeClr val="tx1"/>
                </a:solidFill>
              </a:rPr>
              <a:t>If the function calls itself directly or indirectly </a:t>
            </a:r>
            <a:r>
              <a:rPr lang="en-IN" sz="4400" u="sng" dirty="0">
                <a:solidFill>
                  <a:srgbClr val="CC0066"/>
                </a:solidFill>
                <a:highlight>
                  <a:srgbClr val="FFFF00"/>
                </a:highlight>
                <a:ea typeface="Calibri" panose="020F0502020204030204" pitchFamily="34" charset="0"/>
              </a:rPr>
              <a:t>(direct or indirect recursion)</a:t>
            </a:r>
            <a:endParaRPr lang="en-IN" sz="5400" u="sng" dirty="0">
              <a:solidFill>
                <a:srgbClr val="CC0066"/>
              </a:solidFill>
              <a:highlight>
                <a:srgbClr val="FFFF00"/>
              </a:highlight>
              <a:ea typeface="Calibri" panose="020F0502020204030204" pitchFamily="34" charset="0"/>
            </a:endParaRPr>
          </a:p>
          <a:p>
            <a:pPr algn="just"/>
            <a:r>
              <a:rPr lang="en-IN" sz="4000" b="1" dirty="0">
                <a:solidFill>
                  <a:schemeClr val="tx1"/>
                </a:solidFill>
              </a:rPr>
              <a:t>If any operation is pending at each recursive call </a:t>
            </a:r>
            <a:r>
              <a:rPr lang="en-IN" sz="4400" u="sng" dirty="0">
                <a:solidFill>
                  <a:srgbClr val="CC0066"/>
                </a:solidFill>
                <a:highlight>
                  <a:srgbClr val="FFFF00"/>
                </a:highlight>
                <a:ea typeface="Calibri" panose="020F0502020204030204" pitchFamily="34" charset="0"/>
              </a:rPr>
              <a:t>(tail recursive or not)</a:t>
            </a:r>
            <a:endParaRPr lang="en-IN" sz="4000" b="1" dirty="0">
              <a:solidFill>
                <a:schemeClr val="tx1"/>
              </a:solidFill>
            </a:endParaRPr>
          </a:p>
          <a:p>
            <a:pPr algn="just"/>
            <a:r>
              <a:rPr lang="en-IN" sz="4000" b="1" dirty="0">
                <a:solidFill>
                  <a:schemeClr val="tx1"/>
                </a:solidFill>
              </a:rPr>
              <a:t>If the structure of the calling pattern </a:t>
            </a:r>
            <a:r>
              <a:rPr lang="en-IN" sz="4400" u="sng" dirty="0">
                <a:solidFill>
                  <a:srgbClr val="CC0066"/>
                </a:solidFill>
                <a:highlight>
                  <a:srgbClr val="FFFF00"/>
                </a:highlight>
                <a:ea typeface="Calibri" panose="020F0502020204030204" pitchFamily="34" charset="0"/>
              </a:rPr>
              <a:t>(linear or tree-recursive).</a:t>
            </a:r>
          </a:p>
        </p:txBody>
      </p:sp>
    </p:spTree>
    <p:extLst>
      <p:ext uri="{BB962C8B-B14F-4D97-AF65-F5344CB8AC3E}">
        <p14:creationId xmlns:p14="http://schemas.microsoft.com/office/powerpoint/2010/main" val="29639713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half" idx="1"/>
          </p:nvPr>
        </p:nvSpPr>
        <p:spPr>
          <a:xfrm>
            <a:off x="533400" y="457200"/>
            <a:ext cx="3505200" cy="5379720"/>
          </a:xfrm>
        </p:spPr>
        <p:txBody>
          <a:bodyPr>
            <a:normAutofit lnSpcReduction="10000"/>
          </a:bodyPr>
          <a:lstStyle/>
          <a:p>
            <a:pPr marL="45720" indent="0">
              <a:buNone/>
            </a:pPr>
            <a:r>
              <a:rPr lang="en-IN" b="1" u="sng" dirty="0">
                <a:solidFill>
                  <a:srgbClr val="CC0066"/>
                </a:solidFill>
              </a:rPr>
              <a:t>Direct recursion</a:t>
            </a:r>
          </a:p>
          <a:p>
            <a:pPr marL="45720" indent="0">
              <a:buNone/>
            </a:pPr>
            <a:r>
              <a:rPr lang="en-IN" b="1" dirty="0" err="1">
                <a:solidFill>
                  <a:schemeClr val="tx1"/>
                </a:solidFill>
              </a:rPr>
              <a:t>int</a:t>
            </a:r>
            <a:r>
              <a:rPr lang="en-IN" b="1" dirty="0">
                <a:solidFill>
                  <a:schemeClr val="tx1"/>
                </a:solidFill>
              </a:rPr>
              <a:t> </a:t>
            </a:r>
            <a:r>
              <a:rPr lang="en-IN" b="1" dirty="0" err="1">
                <a:solidFill>
                  <a:schemeClr val="tx1"/>
                </a:solidFill>
              </a:rPr>
              <a:t>Func</a:t>
            </a:r>
            <a:r>
              <a:rPr lang="en-IN" b="1" dirty="0">
                <a:solidFill>
                  <a:schemeClr val="tx1"/>
                </a:solidFill>
              </a:rPr>
              <a:t> (</a:t>
            </a:r>
            <a:r>
              <a:rPr lang="en-IN" b="1" dirty="0" err="1">
                <a:solidFill>
                  <a:schemeClr val="tx1"/>
                </a:solidFill>
              </a:rPr>
              <a:t>int</a:t>
            </a:r>
            <a:r>
              <a:rPr lang="en-IN" b="1" dirty="0">
                <a:solidFill>
                  <a:schemeClr val="tx1"/>
                </a:solidFill>
              </a:rPr>
              <a:t> n)</a:t>
            </a:r>
          </a:p>
          <a:p>
            <a:pPr marL="45720" indent="0">
              <a:buNone/>
            </a:pPr>
            <a:r>
              <a:rPr lang="en-IN" b="1" dirty="0">
                <a:solidFill>
                  <a:schemeClr val="tx1"/>
                </a:solidFill>
              </a:rPr>
              <a:t>{</a:t>
            </a:r>
          </a:p>
          <a:p>
            <a:pPr marL="45720" indent="0">
              <a:buNone/>
            </a:pPr>
            <a:r>
              <a:rPr lang="en-IN" b="1" dirty="0">
                <a:solidFill>
                  <a:schemeClr val="tx1"/>
                </a:solidFill>
              </a:rPr>
              <a:t>	if (n == 0)</a:t>
            </a:r>
          </a:p>
          <a:p>
            <a:pPr marL="45720" indent="0">
              <a:buNone/>
            </a:pPr>
            <a:r>
              <a:rPr lang="en-IN" b="1" dirty="0">
                <a:solidFill>
                  <a:schemeClr val="tx1"/>
                </a:solidFill>
              </a:rPr>
              <a:t>		return n;</a:t>
            </a:r>
          </a:p>
          <a:p>
            <a:pPr marL="45720" indent="0">
              <a:buNone/>
            </a:pPr>
            <a:r>
              <a:rPr lang="en-IN" b="1" dirty="0">
                <a:solidFill>
                  <a:schemeClr val="tx1"/>
                </a:solidFill>
              </a:rPr>
              <a:t>	else</a:t>
            </a:r>
          </a:p>
          <a:p>
            <a:pPr marL="45720" indent="0">
              <a:buNone/>
            </a:pPr>
            <a:r>
              <a:rPr lang="en-IN" b="1" dirty="0">
                <a:solidFill>
                  <a:schemeClr val="tx1"/>
                </a:solidFill>
              </a:rPr>
              <a:t>	return (</a:t>
            </a:r>
            <a:r>
              <a:rPr lang="en-IN" b="1" dirty="0" err="1">
                <a:solidFill>
                  <a:schemeClr val="tx1"/>
                </a:solidFill>
              </a:rPr>
              <a:t>Func</a:t>
            </a:r>
            <a:r>
              <a:rPr lang="en-IN" b="1" dirty="0">
                <a:solidFill>
                  <a:schemeClr val="tx1"/>
                </a:solidFill>
              </a:rPr>
              <a:t> (n–1));</a:t>
            </a:r>
          </a:p>
          <a:p>
            <a:pPr marL="45720" indent="0">
              <a:buNone/>
            </a:pPr>
            <a:r>
              <a:rPr lang="en-IN" b="1" dirty="0">
                <a:solidFill>
                  <a:schemeClr val="tx1"/>
                </a:solidFill>
              </a:rPr>
              <a:t>}</a:t>
            </a:r>
          </a:p>
        </p:txBody>
      </p:sp>
      <p:sp>
        <p:nvSpPr>
          <p:cNvPr id="6" name="Content Placeholder 5"/>
          <p:cNvSpPr>
            <a:spLocks noGrp="1"/>
          </p:cNvSpPr>
          <p:nvPr>
            <p:ph sz="half" idx="2"/>
          </p:nvPr>
        </p:nvSpPr>
        <p:spPr>
          <a:xfrm>
            <a:off x="3810000" y="457200"/>
            <a:ext cx="3048000" cy="5532120"/>
          </a:xfrm>
        </p:spPr>
        <p:txBody>
          <a:bodyPr>
            <a:normAutofit lnSpcReduction="10000"/>
          </a:bodyPr>
          <a:lstStyle/>
          <a:p>
            <a:pPr marL="45720" indent="0">
              <a:buNone/>
            </a:pPr>
            <a:r>
              <a:rPr lang="en-IN" b="1" u="sng" dirty="0">
                <a:solidFill>
                  <a:srgbClr val="CC0066"/>
                </a:solidFill>
              </a:rPr>
              <a:t>Indirect recursion</a:t>
            </a:r>
          </a:p>
          <a:p>
            <a:pPr marL="45720" indent="0">
              <a:buNone/>
            </a:pPr>
            <a:r>
              <a:rPr lang="en-IN" b="1" dirty="0" err="1">
                <a:solidFill>
                  <a:schemeClr val="tx1"/>
                </a:solidFill>
              </a:rPr>
              <a:t>int</a:t>
            </a:r>
            <a:r>
              <a:rPr lang="en-IN" b="1" dirty="0">
                <a:solidFill>
                  <a:schemeClr val="tx1"/>
                </a:solidFill>
              </a:rPr>
              <a:t> Func1 (</a:t>
            </a:r>
            <a:r>
              <a:rPr lang="en-IN" b="1" dirty="0" err="1">
                <a:solidFill>
                  <a:schemeClr val="tx1"/>
                </a:solidFill>
              </a:rPr>
              <a:t>int</a:t>
            </a:r>
            <a:r>
              <a:rPr lang="en-IN" b="1" dirty="0">
                <a:solidFill>
                  <a:schemeClr val="tx1"/>
                </a:solidFill>
              </a:rPr>
              <a:t> n)</a:t>
            </a:r>
          </a:p>
          <a:p>
            <a:pPr marL="45720" indent="0">
              <a:buNone/>
            </a:pPr>
            <a:r>
              <a:rPr lang="en-IN" b="1" dirty="0">
                <a:solidFill>
                  <a:schemeClr val="tx1"/>
                </a:solidFill>
              </a:rPr>
              <a:t>{</a:t>
            </a:r>
          </a:p>
          <a:p>
            <a:pPr marL="45720" indent="0">
              <a:buNone/>
            </a:pPr>
            <a:r>
              <a:rPr lang="en-IN" b="1" dirty="0">
                <a:solidFill>
                  <a:schemeClr val="tx1"/>
                </a:solidFill>
              </a:rPr>
              <a:t>      if (n == 0)</a:t>
            </a:r>
          </a:p>
          <a:p>
            <a:pPr marL="45720" indent="0">
              <a:buNone/>
            </a:pPr>
            <a:r>
              <a:rPr lang="en-IN" b="1" dirty="0">
                <a:solidFill>
                  <a:schemeClr val="tx1"/>
                </a:solidFill>
              </a:rPr>
              <a:t>	return n;</a:t>
            </a:r>
          </a:p>
          <a:p>
            <a:pPr marL="45720" indent="0">
              <a:buNone/>
            </a:pPr>
            <a:r>
              <a:rPr lang="en-IN" b="1" dirty="0">
                <a:solidFill>
                  <a:schemeClr val="tx1"/>
                </a:solidFill>
              </a:rPr>
              <a:t>      else</a:t>
            </a:r>
          </a:p>
          <a:p>
            <a:pPr marL="45720" indent="0">
              <a:buNone/>
            </a:pPr>
            <a:r>
              <a:rPr lang="en-IN" b="1" dirty="0">
                <a:solidFill>
                  <a:schemeClr val="tx1"/>
                </a:solidFill>
              </a:rPr>
              <a:t>	return Func2(n);</a:t>
            </a:r>
          </a:p>
          <a:p>
            <a:pPr marL="45720" indent="0">
              <a:buNone/>
            </a:pPr>
            <a:r>
              <a:rPr lang="en-IN" b="1" dirty="0">
                <a:solidFill>
                  <a:schemeClr val="tx1"/>
                </a:solidFill>
              </a:rPr>
              <a:t>}</a:t>
            </a:r>
          </a:p>
          <a:p>
            <a:pPr marL="45720" indent="0">
              <a:buNone/>
            </a:pPr>
            <a:r>
              <a:rPr lang="en-IN" b="1" dirty="0" err="1">
                <a:solidFill>
                  <a:schemeClr val="tx1"/>
                </a:solidFill>
              </a:rPr>
              <a:t>int</a:t>
            </a:r>
            <a:r>
              <a:rPr lang="en-IN" b="1" dirty="0">
                <a:solidFill>
                  <a:schemeClr val="tx1"/>
                </a:solidFill>
              </a:rPr>
              <a:t> Func2(</a:t>
            </a:r>
            <a:r>
              <a:rPr lang="en-IN" b="1" dirty="0" err="1">
                <a:solidFill>
                  <a:schemeClr val="tx1"/>
                </a:solidFill>
              </a:rPr>
              <a:t>int</a:t>
            </a:r>
            <a:r>
              <a:rPr lang="en-IN" b="1" dirty="0">
                <a:solidFill>
                  <a:schemeClr val="tx1"/>
                </a:solidFill>
              </a:rPr>
              <a:t> x)</a:t>
            </a:r>
          </a:p>
          <a:p>
            <a:pPr marL="45720" indent="0">
              <a:buNone/>
            </a:pPr>
            <a:r>
              <a:rPr lang="en-IN" b="1" dirty="0">
                <a:solidFill>
                  <a:schemeClr val="tx1"/>
                </a:solidFill>
              </a:rPr>
              <a:t>{</a:t>
            </a:r>
          </a:p>
          <a:p>
            <a:pPr marL="45720" indent="0">
              <a:buNone/>
            </a:pPr>
            <a:r>
              <a:rPr lang="en-IN" b="1" dirty="0">
                <a:solidFill>
                  <a:schemeClr val="tx1"/>
                </a:solidFill>
              </a:rPr>
              <a:t>return Func1(x–1);</a:t>
            </a:r>
          </a:p>
          <a:p>
            <a:pPr marL="45720" indent="0">
              <a:buNone/>
            </a:pPr>
            <a:r>
              <a:rPr lang="en-IN" b="1" dirty="0">
                <a:solidFill>
                  <a:schemeClr val="tx1"/>
                </a:solidFill>
              </a:rPr>
              <a:t>}</a:t>
            </a:r>
          </a:p>
        </p:txBody>
      </p:sp>
      <p:sp>
        <p:nvSpPr>
          <p:cNvPr id="7" name="TextBox 6"/>
          <p:cNvSpPr txBox="1"/>
          <p:nvPr/>
        </p:nvSpPr>
        <p:spPr>
          <a:xfrm>
            <a:off x="7239000" y="457200"/>
            <a:ext cx="4800600" cy="4057521"/>
          </a:xfrm>
          <a:prstGeom prst="rect">
            <a:avLst/>
          </a:prstGeom>
          <a:noFill/>
        </p:spPr>
        <p:txBody>
          <a:bodyPr wrap="square" rtlCol="0">
            <a:spAutoFit/>
          </a:bodyPr>
          <a:lstStyle/>
          <a:p>
            <a:pPr marL="45720">
              <a:lnSpc>
                <a:spcPct val="80000"/>
              </a:lnSpc>
              <a:spcBef>
                <a:spcPts val="1400"/>
              </a:spcBef>
              <a:buClr>
                <a:schemeClr val="accent1"/>
              </a:buClr>
              <a:buSzPct val="80000"/>
            </a:pPr>
            <a:r>
              <a:rPr lang="en-IN" sz="2000" b="1" u="sng" dirty="0">
                <a:solidFill>
                  <a:srgbClr val="CC0066"/>
                </a:solidFill>
                <a:latin typeface="Calibri" panose="020F0502020204030204" pitchFamily="34" charset="0"/>
                <a:cs typeface="Calibri" panose="020F0502020204030204" pitchFamily="34" charset="0"/>
              </a:rPr>
              <a:t>Non-tail recursion</a:t>
            </a:r>
          </a:p>
          <a:p>
            <a:pPr>
              <a:spcBef>
                <a:spcPts val="1400"/>
              </a:spcBef>
            </a:pPr>
            <a:r>
              <a:rPr lang="en-IN" sz="2200" b="1" dirty="0" err="1"/>
              <a:t>int</a:t>
            </a:r>
            <a:r>
              <a:rPr lang="en-IN" sz="2200" b="1" dirty="0"/>
              <a:t> Fact(</a:t>
            </a:r>
            <a:r>
              <a:rPr lang="en-IN" sz="2200" b="1" dirty="0" err="1"/>
              <a:t>int</a:t>
            </a:r>
            <a:r>
              <a:rPr lang="en-IN" sz="2200" b="1" dirty="0"/>
              <a:t> n)</a:t>
            </a:r>
          </a:p>
          <a:p>
            <a:pPr>
              <a:spcBef>
                <a:spcPts val="1400"/>
              </a:spcBef>
            </a:pPr>
            <a:r>
              <a:rPr lang="en-IN" sz="2200" b="1" dirty="0"/>
              <a:t>{</a:t>
            </a:r>
          </a:p>
          <a:p>
            <a:pPr>
              <a:spcBef>
                <a:spcPts val="1400"/>
              </a:spcBef>
            </a:pPr>
            <a:r>
              <a:rPr lang="en-IN" sz="2200" b="1" dirty="0"/>
              <a:t>	if (n == 1)</a:t>
            </a:r>
          </a:p>
          <a:p>
            <a:pPr>
              <a:spcBef>
                <a:spcPts val="1400"/>
              </a:spcBef>
            </a:pPr>
            <a:r>
              <a:rPr lang="en-IN" sz="2200" b="1" dirty="0"/>
              <a:t>		return 1;</a:t>
            </a:r>
          </a:p>
          <a:p>
            <a:pPr>
              <a:spcBef>
                <a:spcPts val="1400"/>
              </a:spcBef>
            </a:pPr>
            <a:r>
              <a:rPr lang="en-IN" sz="2200" b="1" dirty="0"/>
              <a:t>	else</a:t>
            </a:r>
          </a:p>
          <a:p>
            <a:pPr>
              <a:spcBef>
                <a:spcPts val="1400"/>
              </a:spcBef>
            </a:pPr>
            <a:r>
              <a:rPr lang="en-IN" sz="2200" b="1" dirty="0"/>
              <a:t>		return (n * Fact(n–1));</a:t>
            </a:r>
          </a:p>
          <a:p>
            <a:pPr>
              <a:spcBef>
                <a:spcPts val="1400"/>
              </a:spcBef>
            </a:pPr>
            <a:r>
              <a:rPr lang="en-IN" sz="2200" b="1" dirty="0"/>
              <a:t>}</a:t>
            </a:r>
          </a:p>
        </p:txBody>
      </p:sp>
      <p:cxnSp>
        <p:nvCxnSpPr>
          <p:cNvPr id="9" name="Straight Connector 8"/>
          <p:cNvCxnSpPr/>
          <p:nvPr/>
        </p:nvCxnSpPr>
        <p:spPr>
          <a:xfrm>
            <a:off x="3810000" y="457200"/>
            <a:ext cx="0" cy="53797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7086600" y="457200"/>
            <a:ext cx="0" cy="53797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29108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533400"/>
            <a:ext cx="5288280" cy="5547359"/>
          </a:xfrm>
        </p:spPr>
        <p:txBody>
          <a:bodyPr>
            <a:normAutofit lnSpcReduction="10000"/>
          </a:bodyPr>
          <a:lstStyle/>
          <a:p>
            <a:pPr marL="45720" indent="0">
              <a:lnSpc>
                <a:spcPct val="100000"/>
              </a:lnSpc>
              <a:buNone/>
            </a:pPr>
            <a:r>
              <a:rPr lang="en-IN" b="1" u="sng" dirty="0">
                <a:solidFill>
                  <a:srgbClr val="CC0066"/>
                </a:solidFill>
              </a:rPr>
              <a:t>Tail recursion</a:t>
            </a:r>
          </a:p>
          <a:p>
            <a:pPr marL="45720" indent="0">
              <a:buNone/>
            </a:pPr>
            <a:r>
              <a:rPr lang="en-IN" b="1" dirty="0" err="1">
                <a:solidFill>
                  <a:schemeClr val="tx1"/>
                </a:solidFill>
              </a:rPr>
              <a:t>int</a:t>
            </a:r>
            <a:r>
              <a:rPr lang="en-IN" b="1" dirty="0">
                <a:solidFill>
                  <a:schemeClr val="tx1"/>
                </a:solidFill>
              </a:rPr>
              <a:t> Fact(n)</a:t>
            </a:r>
          </a:p>
          <a:p>
            <a:pPr marL="45720" indent="0">
              <a:buNone/>
            </a:pPr>
            <a:r>
              <a:rPr lang="en-IN" b="1" dirty="0">
                <a:solidFill>
                  <a:schemeClr val="tx1"/>
                </a:solidFill>
              </a:rPr>
              <a:t>{</a:t>
            </a:r>
          </a:p>
          <a:p>
            <a:pPr marL="45720" indent="0">
              <a:buNone/>
            </a:pPr>
            <a:r>
              <a:rPr lang="en-IN" b="1" dirty="0">
                <a:solidFill>
                  <a:schemeClr val="tx1"/>
                </a:solidFill>
              </a:rPr>
              <a:t>      return Fact1(n, 1);</a:t>
            </a:r>
          </a:p>
          <a:p>
            <a:pPr marL="45720" indent="0">
              <a:buNone/>
            </a:pPr>
            <a:r>
              <a:rPr lang="en-IN" b="1" dirty="0">
                <a:solidFill>
                  <a:schemeClr val="tx1"/>
                </a:solidFill>
              </a:rPr>
              <a:t>}</a:t>
            </a:r>
          </a:p>
          <a:p>
            <a:pPr marL="45720" indent="0">
              <a:buNone/>
            </a:pPr>
            <a:r>
              <a:rPr lang="en-IN" b="1" dirty="0" err="1">
                <a:solidFill>
                  <a:schemeClr val="tx1"/>
                </a:solidFill>
              </a:rPr>
              <a:t>int</a:t>
            </a:r>
            <a:r>
              <a:rPr lang="en-IN" b="1" dirty="0">
                <a:solidFill>
                  <a:schemeClr val="tx1"/>
                </a:solidFill>
              </a:rPr>
              <a:t> Fact1(</a:t>
            </a:r>
            <a:r>
              <a:rPr lang="en-IN" b="1" dirty="0" err="1">
                <a:solidFill>
                  <a:schemeClr val="tx1"/>
                </a:solidFill>
              </a:rPr>
              <a:t>int</a:t>
            </a:r>
            <a:r>
              <a:rPr lang="en-IN" b="1" dirty="0">
                <a:solidFill>
                  <a:schemeClr val="tx1"/>
                </a:solidFill>
              </a:rPr>
              <a:t> n, </a:t>
            </a:r>
            <a:r>
              <a:rPr lang="en-IN" b="1" dirty="0" err="1">
                <a:solidFill>
                  <a:schemeClr val="tx1"/>
                </a:solidFill>
              </a:rPr>
              <a:t>int</a:t>
            </a:r>
            <a:r>
              <a:rPr lang="en-IN" b="1" dirty="0">
                <a:solidFill>
                  <a:schemeClr val="tx1"/>
                </a:solidFill>
              </a:rPr>
              <a:t> res)</a:t>
            </a:r>
          </a:p>
          <a:p>
            <a:pPr marL="45720" indent="0">
              <a:buNone/>
            </a:pPr>
            <a:r>
              <a:rPr lang="en-IN" b="1" dirty="0">
                <a:solidFill>
                  <a:schemeClr val="tx1"/>
                </a:solidFill>
              </a:rPr>
              <a:t>{</a:t>
            </a:r>
          </a:p>
          <a:p>
            <a:pPr marL="45720" indent="0">
              <a:buNone/>
            </a:pPr>
            <a:r>
              <a:rPr lang="en-IN" b="1" dirty="0">
                <a:solidFill>
                  <a:schemeClr val="tx1"/>
                </a:solidFill>
              </a:rPr>
              <a:t>    if (n == 1)</a:t>
            </a:r>
          </a:p>
          <a:p>
            <a:pPr marL="45720" indent="0">
              <a:buNone/>
            </a:pPr>
            <a:r>
              <a:rPr lang="en-IN" b="1" dirty="0">
                <a:solidFill>
                  <a:schemeClr val="tx1"/>
                </a:solidFill>
              </a:rPr>
              <a:t>         return res;</a:t>
            </a:r>
          </a:p>
          <a:p>
            <a:pPr marL="45720" indent="0">
              <a:buNone/>
            </a:pPr>
            <a:r>
              <a:rPr lang="en-IN" b="1" dirty="0">
                <a:solidFill>
                  <a:schemeClr val="tx1"/>
                </a:solidFill>
              </a:rPr>
              <a:t>    else</a:t>
            </a:r>
          </a:p>
          <a:p>
            <a:pPr marL="45720" indent="0">
              <a:buNone/>
            </a:pPr>
            <a:r>
              <a:rPr lang="en-IN" b="1" dirty="0">
                <a:solidFill>
                  <a:schemeClr val="tx1"/>
                </a:solidFill>
              </a:rPr>
              <a:t>        return Fact1(n–1, n*res);</a:t>
            </a:r>
          </a:p>
          <a:p>
            <a:pPr marL="45720" indent="0">
              <a:buNone/>
            </a:pPr>
            <a:r>
              <a:rPr lang="en-IN" b="1" dirty="0">
                <a:solidFill>
                  <a:schemeClr val="tx1"/>
                </a:solidFill>
              </a:rPr>
              <a:t>}</a:t>
            </a:r>
          </a:p>
        </p:txBody>
      </p:sp>
      <p:sp>
        <p:nvSpPr>
          <p:cNvPr id="4" name="Content Placeholder 3"/>
          <p:cNvSpPr>
            <a:spLocks noGrp="1"/>
          </p:cNvSpPr>
          <p:nvPr>
            <p:ph sz="half" idx="2"/>
          </p:nvPr>
        </p:nvSpPr>
        <p:spPr>
          <a:xfrm>
            <a:off x="4572000" y="533400"/>
            <a:ext cx="6907692" cy="5547360"/>
          </a:xfrm>
        </p:spPr>
        <p:txBody>
          <a:bodyPr>
            <a:normAutofit lnSpcReduction="10000"/>
          </a:bodyPr>
          <a:lstStyle/>
          <a:p>
            <a:pPr marL="45720" indent="0">
              <a:lnSpc>
                <a:spcPct val="100000"/>
              </a:lnSpc>
              <a:buNone/>
            </a:pPr>
            <a:r>
              <a:rPr lang="en-IN" b="1" u="sng" dirty="0">
                <a:solidFill>
                  <a:srgbClr val="CC0066"/>
                </a:solidFill>
              </a:rPr>
              <a:t>Tree recursion</a:t>
            </a:r>
          </a:p>
          <a:p>
            <a:pPr marL="45720" indent="0">
              <a:buNone/>
            </a:pPr>
            <a:r>
              <a:rPr lang="en-IN" b="1" dirty="0" err="1">
                <a:solidFill>
                  <a:schemeClr val="tx1"/>
                </a:solidFill>
              </a:rPr>
              <a:t>int</a:t>
            </a:r>
            <a:r>
              <a:rPr lang="en-IN" b="1" dirty="0">
                <a:solidFill>
                  <a:schemeClr val="tx1"/>
                </a:solidFill>
              </a:rPr>
              <a:t> Fibonacci(</a:t>
            </a:r>
            <a:r>
              <a:rPr lang="en-IN" b="1" dirty="0" err="1">
                <a:solidFill>
                  <a:schemeClr val="tx1"/>
                </a:solidFill>
              </a:rPr>
              <a:t>int</a:t>
            </a:r>
            <a:r>
              <a:rPr lang="en-IN" b="1" dirty="0">
                <a:solidFill>
                  <a:schemeClr val="tx1"/>
                </a:solidFill>
              </a:rPr>
              <a:t> </a:t>
            </a:r>
            <a:r>
              <a:rPr lang="en-IN" b="1" dirty="0" err="1">
                <a:solidFill>
                  <a:schemeClr val="tx1"/>
                </a:solidFill>
              </a:rPr>
              <a:t>num</a:t>
            </a:r>
            <a:r>
              <a:rPr lang="en-IN" b="1" dirty="0">
                <a:solidFill>
                  <a:schemeClr val="tx1"/>
                </a:solidFill>
              </a:rPr>
              <a:t>)</a:t>
            </a:r>
          </a:p>
          <a:p>
            <a:pPr marL="45720" indent="0">
              <a:buNone/>
            </a:pPr>
            <a:r>
              <a:rPr lang="en-IN" b="1" dirty="0">
                <a:solidFill>
                  <a:schemeClr val="tx1"/>
                </a:solidFill>
              </a:rPr>
              <a:t>{</a:t>
            </a:r>
          </a:p>
          <a:p>
            <a:pPr marL="45720" indent="0">
              <a:buNone/>
            </a:pPr>
            <a:r>
              <a:rPr lang="en-IN" b="1" dirty="0">
                <a:solidFill>
                  <a:schemeClr val="tx1"/>
                </a:solidFill>
              </a:rPr>
              <a:t>if(</a:t>
            </a:r>
            <a:r>
              <a:rPr lang="en-IN" b="1" dirty="0" err="1">
                <a:solidFill>
                  <a:schemeClr val="tx1"/>
                </a:solidFill>
              </a:rPr>
              <a:t>num</a:t>
            </a:r>
            <a:r>
              <a:rPr lang="en-IN" b="1" dirty="0">
                <a:solidFill>
                  <a:schemeClr val="tx1"/>
                </a:solidFill>
              </a:rPr>
              <a:t> == )</a:t>
            </a:r>
          </a:p>
          <a:p>
            <a:pPr marL="45720" indent="0">
              <a:buNone/>
            </a:pPr>
            <a:r>
              <a:rPr lang="en-IN" b="1" dirty="0">
                <a:solidFill>
                  <a:schemeClr val="tx1"/>
                </a:solidFill>
              </a:rPr>
              <a:t>return ;</a:t>
            </a:r>
          </a:p>
          <a:p>
            <a:pPr marL="45720" indent="0">
              <a:buNone/>
            </a:pPr>
            <a:r>
              <a:rPr lang="en-IN" b="1" dirty="0">
                <a:solidFill>
                  <a:schemeClr val="tx1"/>
                </a:solidFill>
              </a:rPr>
              <a:t>else</a:t>
            </a:r>
          </a:p>
          <a:p>
            <a:pPr marL="45720" indent="0">
              <a:buNone/>
            </a:pPr>
            <a:r>
              <a:rPr lang="it-IT" b="1" dirty="0">
                <a:solidFill>
                  <a:schemeClr val="tx1"/>
                </a:solidFill>
              </a:rPr>
              <a:t>return (Fibonacci(num - 1) + Fibonacci(num – 2));</a:t>
            </a:r>
          </a:p>
          <a:p>
            <a:pPr marL="45720" indent="0">
              <a:buNone/>
            </a:pPr>
            <a:r>
              <a:rPr lang="en-IN" b="1" dirty="0">
                <a:solidFill>
                  <a:schemeClr val="tx1"/>
                </a:solidFill>
              </a:rPr>
              <a:t>}</a:t>
            </a:r>
          </a:p>
        </p:txBody>
      </p:sp>
      <p:cxnSp>
        <p:nvCxnSpPr>
          <p:cNvPr id="5" name="Straight Connector 4"/>
          <p:cNvCxnSpPr/>
          <p:nvPr/>
        </p:nvCxnSpPr>
        <p:spPr>
          <a:xfrm>
            <a:off x="4104564" y="533400"/>
            <a:ext cx="0" cy="53797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00033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33400" y="381000"/>
            <a:ext cx="10972800" cy="4023360"/>
          </a:xfrm>
        </p:spPr>
        <p:txBody>
          <a:bodyPr>
            <a:noAutofit/>
          </a:bodyPr>
          <a:lstStyle/>
          <a:p>
            <a:pPr marL="45720" indent="0">
              <a:lnSpc>
                <a:spcPct val="110000"/>
              </a:lnSpc>
              <a:spcBef>
                <a:spcPts val="600"/>
              </a:spcBef>
              <a:buNone/>
            </a:pPr>
            <a:r>
              <a:rPr lang="en-IN" b="1" dirty="0">
                <a:solidFill>
                  <a:schemeClr val="tx1"/>
                </a:solidFill>
              </a:rPr>
              <a:t>Observe the series of function calls. When the function returns, the pending operations in turn calls the function</a:t>
            </a:r>
          </a:p>
          <a:p>
            <a:pPr marL="45720" indent="0">
              <a:lnSpc>
                <a:spcPct val="110000"/>
              </a:lnSpc>
              <a:spcBef>
                <a:spcPts val="600"/>
              </a:spcBef>
              <a:buNone/>
            </a:pPr>
            <a:r>
              <a:rPr lang="en-IN" b="1" dirty="0">
                <a:solidFill>
                  <a:schemeClr val="tx1"/>
                </a:solidFill>
              </a:rPr>
              <a:t>Fibonacci(7) = Fibonacci(6) + Fibonacci(5)</a:t>
            </a:r>
          </a:p>
          <a:p>
            <a:pPr marL="45720" indent="0">
              <a:lnSpc>
                <a:spcPct val="110000"/>
              </a:lnSpc>
              <a:spcBef>
                <a:spcPts val="600"/>
              </a:spcBef>
              <a:buNone/>
            </a:pPr>
            <a:r>
              <a:rPr lang="en-IN" b="1" dirty="0">
                <a:solidFill>
                  <a:schemeClr val="tx1"/>
                </a:solidFill>
              </a:rPr>
              <a:t>Fibonacci(6) = Fibonacci(5) + Fibonacci(4)</a:t>
            </a:r>
          </a:p>
          <a:p>
            <a:pPr marL="45720" indent="0">
              <a:lnSpc>
                <a:spcPct val="110000"/>
              </a:lnSpc>
              <a:spcBef>
                <a:spcPts val="600"/>
              </a:spcBef>
              <a:buNone/>
            </a:pPr>
            <a:r>
              <a:rPr lang="en-IN" b="1" dirty="0">
                <a:solidFill>
                  <a:schemeClr val="tx1"/>
                </a:solidFill>
              </a:rPr>
              <a:t>Fibonacci(5) = Fibonacci(4) + Fibonacci(3)</a:t>
            </a:r>
          </a:p>
          <a:p>
            <a:pPr marL="45720" indent="0">
              <a:lnSpc>
                <a:spcPct val="110000"/>
              </a:lnSpc>
              <a:spcBef>
                <a:spcPts val="600"/>
              </a:spcBef>
              <a:buNone/>
            </a:pPr>
            <a:r>
              <a:rPr lang="en-IN" b="1" dirty="0">
                <a:solidFill>
                  <a:schemeClr val="tx1"/>
                </a:solidFill>
              </a:rPr>
              <a:t>Fibonacci(4) = Fibonacci(3) + Fibonacci(2)</a:t>
            </a:r>
          </a:p>
          <a:p>
            <a:pPr marL="45720" indent="0">
              <a:lnSpc>
                <a:spcPct val="110000"/>
              </a:lnSpc>
              <a:spcBef>
                <a:spcPts val="600"/>
              </a:spcBef>
              <a:buNone/>
            </a:pPr>
            <a:r>
              <a:rPr lang="en-IN" b="1" dirty="0">
                <a:solidFill>
                  <a:schemeClr val="tx1"/>
                </a:solidFill>
              </a:rPr>
              <a:t>Fibonacci(3) = Fibonacci(2) + Fibonacci(1)</a:t>
            </a:r>
          </a:p>
          <a:p>
            <a:pPr marL="45720" indent="0">
              <a:lnSpc>
                <a:spcPct val="110000"/>
              </a:lnSpc>
              <a:spcBef>
                <a:spcPts val="600"/>
              </a:spcBef>
              <a:buNone/>
            </a:pPr>
            <a:r>
              <a:rPr lang="en-IN" b="1" dirty="0">
                <a:solidFill>
                  <a:schemeClr val="tx1"/>
                </a:solidFill>
              </a:rPr>
              <a:t>Fibonacci(2) = Fibonacci(1) + Fibonacci(0)</a:t>
            </a:r>
          </a:p>
          <a:p>
            <a:pPr marL="45720" indent="0">
              <a:lnSpc>
                <a:spcPct val="110000"/>
              </a:lnSpc>
              <a:spcBef>
                <a:spcPts val="600"/>
              </a:spcBef>
              <a:buNone/>
            </a:pPr>
            <a:r>
              <a:rPr lang="en-IN" b="1" dirty="0">
                <a:solidFill>
                  <a:schemeClr val="tx1"/>
                </a:solidFill>
              </a:rPr>
              <a:t>Now we have, Fibonacci(2) = 1 + 0 = 1</a:t>
            </a:r>
          </a:p>
          <a:p>
            <a:pPr marL="45720" indent="0">
              <a:lnSpc>
                <a:spcPct val="110000"/>
              </a:lnSpc>
              <a:spcBef>
                <a:spcPts val="600"/>
              </a:spcBef>
              <a:buNone/>
            </a:pPr>
            <a:r>
              <a:rPr lang="en-IN" b="1" dirty="0">
                <a:solidFill>
                  <a:schemeClr val="tx1"/>
                </a:solidFill>
              </a:rPr>
              <a:t>Fibonacci(3) = 1 + 1 = 2</a:t>
            </a:r>
          </a:p>
          <a:p>
            <a:pPr marL="45720" indent="0">
              <a:lnSpc>
                <a:spcPct val="110000"/>
              </a:lnSpc>
              <a:spcBef>
                <a:spcPts val="600"/>
              </a:spcBef>
              <a:buNone/>
            </a:pPr>
            <a:r>
              <a:rPr lang="en-IN" b="1" dirty="0">
                <a:solidFill>
                  <a:schemeClr val="tx1"/>
                </a:solidFill>
              </a:rPr>
              <a:t>Fibonacci(4) = 2 + 1 = 3</a:t>
            </a:r>
          </a:p>
          <a:p>
            <a:pPr marL="45720" indent="0">
              <a:lnSpc>
                <a:spcPct val="110000"/>
              </a:lnSpc>
              <a:spcBef>
                <a:spcPts val="600"/>
              </a:spcBef>
              <a:buNone/>
            </a:pPr>
            <a:r>
              <a:rPr lang="en-IN" b="1" dirty="0">
                <a:solidFill>
                  <a:schemeClr val="tx1"/>
                </a:solidFill>
              </a:rPr>
              <a:t>Fibonacci(5) = 3 + 2 = 5</a:t>
            </a:r>
          </a:p>
          <a:p>
            <a:pPr marL="45720" indent="0">
              <a:lnSpc>
                <a:spcPct val="110000"/>
              </a:lnSpc>
              <a:spcBef>
                <a:spcPts val="600"/>
              </a:spcBef>
              <a:buNone/>
            </a:pPr>
            <a:r>
              <a:rPr lang="en-IN" b="1" dirty="0">
                <a:solidFill>
                  <a:schemeClr val="tx1"/>
                </a:solidFill>
              </a:rPr>
              <a:t>Fibonacci(6) = 3 + 5 = 8</a:t>
            </a:r>
          </a:p>
          <a:p>
            <a:pPr marL="45720" indent="0">
              <a:lnSpc>
                <a:spcPct val="110000"/>
              </a:lnSpc>
              <a:spcBef>
                <a:spcPts val="600"/>
              </a:spcBef>
              <a:buNone/>
            </a:pPr>
            <a:r>
              <a:rPr lang="en-IN" b="1" dirty="0">
                <a:solidFill>
                  <a:schemeClr val="tx1"/>
                </a:solidFill>
              </a:rPr>
              <a:t>Fibonacci(7) = 5 + 8 = 13</a:t>
            </a:r>
          </a:p>
        </p:txBody>
      </p:sp>
    </p:spTree>
    <p:extLst>
      <p:ext uri="{BB962C8B-B14F-4D97-AF65-F5344CB8AC3E}">
        <p14:creationId xmlns:p14="http://schemas.microsoft.com/office/powerpoint/2010/main" val="39197839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271" y="415944"/>
            <a:ext cx="9875520" cy="1356360"/>
          </a:xfrm>
        </p:spPr>
        <p:txBody>
          <a:bodyPr/>
          <a:lstStyle/>
          <a:p>
            <a:r>
              <a:rPr lang="en-IN" b="1" i="1" dirty="0">
                <a:solidFill>
                  <a:srgbClr val="CC0066"/>
                </a:solidFill>
              </a:rPr>
              <a:t>Tower of Hanoi</a:t>
            </a:r>
            <a:endParaRPr lang="en-IN" dirty="0">
              <a:solidFill>
                <a:srgbClr val="CC0066"/>
              </a:solidFill>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483894" y="3005137"/>
            <a:ext cx="3190875" cy="2143125"/>
          </a:xfrm>
        </p:spPr>
      </p:pic>
      <p:pic>
        <p:nvPicPr>
          <p:cNvPr id="6" name="Content Placeholder 5"/>
          <p:cNvPicPr>
            <a:picLocks noGrp="1" noChangeAspect="1"/>
          </p:cNvPicPr>
          <p:nvPr>
            <p:ph sz="half" idx="4294967295"/>
          </p:nvPr>
        </p:nvPicPr>
        <p:blipFill>
          <a:blip r:embed="rId3">
            <a:extLst>
              <a:ext uri="{28A0092B-C50C-407E-A947-70E740481C1C}">
                <a14:useLocalDpi xmlns:a14="http://schemas.microsoft.com/office/drawing/2010/main" val="0"/>
              </a:ext>
            </a:extLst>
          </a:blip>
          <a:stretch>
            <a:fillRect/>
          </a:stretch>
        </p:blipFill>
        <p:spPr>
          <a:xfrm>
            <a:off x="457200" y="1940654"/>
            <a:ext cx="8305800" cy="3884612"/>
          </a:xfrm>
          <a:ln>
            <a:solidFill>
              <a:schemeClr val="tx1"/>
            </a:solidFill>
          </a:ln>
        </p:spPr>
      </p:pic>
    </p:spTree>
    <p:extLst>
      <p:ext uri="{BB962C8B-B14F-4D97-AF65-F5344CB8AC3E}">
        <p14:creationId xmlns:p14="http://schemas.microsoft.com/office/powerpoint/2010/main" val="84531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heel(1)">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xit" presetSubtype="1" fill="hold" nodeType="clickEffect">
                                  <p:stCondLst>
                                    <p:cond delay="0"/>
                                  </p:stCondLst>
                                  <p:childTnLst>
                                    <p:animEffect transition="out" filter="wheel(1)">
                                      <p:cBhvr>
                                        <p:cTn id="11" dur="2000"/>
                                        <p:tgtEl>
                                          <p:spTgt spid="6"/>
                                        </p:tgtEl>
                                      </p:cBhvr>
                                    </p:animEffect>
                                    <p:set>
                                      <p:cBhvr>
                                        <p:cTn id="12" dur="1" fill="hold">
                                          <p:stCondLst>
                                            <p:cond delay="1999"/>
                                          </p:stCondLst>
                                        </p:cTn>
                                        <p:tgtEl>
                                          <p:spTgt spid="6"/>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fltVal val="0"/>
                                          </p:val>
                                        </p:tav>
                                        <p:tav tm="100000">
                                          <p:val>
                                            <p:strVal val="#ppt_w"/>
                                          </p:val>
                                        </p:tav>
                                      </p:tavLst>
                                    </p:anim>
                                    <p:anim calcmode="lin" valueType="num">
                                      <p:cBhvr>
                                        <p:cTn id="18" dur="1000" fill="hold"/>
                                        <p:tgtEl>
                                          <p:spTgt spid="5"/>
                                        </p:tgtEl>
                                        <p:attrNameLst>
                                          <p:attrName>ppt_h</p:attrName>
                                        </p:attrNameLst>
                                      </p:cBhvr>
                                      <p:tavLst>
                                        <p:tav tm="0">
                                          <p:val>
                                            <p:fltVal val="0"/>
                                          </p:val>
                                        </p:tav>
                                        <p:tav tm="100000">
                                          <p:val>
                                            <p:strVal val="#ppt_h"/>
                                          </p:val>
                                        </p:tav>
                                      </p:tavLst>
                                    </p:anim>
                                    <p:anim calcmode="lin" valueType="num">
                                      <p:cBhvr>
                                        <p:cTn id="19" dur="1000" fill="hold"/>
                                        <p:tgtEl>
                                          <p:spTgt spid="5"/>
                                        </p:tgtEl>
                                        <p:attrNameLst>
                                          <p:attrName>style.rotation</p:attrName>
                                        </p:attrNameLst>
                                      </p:cBhvr>
                                      <p:tavLst>
                                        <p:tav tm="0">
                                          <p:val>
                                            <p:fltVal val="90"/>
                                          </p:val>
                                        </p:tav>
                                        <p:tav tm="100000">
                                          <p:val>
                                            <p:fltVal val="0"/>
                                          </p:val>
                                        </p:tav>
                                      </p:tavLst>
                                    </p:anim>
                                    <p:animEffect transition="in" filter="fade">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xit" presetSubtype="0" fill="hold" nodeType="clickEffect">
                                  <p:stCondLst>
                                    <p:cond delay="0"/>
                                  </p:stCondLst>
                                  <p:childTnLst>
                                    <p:anim calcmode="lin" valueType="num">
                                      <p:cBhvr>
                                        <p:cTn id="24" dur="1000"/>
                                        <p:tgtEl>
                                          <p:spTgt spid="5"/>
                                        </p:tgtEl>
                                        <p:attrNameLst>
                                          <p:attrName>ppt_w</p:attrName>
                                        </p:attrNameLst>
                                      </p:cBhvr>
                                      <p:tavLst>
                                        <p:tav tm="0">
                                          <p:val>
                                            <p:strVal val="ppt_w"/>
                                          </p:val>
                                        </p:tav>
                                        <p:tav tm="100000">
                                          <p:val>
                                            <p:fltVal val="0"/>
                                          </p:val>
                                        </p:tav>
                                      </p:tavLst>
                                    </p:anim>
                                    <p:anim calcmode="lin" valueType="num">
                                      <p:cBhvr>
                                        <p:cTn id="25" dur="1000"/>
                                        <p:tgtEl>
                                          <p:spTgt spid="5"/>
                                        </p:tgtEl>
                                        <p:attrNameLst>
                                          <p:attrName>ppt_h</p:attrName>
                                        </p:attrNameLst>
                                      </p:cBhvr>
                                      <p:tavLst>
                                        <p:tav tm="0">
                                          <p:val>
                                            <p:strVal val="ppt_h"/>
                                          </p:val>
                                        </p:tav>
                                        <p:tav tm="100000">
                                          <p:val>
                                            <p:fltVal val="0"/>
                                          </p:val>
                                        </p:tav>
                                      </p:tavLst>
                                    </p:anim>
                                    <p:anim calcmode="lin" valueType="num">
                                      <p:cBhvr>
                                        <p:cTn id="26" dur="1000"/>
                                        <p:tgtEl>
                                          <p:spTgt spid="5"/>
                                        </p:tgtEl>
                                        <p:attrNameLst>
                                          <p:attrName>style.rotation</p:attrName>
                                        </p:attrNameLst>
                                      </p:cBhvr>
                                      <p:tavLst>
                                        <p:tav tm="0">
                                          <p:val>
                                            <p:fltVal val="0"/>
                                          </p:val>
                                        </p:tav>
                                        <p:tav tm="100000">
                                          <p:val>
                                            <p:fltVal val="90"/>
                                          </p:val>
                                        </p:tav>
                                      </p:tavLst>
                                    </p:anim>
                                    <p:animEffect transition="out" filter="fade">
                                      <p:cBhvr>
                                        <p:cTn id="27" dur="1000"/>
                                        <p:tgtEl>
                                          <p:spTgt spid="5"/>
                                        </p:tgtEl>
                                      </p:cBhvr>
                                    </p:animEffect>
                                    <p:set>
                                      <p:cBhvr>
                                        <p:cTn id="28" dur="1" fill="hold">
                                          <p:stCondLst>
                                            <p:cond delay="9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78735" y="457200"/>
            <a:ext cx="11201400" cy="762000"/>
          </a:xfrm>
        </p:spPr>
        <p:txBody>
          <a:bodyPr>
            <a:normAutofit/>
          </a:bodyPr>
          <a:lstStyle/>
          <a:p>
            <a:r>
              <a:rPr lang="en-IN" dirty="0">
                <a:solidFill>
                  <a:srgbClr val="CC0066"/>
                </a:solidFill>
              </a:rPr>
              <a:t>Tower of Hanoi problem</a:t>
            </a:r>
          </a:p>
        </p:txBody>
      </p:sp>
      <p:sp>
        <p:nvSpPr>
          <p:cNvPr id="6" name="Content Placeholder 5"/>
          <p:cNvSpPr>
            <a:spLocks noGrp="1"/>
          </p:cNvSpPr>
          <p:nvPr>
            <p:ph idx="1"/>
          </p:nvPr>
        </p:nvSpPr>
        <p:spPr>
          <a:xfrm>
            <a:off x="447359" y="1219200"/>
            <a:ext cx="9534841" cy="5181600"/>
          </a:xfrm>
        </p:spPr>
        <p:txBody>
          <a:bodyPr>
            <a:noAutofit/>
          </a:bodyPr>
          <a:lstStyle/>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Tower of Hanoi is a mathematical puzzle where we have three towers (</a:t>
            </a:r>
            <a:r>
              <a:rPr lang="en-US" sz="2400" b="1" i="0" dirty="0">
                <a:solidFill>
                  <a:srgbClr val="273239"/>
                </a:solidFill>
                <a:effectLst/>
                <a:latin typeface="Times New Roman" panose="02020603050405020304" pitchFamily="18" charset="0"/>
                <a:cs typeface="Times New Roman" panose="02020603050405020304" pitchFamily="18" charset="0"/>
              </a:rPr>
              <a:t>A</a:t>
            </a:r>
            <a:r>
              <a:rPr lang="en-US" sz="2400" b="0" i="0" dirty="0">
                <a:solidFill>
                  <a:srgbClr val="273239"/>
                </a:solidFill>
                <a:effectLst/>
                <a:latin typeface="Times New Roman" panose="02020603050405020304" pitchFamily="18" charset="0"/>
                <a:cs typeface="Times New Roman" panose="02020603050405020304" pitchFamily="18" charset="0"/>
              </a:rPr>
              <a:t>, </a:t>
            </a:r>
            <a:r>
              <a:rPr lang="en-US" sz="2400" b="1" i="0" dirty="0">
                <a:solidFill>
                  <a:srgbClr val="273239"/>
                </a:solidFill>
                <a:effectLst/>
                <a:latin typeface="Times New Roman" panose="02020603050405020304" pitchFamily="18" charset="0"/>
                <a:cs typeface="Times New Roman" panose="02020603050405020304" pitchFamily="18" charset="0"/>
              </a:rPr>
              <a:t>B</a:t>
            </a:r>
            <a:r>
              <a:rPr lang="en-US" sz="2400" b="0" i="0" dirty="0">
                <a:solidFill>
                  <a:srgbClr val="273239"/>
                </a:solidFill>
                <a:effectLst/>
                <a:latin typeface="Times New Roman" panose="02020603050405020304" pitchFamily="18" charset="0"/>
                <a:cs typeface="Times New Roman" panose="02020603050405020304" pitchFamily="18" charset="0"/>
              </a:rPr>
              <a:t>, and </a:t>
            </a:r>
            <a:r>
              <a:rPr lang="en-US" sz="2400" b="1" i="0" dirty="0">
                <a:solidFill>
                  <a:srgbClr val="273239"/>
                </a:solidFill>
                <a:effectLst/>
                <a:latin typeface="Times New Roman" panose="02020603050405020304" pitchFamily="18" charset="0"/>
                <a:cs typeface="Times New Roman" panose="02020603050405020304" pitchFamily="18" charset="0"/>
              </a:rPr>
              <a:t>C</a:t>
            </a:r>
            <a:r>
              <a:rPr lang="en-US" sz="2400" b="0" i="0" dirty="0">
                <a:solidFill>
                  <a:srgbClr val="273239"/>
                </a:solidFill>
                <a:effectLst/>
                <a:latin typeface="Times New Roman" panose="02020603050405020304" pitchFamily="18" charset="0"/>
                <a:cs typeface="Times New Roman" panose="02020603050405020304" pitchFamily="18" charset="0"/>
              </a:rPr>
              <a:t>) and </a:t>
            </a:r>
            <a:r>
              <a:rPr lang="en-US" sz="2400" b="1" i="0" dirty="0">
                <a:solidFill>
                  <a:srgbClr val="273239"/>
                </a:solidFill>
                <a:effectLst/>
                <a:latin typeface="Times New Roman" panose="02020603050405020304" pitchFamily="18" charset="0"/>
                <a:cs typeface="Times New Roman" panose="02020603050405020304" pitchFamily="18" charset="0"/>
              </a:rPr>
              <a:t>N</a:t>
            </a:r>
            <a:r>
              <a:rPr lang="en-US" sz="2400" b="0" i="0" dirty="0">
                <a:solidFill>
                  <a:srgbClr val="273239"/>
                </a:solidFill>
                <a:effectLst/>
                <a:latin typeface="Times New Roman" panose="02020603050405020304" pitchFamily="18" charset="0"/>
                <a:cs typeface="Times New Roman" panose="02020603050405020304" pitchFamily="18" charset="0"/>
              </a:rPr>
              <a:t> disks. Initially, all the disks are stacked in decreasing value of diameter i.e., the smallest disk is placed on the top and they are on tower </a:t>
            </a:r>
            <a:r>
              <a:rPr lang="en-US" sz="2400" b="1" i="0" dirty="0">
                <a:solidFill>
                  <a:srgbClr val="273239"/>
                </a:solidFill>
                <a:effectLst/>
                <a:latin typeface="Times New Roman" panose="02020603050405020304" pitchFamily="18" charset="0"/>
                <a:cs typeface="Times New Roman" panose="02020603050405020304" pitchFamily="18" charset="0"/>
              </a:rPr>
              <a:t>A</a:t>
            </a:r>
            <a:r>
              <a:rPr lang="en-US" sz="2400" b="0" i="0" dirty="0">
                <a:solidFill>
                  <a:srgbClr val="273239"/>
                </a:solidFill>
                <a:effectLst/>
                <a:latin typeface="Times New Roman" panose="02020603050405020304" pitchFamily="18" charset="0"/>
                <a:cs typeface="Times New Roman" panose="02020603050405020304" pitchFamily="18" charset="0"/>
              </a:rPr>
              <a:t>. The objective of the puzzle is to move the entire stack to another tower (here considered </a:t>
            </a:r>
            <a:r>
              <a:rPr lang="en-US" sz="2400" b="1" i="0" dirty="0">
                <a:solidFill>
                  <a:srgbClr val="273239"/>
                </a:solidFill>
                <a:effectLst/>
                <a:latin typeface="Times New Roman" panose="02020603050405020304" pitchFamily="18" charset="0"/>
                <a:cs typeface="Times New Roman" panose="02020603050405020304" pitchFamily="18" charset="0"/>
              </a:rPr>
              <a:t>C</a:t>
            </a:r>
            <a:r>
              <a:rPr lang="en-US" sz="2400" b="0" i="0" dirty="0">
                <a:solidFill>
                  <a:srgbClr val="273239"/>
                </a:solidFill>
                <a:effectLst/>
                <a:latin typeface="Times New Roman" panose="02020603050405020304" pitchFamily="18" charset="0"/>
                <a:cs typeface="Times New Roman" panose="02020603050405020304" pitchFamily="18" charset="0"/>
              </a:rPr>
              <a:t>), obeying the following simple rules: </a:t>
            </a:r>
          </a:p>
          <a:p>
            <a:pPr marL="45720" indent="0" algn="l" fontAlgn="base">
              <a:buNone/>
            </a:pPr>
            <a:endParaRPr lang="en-US" sz="2400" b="0" i="0" dirty="0">
              <a:solidFill>
                <a:srgbClr val="273239"/>
              </a:solidFill>
              <a:effectLst/>
              <a:latin typeface="Times New Roman" panose="02020603050405020304" pitchFamily="18" charset="0"/>
              <a:cs typeface="Times New Roman" panose="02020603050405020304" pitchFamily="18" charset="0"/>
            </a:endParaRPr>
          </a:p>
          <a:p>
            <a:pPr marL="502920" indent="-457200" algn="l" fontAlgn="base">
              <a:buFont typeface="+mj-lt"/>
              <a:buAutoNum type="arabicPeriod"/>
            </a:pPr>
            <a:r>
              <a:rPr lang="en-US" sz="2400" b="0" i="0" dirty="0">
                <a:solidFill>
                  <a:srgbClr val="273239"/>
                </a:solidFill>
                <a:effectLst/>
                <a:latin typeface="Times New Roman" panose="02020603050405020304" pitchFamily="18" charset="0"/>
                <a:cs typeface="Times New Roman" panose="02020603050405020304" pitchFamily="18" charset="0"/>
              </a:rPr>
              <a:t>Only one disk can be moved at a time.</a:t>
            </a:r>
          </a:p>
          <a:p>
            <a:pPr marL="502920" indent="-457200" algn="l" fontAlgn="base">
              <a:buFont typeface="+mj-lt"/>
              <a:buAutoNum type="arabicPeriod"/>
            </a:pPr>
            <a:r>
              <a:rPr lang="en-US" sz="2400" b="0" i="0" dirty="0">
                <a:solidFill>
                  <a:srgbClr val="273239"/>
                </a:solidFill>
                <a:effectLst/>
                <a:latin typeface="Times New Roman" panose="02020603050405020304" pitchFamily="18" charset="0"/>
                <a:cs typeface="Times New Roman" panose="02020603050405020304" pitchFamily="18" charset="0"/>
              </a:rPr>
              <a:t>Each move consists of taking the upper disk from one of the stacks and placing it on top of another stack i.e. a disk can only be moved if it is the uppermost disk on a stack.</a:t>
            </a:r>
          </a:p>
          <a:p>
            <a:pPr marL="502920" indent="-457200" algn="l" fontAlgn="base">
              <a:buFont typeface="+mj-lt"/>
              <a:buAutoNum type="arabicPeriod"/>
            </a:pPr>
            <a:r>
              <a:rPr lang="en-US" sz="2400" b="0" i="0" dirty="0">
                <a:solidFill>
                  <a:srgbClr val="273239"/>
                </a:solidFill>
                <a:effectLst/>
                <a:latin typeface="Times New Roman" panose="02020603050405020304" pitchFamily="18" charset="0"/>
                <a:cs typeface="Times New Roman" panose="02020603050405020304" pitchFamily="18" charset="0"/>
              </a:rPr>
              <a:t>No disk may be placed on top of a smaller disk.</a:t>
            </a:r>
          </a:p>
          <a:p>
            <a:pPr marL="45720" indent="0">
              <a:spcBef>
                <a:spcPts val="600"/>
              </a:spcBef>
              <a:buNone/>
            </a:pPr>
            <a:endParaRPr lang="en-IN" sz="3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30089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228600" y="304800"/>
            <a:ext cx="11734799" cy="6324600"/>
          </a:xfrm>
          <a:prstGeom prst="rect">
            <a:avLst/>
          </a:prstGeom>
        </p:spPr>
      </p:pic>
    </p:spTree>
    <p:extLst>
      <p:ext uri="{BB962C8B-B14F-4D97-AF65-F5344CB8AC3E}">
        <p14:creationId xmlns:p14="http://schemas.microsoft.com/office/powerpoint/2010/main" val="1713314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sz="half" idx="1"/>
          </p:nvPr>
        </p:nvPicPr>
        <p:blipFill>
          <a:blip r:embed="rId2"/>
          <a:stretch>
            <a:fillRect/>
          </a:stretch>
        </p:blipFill>
        <p:spPr>
          <a:xfrm>
            <a:off x="228600" y="304800"/>
            <a:ext cx="11734799" cy="6324600"/>
          </a:xfrm>
          <a:prstGeom prst="rect">
            <a:avLst/>
          </a:prstGeom>
        </p:spPr>
      </p:pic>
    </p:spTree>
    <p:extLst>
      <p:ext uri="{BB962C8B-B14F-4D97-AF65-F5344CB8AC3E}">
        <p14:creationId xmlns:p14="http://schemas.microsoft.com/office/powerpoint/2010/main" val="261349763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78735" y="457200"/>
            <a:ext cx="11201400" cy="1356360"/>
          </a:xfrm>
        </p:spPr>
        <p:txBody>
          <a:bodyPr>
            <a:normAutofit/>
          </a:bodyPr>
          <a:lstStyle/>
          <a:p>
            <a:r>
              <a:rPr lang="en-IN" dirty="0">
                <a:solidFill>
                  <a:srgbClr val="CC0066"/>
                </a:solidFill>
              </a:rPr>
              <a:t>Code implements the solution of the tower of</a:t>
            </a:r>
            <a:br>
              <a:rPr lang="en-IN" dirty="0">
                <a:solidFill>
                  <a:srgbClr val="CC0066"/>
                </a:solidFill>
              </a:rPr>
            </a:br>
            <a:r>
              <a:rPr lang="en-IN" dirty="0">
                <a:solidFill>
                  <a:srgbClr val="CC0066"/>
                </a:solidFill>
              </a:rPr>
              <a:t>Hanoi problem</a:t>
            </a:r>
          </a:p>
        </p:txBody>
      </p:sp>
      <p:sp>
        <p:nvSpPr>
          <p:cNvPr id="6" name="Content Placeholder 5"/>
          <p:cNvSpPr>
            <a:spLocks noGrp="1"/>
          </p:cNvSpPr>
          <p:nvPr>
            <p:ph idx="1"/>
          </p:nvPr>
        </p:nvSpPr>
        <p:spPr>
          <a:xfrm>
            <a:off x="447359" y="1813560"/>
            <a:ext cx="9872871" cy="4587240"/>
          </a:xfrm>
        </p:spPr>
        <p:txBody>
          <a:bodyPr>
            <a:noAutofit/>
          </a:bodyPr>
          <a:lstStyle/>
          <a:p>
            <a:pPr marL="45720" indent="0">
              <a:spcBef>
                <a:spcPts val="600"/>
              </a:spcBef>
              <a:buNone/>
            </a:pPr>
            <a:r>
              <a:rPr lang="en-IN" sz="3200" b="1" dirty="0">
                <a:solidFill>
                  <a:schemeClr val="tx1"/>
                </a:solidFill>
              </a:rPr>
              <a:t>#include &lt;</a:t>
            </a:r>
            <a:r>
              <a:rPr lang="en-IN" sz="3200" b="1" dirty="0" err="1">
                <a:solidFill>
                  <a:schemeClr val="tx1"/>
                </a:solidFill>
              </a:rPr>
              <a:t>stdio.h</a:t>
            </a:r>
            <a:r>
              <a:rPr lang="en-IN" sz="3200" b="1" dirty="0">
                <a:solidFill>
                  <a:schemeClr val="tx1"/>
                </a:solidFill>
              </a:rPr>
              <a:t>&gt;</a:t>
            </a:r>
          </a:p>
          <a:p>
            <a:pPr marL="45720" indent="0">
              <a:spcBef>
                <a:spcPts val="600"/>
              </a:spcBef>
              <a:buNone/>
            </a:pPr>
            <a:r>
              <a:rPr lang="en-IN" sz="3200" b="1" dirty="0" err="1">
                <a:solidFill>
                  <a:schemeClr val="tx1"/>
                </a:solidFill>
              </a:rPr>
              <a:t>int</a:t>
            </a:r>
            <a:r>
              <a:rPr lang="en-IN" sz="3200" b="1" dirty="0">
                <a:solidFill>
                  <a:schemeClr val="tx1"/>
                </a:solidFill>
              </a:rPr>
              <a:t> main()</a:t>
            </a:r>
          </a:p>
          <a:p>
            <a:pPr marL="45720" indent="0">
              <a:spcBef>
                <a:spcPts val="600"/>
              </a:spcBef>
              <a:buNone/>
            </a:pPr>
            <a:r>
              <a:rPr lang="en-IN" sz="3200" b="1" dirty="0">
                <a:solidFill>
                  <a:schemeClr val="tx1"/>
                </a:solidFill>
              </a:rPr>
              <a:t>{</a:t>
            </a:r>
          </a:p>
          <a:p>
            <a:pPr marL="45720" indent="0">
              <a:spcBef>
                <a:spcPts val="600"/>
              </a:spcBef>
              <a:buNone/>
            </a:pPr>
            <a:r>
              <a:rPr lang="en-IN" sz="3200" b="1" dirty="0">
                <a:solidFill>
                  <a:schemeClr val="tx1"/>
                </a:solidFill>
              </a:rPr>
              <a:t>	</a:t>
            </a:r>
            <a:r>
              <a:rPr lang="en-IN" sz="3200" b="1" dirty="0" err="1">
                <a:solidFill>
                  <a:schemeClr val="tx1"/>
                </a:solidFill>
              </a:rPr>
              <a:t>int</a:t>
            </a:r>
            <a:r>
              <a:rPr lang="en-IN" sz="3200" b="1" dirty="0">
                <a:solidFill>
                  <a:schemeClr val="tx1"/>
                </a:solidFill>
              </a:rPr>
              <a:t> n;</a:t>
            </a:r>
          </a:p>
          <a:p>
            <a:pPr marL="45720" indent="0">
              <a:spcBef>
                <a:spcPts val="600"/>
              </a:spcBef>
              <a:buNone/>
            </a:pPr>
            <a:r>
              <a:rPr lang="en-IN" sz="3200" b="1" dirty="0">
                <a:solidFill>
                  <a:schemeClr val="tx1"/>
                </a:solidFill>
              </a:rPr>
              <a:t>	printf("\n Enter the number of rings: ");</a:t>
            </a:r>
          </a:p>
          <a:p>
            <a:pPr marL="45720" indent="0">
              <a:spcBef>
                <a:spcPts val="600"/>
              </a:spcBef>
              <a:buNone/>
            </a:pPr>
            <a:r>
              <a:rPr lang="en-IN" sz="3200" b="1" dirty="0">
                <a:solidFill>
                  <a:schemeClr val="tx1"/>
                </a:solidFill>
              </a:rPr>
              <a:t>	</a:t>
            </a:r>
            <a:r>
              <a:rPr lang="en-IN" sz="3200" b="1" dirty="0" err="1">
                <a:solidFill>
                  <a:schemeClr val="tx1"/>
                </a:solidFill>
              </a:rPr>
              <a:t>scanf</a:t>
            </a:r>
            <a:r>
              <a:rPr lang="en-IN" sz="3200" b="1" dirty="0">
                <a:solidFill>
                  <a:schemeClr val="tx1"/>
                </a:solidFill>
              </a:rPr>
              <a:t>("%d", &amp;n);</a:t>
            </a:r>
          </a:p>
          <a:p>
            <a:pPr marL="45720" indent="0">
              <a:spcBef>
                <a:spcPts val="600"/>
              </a:spcBef>
              <a:buNone/>
            </a:pPr>
            <a:r>
              <a:rPr lang="en-IN" sz="3200" b="1" dirty="0">
                <a:solidFill>
                  <a:schemeClr val="tx1"/>
                </a:solidFill>
              </a:rPr>
              <a:t>	</a:t>
            </a:r>
            <a:r>
              <a:rPr lang="en-IN" sz="3300" b="1" dirty="0">
                <a:solidFill>
                  <a:srgbClr val="FFFF00"/>
                </a:solidFill>
                <a:highlight>
                  <a:srgbClr val="FF00FF"/>
                </a:highlight>
                <a:ea typeface="Calibri" panose="020F0502020204030204" pitchFamily="34" charset="0"/>
              </a:rPr>
              <a:t>move</a:t>
            </a:r>
            <a:r>
              <a:rPr lang="en-IN" sz="3200" b="1" dirty="0">
                <a:solidFill>
                  <a:schemeClr val="tx1"/>
                </a:solidFill>
              </a:rPr>
              <a:t>(</a:t>
            </a:r>
            <a:r>
              <a:rPr lang="en-IN" sz="3200" b="1" dirty="0" err="1">
                <a:solidFill>
                  <a:schemeClr val="tx1"/>
                </a:solidFill>
              </a:rPr>
              <a:t>n,</a:t>
            </a:r>
            <a:r>
              <a:rPr lang="en-IN" sz="3200" dirty="0" err="1">
                <a:solidFill>
                  <a:srgbClr val="CC0066"/>
                </a:solidFill>
                <a:highlight>
                  <a:srgbClr val="FFFF00"/>
                </a:highlight>
                <a:ea typeface="Calibri" panose="020F0502020204030204" pitchFamily="34" charset="0"/>
              </a:rPr>
              <a:t>'A</a:t>
            </a:r>
            <a:r>
              <a:rPr lang="en-IN" sz="3200" dirty="0">
                <a:solidFill>
                  <a:srgbClr val="CC0066"/>
                </a:solidFill>
                <a:highlight>
                  <a:srgbClr val="FFFF00"/>
                </a:highlight>
                <a:ea typeface="Calibri" panose="020F0502020204030204" pitchFamily="34" charset="0"/>
              </a:rPr>
              <a:t>'</a:t>
            </a:r>
            <a:r>
              <a:rPr lang="en-IN" sz="3200" b="1" dirty="0">
                <a:solidFill>
                  <a:schemeClr val="tx1"/>
                </a:solidFill>
              </a:rPr>
              <a:t>, 'C', </a:t>
            </a:r>
            <a:r>
              <a:rPr lang="en-IN" sz="3300" b="1" dirty="0">
                <a:solidFill>
                  <a:srgbClr val="FFFF00"/>
                </a:solidFill>
                <a:highlight>
                  <a:srgbClr val="FF00FF"/>
                </a:highlight>
                <a:ea typeface="Calibri" panose="020F0502020204030204" pitchFamily="34" charset="0"/>
              </a:rPr>
              <a:t>'B'</a:t>
            </a:r>
            <a:r>
              <a:rPr lang="en-IN" sz="3200" b="1" dirty="0">
                <a:solidFill>
                  <a:schemeClr val="tx1"/>
                </a:solidFill>
              </a:rPr>
              <a:t>);</a:t>
            </a:r>
          </a:p>
          <a:p>
            <a:pPr marL="45720" indent="0">
              <a:spcBef>
                <a:spcPts val="600"/>
              </a:spcBef>
              <a:buNone/>
            </a:pPr>
            <a:r>
              <a:rPr lang="en-IN" sz="3200" b="1" dirty="0">
                <a:solidFill>
                  <a:schemeClr val="tx1"/>
                </a:solidFill>
              </a:rPr>
              <a:t>	return 0;</a:t>
            </a:r>
          </a:p>
          <a:p>
            <a:pPr marL="45720" indent="0">
              <a:spcBef>
                <a:spcPts val="600"/>
              </a:spcBef>
              <a:buNone/>
            </a:pPr>
            <a:r>
              <a:rPr lang="en-IN" sz="3200" b="1" dirty="0">
                <a:solidFill>
                  <a:schemeClr val="tx1"/>
                </a:solidFill>
              </a:rPr>
              <a:t>}</a:t>
            </a:r>
          </a:p>
        </p:txBody>
      </p:sp>
    </p:spTree>
    <p:extLst>
      <p:ext uri="{BB962C8B-B14F-4D97-AF65-F5344CB8AC3E}">
        <p14:creationId xmlns:p14="http://schemas.microsoft.com/office/powerpoint/2010/main" val="20388185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idx="1"/>
          </p:nvPr>
        </p:nvSpPr>
        <p:spPr>
          <a:xfrm>
            <a:off x="457200" y="609600"/>
            <a:ext cx="10558671" cy="5486400"/>
          </a:xfrm>
        </p:spPr>
        <p:txBody>
          <a:bodyPr>
            <a:noAutofit/>
          </a:bodyPr>
          <a:lstStyle/>
          <a:p>
            <a:pPr marL="45720" indent="0">
              <a:spcBef>
                <a:spcPts val="600"/>
              </a:spcBef>
              <a:buNone/>
            </a:pPr>
            <a:r>
              <a:rPr lang="en-IN" sz="3200" b="1" dirty="0">
                <a:solidFill>
                  <a:schemeClr val="tx1"/>
                </a:solidFill>
              </a:rPr>
              <a:t>void </a:t>
            </a:r>
            <a:r>
              <a:rPr lang="en-IN" sz="3200" b="1" dirty="0">
                <a:solidFill>
                  <a:schemeClr val="tx1"/>
                </a:solidFill>
                <a:highlight>
                  <a:srgbClr val="00FF00"/>
                </a:highlight>
                <a:ea typeface="Calibri" panose="020F0502020204030204" pitchFamily="34" charset="0"/>
              </a:rPr>
              <a:t>move</a:t>
            </a:r>
            <a:r>
              <a:rPr lang="en-IN" sz="3200" b="1" dirty="0">
                <a:solidFill>
                  <a:schemeClr val="tx1"/>
                </a:solidFill>
              </a:rPr>
              <a:t>(int n, char </a:t>
            </a:r>
            <a:r>
              <a:rPr lang="en-IN" sz="3200" dirty="0">
                <a:solidFill>
                  <a:srgbClr val="CC0066"/>
                </a:solidFill>
                <a:highlight>
                  <a:srgbClr val="FFFF00"/>
                </a:highlight>
                <a:ea typeface="Calibri" panose="020F0502020204030204" pitchFamily="34" charset="0"/>
              </a:rPr>
              <a:t>source</a:t>
            </a:r>
            <a:r>
              <a:rPr lang="en-IN" sz="3200" b="1" dirty="0">
                <a:solidFill>
                  <a:schemeClr val="tx1"/>
                </a:solidFill>
              </a:rPr>
              <a:t>, char dest, char </a:t>
            </a:r>
            <a:r>
              <a:rPr lang="en-IN" sz="3300" b="1" dirty="0">
                <a:solidFill>
                  <a:srgbClr val="FFFF00"/>
                </a:solidFill>
                <a:highlight>
                  <a:srgbClr val="FF00FF"/>
                </a:highlight>
                <a:ea typeface="Calibri" panose="020F0502020204030204" pitchFamily="34" charset="0"/>
              </a:rPr>
              <a:t>spare</a:t>
            </a:r>
            <a:r>
              <a:rPr lang="en-IN" sz="3200" b="1" dirty="0">
                <a:solidFill>
                  <a:schemeClr val="tx1"/>
                </a:solidFill>
              </a:rPr>
              <a:t>)</a:t>
            </a:r>
          </a:p>
          <a:p>
            <a:pPr marL="45720" indent="0">
              <a:spcBef>
                <a:spcPts val="600"/>
              </a:spcBef>
              <a:buNone/>
            </a:pPr>
            <a:r>
              <a:rPr lang="en-IN" sz="3200" b="1" dirty="0">
                <a:solidFill>
                  <a:schemeClr val="tx1"/>
                </a:solidFill>
              </a:rPr>
              <a:t>{</a:t>
            </a:r>
          </a:p>
          <a:p>
            <a:pPr marL="45720" indent="0">
              <a:spcBef>
                <a:spcPts val="600"/>
              </a:spcBef>
              <a:buNone/>
            </a:pPr>
            <a:r>
              <a:rPr lang="en-IN" sz="3200" b="1" dirty="0">
                <a:solidFill>
                  <a:schemeClr val="tx1"/>
                </a:solidFill>
              </a:rPr>
              <a:t>	if (n==1)</a:t>
            </a:r>
          </a:p>
          <a:p>
            <a:pPr marL="45720" indent="0">
              <a:spcBef>
                <a:spcPts val="600"/>
              </a:spcBef>
              <a:buNone/>
            </a:pPr>
            <a:r>
              <a:rPr lang="en-IN" sz="3200" b="1" dirty="0">
                <a:solidFill>
                  <a:schemeClr val="tx1"/>
                </a:solidFill>
              </a:rPr>
              <a:t>		printf("\n Move from %c to %c",source,dest);</a:t>
            </a:r>
          </a:p>
          <a:p>
            <a:pPr marL="45720" indent="0">
              <a:spcBef>
                <a:spcPts val="600"/>
              </a:spcBef>
              <a:buNone/>
            </a:pPr>
            <a:r>
              <a:rPr lang="en-IN" sz="3200" b="1" dirty="0">
                <a:solidFill>
                  <a:schemeClr val="tx1"/>
                </a:solidFill>
              </a:rPr>
              <a:t>	else</a:t>
            </a:r>
          </a:p>
          <a:p>
            <a:pPr marL="45720" indent="0">
              <a:spcBef>
                <a:spcPts val="600"/>
              </a:spcBef>
              <a:buNone/>
            </a:pPr>
            <a:r>
              <a:rPr lang="en-IN" sz="3200" b="1" dirty="0">
                <a:solidFill>
                  <a:schemeClr val="tx1"/>
                </a:solidFill>
              </a:rPr>
              <a:t>	{</a:t>
            </a:r>
          </a:p>
          <a:p>
            <a:pPr marL="45720" indent="0">
              <a:spcBef>
                <a:spcPts val="600"/>
              </a:spcBef>
              <a:buNone/>
            </a:pPr>
            <a:r>
              <a:rPr lang="en-IN" sz="3200" b="1" dirty="0">
                <a:solidFill>
                  <a:schemeClr val="tx1"/>
                </a:solidFill>
              </a:rPr>
              <a:t>		</a:t>
            </a:r>
            <a:r>
              <a:rPr lang="en-IN" sz="3200" b="1" dirty="0">
                <a:solidFill>
                  <a:schemeClr val="tx1"/>
                </a:solidFill>
                <a:highlight>
                  <a:srgbClr val="00FF00"/>
                </a:highlight>
                <a:ea typeface="Calibri" panose="020F0502020204030204" pitchFamily="34" charset="0"/>
              </a:rPr>
              <a:t>move</a:t>
            </a:r>
            <a:r>
              <a:rPr lang="en-IN" sz="3200" b="1" dirty="0">
                <a:solidFill>
                  <a:schemeClr val="tx1"/>
                </a:solidFill>
              </a:rPr>
              <a:t>(n–1,</a:t>
            </a:r>
            <a:r>
              <a:rPr lang="en-IN" sz="3200" dirty="0">
                <a:solidFill>
                  <a:srgbClr val="CC0066"/>
                </a:solidFill>
                <a:highlight>
                  <a:srgbClr val="FFFF00"/>
                </a:highlight>
                <a:ea typeface="Calibri" panose="020F0502020204030204" pitchFamily="34" charset="0"/>
              </a:rPr>
              <a:t>source</a:t>
            </a:r>
            <a:r>
              <a:rPr lang="en-IN" sz="3200" b="1" dirty="0">
                <a:solidFill>
                  <a:schemeClr val="tx1"/>
                </a:solidFill>
              </a:rPr>
              <a:t>,spare,</a:t>
            </a:r>
            <a:r>
              <a:rPr lang="en-IN" sz="3300" b="1" dirty="0">
                <a:solidFill>
                  <a:srgbClr val="FFFF00"/>
                </a:solidFill>
                <a:highlight>
                  <a:srgbClr val="FF00FF"/>
                </a:highlight>
                <a:ea typeface="Calibri" panose="020F0502020204030204" pitchFamily="34" charset="0"/>
              </a:rPr>
              <a:t>dest</a:t>
            </a:r>
            <a:r>
              <a:rPr lang="en-IN" sz="3200" b="1" dirty="0">
                <a:solidFill>
                  <a:schemeClr val="tx1"/>
                </a:solidFill>
              </a:rPr>
              <a:t>);</a:t>
            </a:r>
          </a:p>
          <a:p>
            <a:pPr marL="45720" indent="0">
              <a:spcBef>
                <a:spcPts val="600"/>
              </a:spcBef>
              <a:buNone/>
            </a:pPr>
            <a:r>
              <a:rPr lang="en-IN" sz="3200" b="1" dirty="0">
                <a:solidFill>
                  <a:schemeClr val="tx1"/>
                </a:solidFill>
              </a:rPr>
              <a:t>		</a:t>
            </a:r>
            <a:r>
              <a:rPr lang="en-IN" sz="3200" b="1" dirty="0">
                <a:solidFill>
                  <a:schemeClr val="tx1"/>
                </a:solidFill>
                <a:highlight>
                  <a:srgbClr val="00FF00"/>
                </a:highlight>
                <a:ea typeface="Calibri" panose="020F0502020204030204" pitchFamily="34" charset="0"/>
              </a:rPr>
              <a:t>move</a:t>
            </a:r>
            <a:r>
              <a:rPr lang="en-IN" sz="3200" b="1" dirty="0">
                <a:solidFill>
                  <a:schemeClr val="tx1"/>
                </a:solidFill>
              </a:rPr>
              <a:t>(1,</a:t>
            </a:r>
            <a:r>
              <a:rPr lang="en-IN" sz="3200" dirty="0">
                <a:solidFill>
                  <a:srgbClr val="CC0066"/>
                </a:solidFill>
                <a:highlight>
                  <a:srgbClr val="FFFF00"/>
                </a:highlight>
                <a:ea typeface="Calibri" panose="020F0502020204030204" pitchFamily="34" charset="0"/>
              </a:rPr>
              <a:t>source</a:t>
            </a:r>
            <a:r>
              <a:rPr lang="en-IN" sz="3200" b="1" dirty="0">
                <a:solidFill>
                  <a:schemeClr val="tx1"/>
                </a:solidFill>
              </a:rPr>
              <a:t>,dest,</a:t>
            </a:r>
            <a:r>
              <a:rPr lang="en-IN" sz="3300" b="1" dirty="0">
                <a:solidFill>
                  <a:srgbClr val="FFFF00"/>
                </a:solidFill>
                <a:highlight>
                  <a:srgbClr val="FF00FF"/>
                </a:highlight>
                <a:ea typeface="Calibri" panose="020F0502020204030204" pitchFamily="34" charset="0"/>
              </a:rPr>
              <a:t>spare</a:t>
            </a:r>
            <a:r>
              <a:rPr lang="en-IN" sz="3200" b="1" dirty="0">
                <a:solidFill>
                  <a:schemeClr val="tx1"/>
                </a:solidFill>
              </a:rPr>
              <a:t>);</a:t>
            </a:r>
          </a:p>
          <a:p>
            <a:pPr marL="45720" indent="0">
              <a:spcBef>
                <a:spcPts val="600"/>
              </a:spcBef>
              <a:buNone/>
            </a:pPr>
            <a:r>
              <a:rPr lang="en-IN" sz="3200" b="1" dirty="0">
                <a:solidFill>
                  <a:schemeClr val="tx1"/>
                </a:solidFill>
              </a:rPr>
              <a:t>		</a:t>
            </a:r>
            <a:r>
              <a:rPr lang="en-IN" sz="3200" b="1" dirty="0">
                <a:solidFill>
                  <a:schemeClr val="tx1"/>
                </a:solidFill>
                <a:highlight>
                  <a:srgbClr val="00FF00"/>
                </a:highlight>
                <a:ea typeface="Calibri" panose="020F0502020204030204" pitchFamily="34" charset="0"/>
              </a:rPr>
              <a:t>move</a:t>
            </a:r>
            <a:r>
              <a:rPr lang="en-IN" sz="3200" b="1" dirty="0">
                <a:solidFill>
                  <a:schemeClr val="tx1"/>
                </a:solidFill>
              </a:rPr>
              <a:t>(n–1,</a:t>
            </a:r>
            <a:r>
              <a:rPr lang="en-IN" sz="3200" dirty="0">
                <a:solidFill>
                  <a:srgbClr val="CC0066"/>
                </a:solidFill>
                <a:highlight>
                  <a:srgbClr val="FFFF00"/>
                </a:highlight>
                <a:ea typeface="Calibri" panose="020F0502020204030204" pitchFamily="34" charset="0"/>
              </a:rPr>
              <a:t>spare</a:t>
            </a:r>
            <a:r>
              <a:rPr lang="en-IN" sz="3200" b="1" dirty="0">
                <a:solidFill>
                  <a:schemeClr val="tx1"/>
                </a:solidFill>
              </a:rPr>
              <a:t>,dest,</a:t>
            </a:r>
            <a:r>
              <a:rPr lang="en-IN" sz="3300" b="1" dirty="0">
                <a:solidFill>
                  <a:srgbClr val="FFFF00"/>
                </a:solidFill>
                <a:highlight>
                  <a:srgbClr val="FF00FF"/>
                </a:highlight>
                <a:ea typeface="Calibri" panose="020F0502020204030204" pitchFamily="34" charset="0"/>
              </a:rPr>
              <a:t>source</a:t>
            </a:r>
            <a:r>
              <a:rPr lang="en-IN" sz="3200" b="1" dirty="0">
                <a:solidFill>
                  <a:schemeClr val="tx1"/>
                </a:solidFill>
              </a:rPr>
              <a:t>);</a:t>
            </a:r>
          </a:p>
          <a:p>
            <a:pPr marL="45720" indent="0">
              <a:spcBef>
                <a:spcPts val="600"/>
              </a:spcBef>
              <a:buNone/>
            </a:pPr>
            <a:r>
              <a:rPr lang="en-IN" sz="3200" b="1" dirty="0">
                <a:solidFill>
                  <a:schemeClr val="tx1"/>
                </a:solidFill>
              </a:rPr>
              <a:t>	}</a:t>
            </a:r>
          </a:p>
          <a:p>
            <a:pPr marL="45720" indent="0">
              <a:spcBef>
                <a:spcPts val="600"/>
              </a:spcBef>
              <a:buNone/>
            </a:pPr>
            <a:r>
              <a:rPr lang="en-IN" sz="3200" b="1" dirty="0">
                <a:solidFill>
                  <a:schemeClr val="tx1"/>
                </a:solidFill>
              </a:rPr>
              <a:t>}</a:t>
            </a:r>
          </a:p>
        </p:txBody>
      </p:sp>
    </p:spTree>
    <p:extLst>
      <p:ext uri="{BB962C8B-B14F-4D97-AF65-F5344CB8AC3E}">
        <p14:creationId xmlns:p14="http://schemas.microsoft.com/office/powerpoint/2010/main" val="114687149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20040"/>
            <a:ext cx="9875520" cy="822960"/>
          </a:xfrm>
        </p:spPr>
        <p:txBody>
          <a:bodyPr/>
          <a:lstStyle/>
          <a:p>
            <a:r>
              <a:rPr lang="en-IN" dirty="0">
                <a:solidFill>
                  <a:srgbClr val="CC0066"/>
                </a:solidFill>
              </a:rPr>
              <a:t>Assignment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3649" y="1219200"/>
                <a:ext cx="9750951" cy="5334000"/>
              </a:xfrm>
            </p:spPr>
            <p:txBody>
              <a:bodyPr>
                <a:normAutofit fontScale="85000" lnSpcReduction="20000"/>
              </a:bodyPr>
              <a:lstStyle/>
              <a:p>
                <a:r>
                  <a:rPr lang="en-IN" sz="2600" b="1" dirty="0">
                    <a:solidFill>
                      <a:schemeClr val="tx1"/>
                    </a:solidFill>
                    <a:highlight>
                      <a:srgbClr val="00FF00"/>
                    </a:highlight>
                    <a:ea typeface="Calibri" panose="020F0502020204030204" pitchFamily="34" charset="0"/>
                  </a:rPr>
                  <a:t>Write a program to calculate the GCD of two numbers using recursive functions.</a:t>
                </a:r>
              </a:p>
              <a:p>
                <a:pPr marL="45720" indent="0">
                  <a:buNone/>
                </a:pPr>
                <a:r>
                  <a:rPr lang="en-IN" b="1" u="sng" dirty="0">
                    <a:solidFill>
                      <a:schemeClr val="tx1"/>
                    </a:solidFill>
                  </a:rPr>
                  <a:t>Hint to for understanding the Working</a:t>
                </a:r>
              </a:p>
              <a:p>
                <a:pPr algn="just"/>
                <a:r>
                  <a:rPr lang="en-IN" sz="2600" dirty="0">
                    <a:solidFill>
                      <a:schemeClr val="tx1"/>
                    </a:solidFill>
                  </a:rPr>
                  <a:t>The greatest common divisor of two numbers (integers) is the largest integer that divides both the numbers. We can find the GCD of two numbers recursively by using the Euclid’s algorithm that states</a:t>
                </a:r>
              </a:p>
              <a:p>
                <a:pPr marL="45720" indent="0" algn="ctr">
                  <a:buNone/>
                </a:pPr>
                <a:r>
                  <a:rPr lang="en-IN" sz="2600" b="1" dirty="0">
                    <a:solidFill>
                      <a:schemeClr val="tx1"/>
                    </a:solidFill>
                  </a:rPr>
                  <a:t>GCD(</a:t>
                </a:r>
                <a:r>
                  <a:rPr lang="en-IN" sz="2600" b="1" dirty="0" err="1">
                    <a:solidFill>
                      <a:schemeClr val="tx1"/>
                    </a:solidFill>
                  </a:rPr>
                  <a:t>a,b</a:t>
                </a:r>
                <a:r>
                  <a:rPr lang="en-IN" sz="2600" b="1" dirty="0">
                    <a:solidFill>
                      <a:schemeClr val="tx1"/>
                    </a:solidFill>
                  </a:rPr>
                  <a:t>)=</a:t>
                </a:r>
                <a14:m>
                  <m:oMath xmlns:m="http://schemas.openxmlformats.org/officeDocument/2006/math">
                    <m:d>
                      <m:dPr>
                        <m:begChr m:val="{"/>
                        <m:endChr m:val=""/>
                        <m:ctrlPr>
                          <a:rPr lang="en-IN" sz="2600" b="1" i="1">
                            <a:solidFill>
                              <a:schemeClr val="tx1"/>
                            </a:solidFill>
                            <a:latin typeface="Cambria Math" panose="02040503050406030204" pitchFamily="18" charset="0"/>
                          </a:rPr>
                        </m:ctrlPr>
                      </m:dPr>
                      <m:e>
                        <m:eqArr>
                          <m:eqArrPr>
                            <m:ctrlPr>
                              <a:rPr lang="en-IN" sz="2600" b="1" i="1">
                                <a:solidFill>
                                  <a:schemeClr val="tx1"/>
                                </a:solidFill>
                                <a:latin typeface="Cambria Math" panose="02040503050406030204" pitchFamily="18" charset="0"/>
                              </a:rPr>
                            </m:ctrlPr>
                          </m:eqArrPr>
                          <m:e>
                            <m:r>
                              <m:rPr>
                                <m:sty m:val="p"/>
                              </m:rPr>
                              <a:rPr lang="en-IN" sz="2600" b="1">
                                <a:solidFill>
                                  <a:schemeClr val="tx1"/>
                                </a:solidFill>
                                <a:latin typeface="Cambria Math" panose="02040503050406030204" pitchFamily="18" charset="0"/>
                              </a:rPr>
                              <m:t>b</m:t>
                            </m:r>
                            <m:r>
                              <a:rPr lang="en-IN" sz="2600" b="1">
                                <a:solidFill>
                                  <a:schemeClr val="tx1"/>
                                </a:solidFill>
                                <a:latin typeface="Cambria Math" panose="02040503050406030204" pitchFamily="18" charset="0"/>
                              </a:rPr>
                              <m:t>,   </m:t>
                            </m:r>
                            <m:r>
                              <m:rPr>
                                <m:sty m:val="p"/>
                              </m:rPr>
                              <a:rPr lang="en-IN" sz="2600" b="1">
                                <a:solidFill>
                                  <a:schemeClr val="tx1"/>
                                </a:solidFill>
                                <a:latin typeface="Cambria Math" panose="02040503050406030204" pitchFamily="18" charset="0"/>
                              </a:rPr>
                              <m:t>if</m:t>
                            </m:r>
                            <m:r>
                              <a:rPr lang="en-IN" sz="2600" b="1">
                                <a:solidFill>
                                  <a:schemeClr val="tx1"/>
                                </a:solidFill>
                                <a:latin typeface="Cambria Math" panose="02040503050406030204" pitchFamily="18" charset="0"/>
                              </a:rPr>
                              <m:t> </m:t>
                            </m:r>
                            <m:r>
                              <m:rPr>
                                <m:sty m:val="p"/>
                              </m:rPr>
                              <a:rPr lang="en-IN" sz="2600" b="1">
                                <a:solidFill>
                                  <a:schemeClr val="tx1"/>
                                </a:solidFill>
                                <a:latin typeface="Cambria Math" panose="02040503050406030204" pitchFamily="18" charset="0"/>
                              </a:rPr>
                              <m:t>b</m:t>
                            </m:r>
                            <m:r>
                              <a:rPr lang="en-IN" sz="2600" b="1">
                                <a:solidFill>
                                  <a:schemeClr val="tx1"/>
                                </a:solidFill>
                                <a:latin typeface="Cambria Math" panose="02040503050406030204" pitchFamily="18" charset="0"/>
                              </a:rPr>
                              <m:t> </m:t>
                            </m:r>
                            <m:r>
                              <m:rPr>
                                <m:sty m:val="p"/>
                              </m:rPr>
                              <a:rPr lang="en-IN" sz="2600" b="1">
                                <a:solidFill>
                                  <a:schemeClr val="tx1"/>
                                </a:solidFill>
                                <a:latin typeface="Cambria Math" panose="02040503050406030204" pitchFamily="18" charset="0"/>
                              </a:rPr>
                              <m:t>divides</m:t>
                            </m:r>
                            <m:r>
                              <a:rPr lang="en-IN" sz="2600" b="1">
                                <a:solidFill>
                                  <a:schemeClr val="tx1"/>
                                </a:solidFill>
                                <a:latin typeface="Cambria Math" panose="02040503050406030204" pitchFamily="18" charset="0"/>
                              </a:rPr>
                              <m:t> </m:t>
                            </m:r>
                            <m:r>
                              <m:rPr>
                                <m:sty m:val="p"/>
                              </m:rPr>
                              <a:rPr lang="en-IN" sz="2600" b="1">
                                <a:solidFill>
                                  <a:schemeClr val="tx1"/>
                                </a:solidFill>
                                <a:latin typeface="Cambria Math" panose="02040503050406030204" pitchFamily="18" charset="0"/>
                              </a:rPr>
                              <m:t>a</m:t>
                            </m:r>
                          </m:e>
                          <m:e>
                            <m:r>
                              <m:rPr>
                                <m:sty m:val="p"/>
                              </m:rPr>
                              <a:rPr lang="en-IN" sz="2600" b="1">
                                <a:solidFill>
                                  <a:schemeClr val="tx1"/>
                                </a:solidFill>
                                <a:latin typeface="Cambria Math" panose="02040503050406030204" pitchFamily="18" charset="0"/>
                              </a:rPr>
                              <m:t>GCD</m:t>
                            </m:r>
                            <m:d>
                              <m:dPr>
                                <m:ctrlPr>
                                  <a:rPr lang="en-IN" sz="2600" b="1" i="1">
                                    <a:solidFill>
                                      <a:schemeClr val="tx1"/>
                                    </a:solidFill>
                                    <a:latin typeface="Cambria Math" panose="02040503050406030204" pitchFamily="18" charset="0"/>
                                  </a:rPr>
                                </m:ctrlPr>
                              </m:dPr>
                              <m:e>
                                <m:r>
                                  <m:rPr>
                                    <m:sty m:val="p"/>
                                  </m:rPr>
                                  <a:rPr lang="en-IN" sz="2600" b="1">
                                    <a:solidFill>
                                      <a:schemeClr val="tx1"/>
                                    </a:solidFill>
                                    <a:latin typeface="Cambria Math" panose="02040503050406030204" pitchFamily="18" charset="0"/>
                                  </a:rPr>
                                  <m:t>b</m:t>
                                </m:r>
                                <m:r>
                                  <a:rPr lang="en-IN" sz="2600" b="1">
                                    <a:solidFill>
                                      <a:schemeClr val="tx1"/>
                                    </a:solidFill>
                                    <a:latin typeface="Cambria Math" panose="02040503050406030204" pitchFamily="18" charset="0"/>
                                  </a:rPr>
                                  <m:t>, </m:t>
                                </m:r>
                                <m:r>
                                  <m:rPr>
                                    <m:sty m:val="p"/>
                                  </m:rPr>
                                  <a:rPr lang="en-IN" sz="2600" b="1">
                                    <a:solidFill>
                                      <a:schemeClr val="tx1"/>
                                    </a:solidFill>
                                    <a:latin typeface="Cambria Math" panose="02040503050406030204" pitchFamily="18" charset="0"/>
                                  </a:rPr>
                                  <m:t>a</m:t>
                                </m:r>
                                <m:r>
                                  <a:rPr lang="en-IN" sz="2600" b="1">
                                    <a:solidFill>
                                      <a:schemeClr val="tx1"/>
                                    </a:solidFill>
                                    <a:latin typeface="Cambria Math" panose="02040503050406030204" pitchFamily="18" charset="0"/>
                                  </a:rPr>
                                  <m:t> </m:t>
                                </m:r>
                                <m:r>
                                  <m:rPr>
                                    <m:sty m:val="p"/>
                                  </m:rPr>
                                  <a:rPr lang="en-IN" sz="2600" b="1">
                                    <a:solidFill>
                                      <a:schemeClr val="tx1"/>
                                    </a:solidFill>
                                    <a:latin typeface="Cambria Math" panose="02040503050406030204" pitchFamily="18" charset="0"/>
                                  </a:rPr>
                                  <m:t>mod</m:t>
                                </m:r>
                                <m:r>
                                  <a:rPr lang="en-IN" sz="2600" b="1">
                                    <a:solidFill>
                                      <a:schemeClr val="tx1"/>
                                    </a:solidFill>
                                    <a:latin typeface="Cambria Math" panose="02040503050406030204" pitchFamily="18" charset="0"/>
                                  </a:rPr>
                                  <m:t> </m:t>
                                </m:r>
                                <m:r>
                                  <m:rPr>
                                    <m:sty m:val="p"/>
                                  </m:rPr>
                                  <a:rPr lang="en-IN" sz="2600" b="1">
                                    <a:solidFill>
                                      <a:schemeClr val="tx1"/>
                                    </a:solidFill>
                                    <a:latin typeface="Cambria Math" panose="02040503050406030204" pitchFamily="18" charset="0"/>
                                  </a:rPr>
                                  <m:t>b</m:t>
                                </m:r>
                              </m:e>
                            </m:d>
                            <m:r>
                              <a:rPr lang="en-IN" sz="2600" b="1">
                                <a:solidFill>
                                  <a:schemeClr val="tx1"/>
                                </a:solidFill>
                                <a:latin typeface="Cambria Math" panose="02040503050406030204" pitchFamily="18" charset="0"/>
                              </a:rPr>
                              <m:t>,   </m:t>
                            </m:r>
                            <m:r>
                              <m:rPr>
                                <m:sty m:val="p"/>
                              </m:rPr>
                              <a:rPr lang="en-IN" sz="2600" b="1">
                                <a:solidFill>
                                  <a:schemeClr val="tx1"/>
                                </a:solidFill>
                                <a:latin typeface="Cambria Math" panose="02040503050406030204" pitchFamily="18" charset="0"/>
                              </a:rPr>
                              <m:t>otherwise</m:t>
                            </m:r>
                          </m:e>
                        </m:eqArr>
                      </m:e>
                    </m:d>
                  </m:oMath>
                </a14:m>
                <a:endParaRPr lang="en-IN" sz="2600" b="1" dirty="0">
                  <a:solidFill>
                    <a:schemeClr val="tx1"/>
                  </a:solidFill>
                </a:endParaRPr>
              </a:p>
              <a:p>
                <a:pPr marL="45720" indent="0">
                  <a:buNone/>
                </a:pPr>
                <a:endParaRPr lang="en-IN" sz="2600" b="1" dirty="0">
                  <a:solidFill>
                    <a:schemeClr val="tx1"/>
                  </a:solidFill>
                </a:endParaRPr>
              </a:p>
              <a:p>
                <a:pPr marL="45720" indent="0">
                  <a:spcBef>
                    <a:spcPts val="200"/>
                  </a:spcBef>
                  <a:buNone/>
                </a:pPr>
                <a:r>
                  <a:rPr lang="en-IN" sz="2600" b="1" dirty="0">
                    <a:solidFill>
                      <a:schemeClr val="tx1"/>
                    </a:solidFill>
                  </a:rPr>
                  <a:t>Assume a = 62 and b = 8</a:t>
                </a:r>
              </a:p>
              <a:p>
                <a:pPr marL="45720" indent="0">
                  <a:spcBef>
                    <a:spcPts val="200"/>
                  </a:spcBef>
                  <a:buNone/>
                </a:pPr>
                <a:r>
                  <a:rPr lang="en-IN" sz="2600" b="1" dirty="0">
                    <a:solidFill>
                      <a:schemeClr val="tx1"/>
                    </a:solidFill>
                  </a:rPr>
                  <a:t>	GCD(62, 8)</a:t>
                </a:r>
              </a:p>
              <a:p>
                <a:pPr marL="45720" indent="0">
                  <a:spcBef>
                    <a:spcPts val="200"/>
                  </a:spcBef>
                  <a:buNone/>
                </a:pPr>
                <a:r>
                  <a:rPr lang="en-IN" sz="2600" b="1" dirty="0">
                    <a:solidFill>
                      <a:schemeClr val="tx1"/>
                    </a:solidFill>
                  </a:rPr>
                  <a:t>		rem = 62 % 8 = 6</a:t>
                </a:r>
              </a:p>
              <a:p>
                <a:pPr marL="45720" indent="0">
                  <a:spcBef>
                    <a:spcPts val="200"/>
                  </a:spcBef>
                  <a:buNone/>
                </a:pPr>
                <a:r>
                  <a:rPr lang="en-IN" sz="2600" b="1" dirty="0">
                    <a:solidFill>
                      <a:schemeClr val="tx1"/>
                    </a:solidFill>
                  </a:rPr>
                  <a:t>		GCD(8, 6)</a:t>
                </a:r>
              </a:p>
              <a:p>
                <a:pPr marL="45720" indent="0">
                  <a:spcBef>
                    <a:spcPts val="200"/>
                  </a:spcBef>
                  <a:buNone/>
                </a:pPr>
                <a:r>
                  <a:rPr lang="en-IN" sz="2600" b="1" dirty="0">
                    <a:solidFill>
                      <a:schemeClr val="tx1"/>
                    </a:solidFill>
                  </a:rPr>
                  <a:t>			rem = 8 % 6 = 2</a:t>
                </a:r>
              </a:p>
              <a:p>
                <a:pPr marL="45720" indent="0">
                  <a:spcBef>
                    <a:spcPts val="200"/>
                  </a:spcBef>
                  <a:buNone/>
                </a:pPr>
                <a:r>
                  <a:rPr lang="en-IN" sz="2600" b="1" dirty="0">
                    <a:solidFill>
                      <a:schemeClr val="tx1"/>
                    </a:solidFill>
                  </a:rPr>
                  <a:t>			GCD(6, 2)</a:t>
                </a:r>
              </a:p>
              <a:p>
                <a:pPr marL="45720" indent="0">
                  <a:spcBef>
                    <a:spcPts val="200"/>
                  </a:spcBef>
                  <a:buNone/>
                </a:pPr>
                <a:r>
                  <a:rPr lang="en-IN" sz="2600" b="1" dirty="0">
                    <a:solidFill>
                      <a:schemeClr val="tx1"/>
                    </a:solidFill>
                  </a:rPr>
                  <a:t>				rem = 6 % 2 = 0</a:t>
                </a:r>
              </a:p>
              <a:p>
                <a:pPr marL="45720" indent="0">
                  <a:spcBef>
                    <a:spcPts val="200"/>
                  </a:spcBef>
                  <a:buNone/>
                </a:pPr>
                <a:r>
                  <a:rPr lang="en-IN" sz="2600" b="1" dirty="0">
                    <a:solidFill>
                      <a:schemeClr val="tx1"/>
                    </a:solidFill>
                  </a:rPr>
                  <a:t>			Return 2</a:t>
                </a:r>
              </a:p>
              <a:p>
                <a:pPr marL="45720" indent="0">
                  <a:spcBef>
                    <a:spcPts val="200"/>
                  </a:spcBef>
                  <a:buNone/>
                </a:pPr>
                <a:r>
                  <a:rPr lang="en-IN" sz="2600" b="1" dirty="0">
                    <a:solidFill>
                      <a:schemeClr val="tx1"/>
                    </a:solidFill>
                  </a:rPr>
                  <a:t>		Return 2</a:t>
                </a:r>
              </a:p>
              <a:p>
                <a:pPr marL="45720" indent="0">
                  <a:spcBef>
                    <a:spcPts val="200"/>
                  </a:spcBef>
                  <a:buNone/>
                </a:pPr>
                <a:r>
                  <a:rPr lang="en-IN" sz="2600" b="1" dirty="0">
                    <a:solidFill>
                      <a:schemeClr val="tx1"/>
                    </a:solidFill>
                  </a:rPr>
                  <a:t>	Return 2</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3649" y="1219200"/>
                <a:ext cx="9750951" cy="5334000"/>
              </a:xfrm>
              <a:blipFill>
                <a:blip r:embed="rId2"/>
                <a:stretch>
                  <a:fillRect l="-313" t="-2400" r="-813" b="-1943"/>
                </a:stretch>
              </a:blipFill>
            </p:spPr>
            <p:txBody>
              <a:bodyPr/>
              <a:lstStyle/>
              <a:p>
                <a:r>
                  <a:rPr lang="en-IN">
                    <a:noFill/>
                  </a:rPr>
                  <a:t> </a:t>
                </a:r>
              </a:p>
            </p:txBody>
          </p:sp>
        </mc:Fallback>
      </mc:AlternateContent>
    </p:spTree>
    <p:extLst>
      <p:ext uri="{BB962C8B-B14F-4D97-AF65-F5344CB8AC3E}">
        <p14:creationId xmlns:p14="http://schemas.microsoft.com/office/powerpoint/2010/main" val="14689940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0985"/>
            <a:ext cx="9875520" cy="1356360"/>
          </a:xfrm>
        </p:spPr>
        <p:txBody>
          <a:bodyPr/>
          <a:lstStyle/>
          <a:p>
            <a:r>
              <a:rPr lang="en-IN" dirty="0">
                <a:solidFill>
                  <a:srgbClr val="CC0066"/>
                </a:solidFill>
              </a:rPr>
              <a:t>Assignment 2</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1" y="1219200"/>
                <a:ext cx="9296400" cy="5257800"/>
              </a:xfrm>
            </p:spPr>
            <p:txBody>
              <a:bodyPr>
                <a:normAutofit fontScale="92500" lnSpcReduction="10000"/>
              </a:bodyPr>
              <a:lstStyle/>
              <a:p>
                <a:pPr algn="just">
                  <a:lnSpc>
                    <a:spcPct val="80000"/>
                  </a:lnSpc>
                </a:pPr>
                <a:r>
                  <a:rPr lang="en-IN" sz="2800" b="1" dirty="0">
                    <a:solidFill>
                      <a:schemeClr val="tx1"/>
                    </a:solidFill>
                    <a:highlight>
                      <a:srgbClr val="00FF00"/>
                    </a:highlight>
                    <a:ea typeface="Calibri" panose="020F0502020204030204" pitchFamily="34" charset="0"/>
                  </a:rPr>
                  <a:t>Write a program to calculate </a:t>
                </a:r>
                <a:r>
                  <a:rPr lang="en-IN" sz="2800" b="1" dirty="0" err="1">
                    <a:solidFill>
                      <a:schemeClr val="tx1"/>
                    </a:solidFill>
                    <a:highlight>
                      <a:srgbClr val="00FF00"/>
                    </a:highlight>
                    <a:ea typeface="Calibri" panose="020F0502020204030204" pitchFamily="34" charset="0"/>
                  </a:rPr>
                  <a:t>exp</a:t>
                </a:r>
                <a:r>
                  <a:rPr lang="en-IN" sz="2800" b="1" dirty="0">
                    <a:solidFill>
                      <a:schemeClr val="tx1"/>
                    </a:solidFill>
                    <a:highlight>
                      <a:srgbClr val="00FF00"/>
                    </a:highlight>
                    <a:ea typeface="Calibri" panose="020F0502020204030204" pitchFamily="34" charset="0"/>
                  </a:rPr>
                  <a:t>(</a:t>
                </a:r>
                <a:r>
                  <a:rPr lang="en-IN" sz="2800" b="1" dirty="0" err="1">
                    <a:solidFill>
                      <a:schemeClr val="tx1"/>
                    </a:solidFill>
                    <a:highlight>
                      <a:srgbClr val="00FF00"/>
                    </a:highlight>
                    <a:ea typeface="Calibri" panose="020F0502020204030204" pitchFamily="34" charset="0"/>
                  </a:rPr>
                  <a:t>x,y</a:t>
                </a:r>
                <a:r>
                  <a:rPr lang="en-IN" sz="2800" b="1" dirty="0">
                    <a:solidFill>
                      <a:schemeClr val="tx1"/>
                    </a:solidFill>
                    <a:highlight>
                      <a:srgbClr val="00FF00"/>
                    </a:highlight>
                    <a:ea typeface="Calibri" panose="020F0502020204030204" pitchFamily="34" charset="0"/>
                  </a:rPr>
                  <a:t>) using recursive functions.</a:t>
                </a:r>
              </a:p>
              <a:p>
                <a:pPr marL="45720" indent="0">
                  <a:buNone/>
                </a:pPr>
                <a:r>
                  <a:rPr lang="en-IN" b="1" u="sng" dirty="0">
                    <a:solidFill>
                      <a:schemeClr val="tx1"/>
                    </a:solidFill>
                  </a:rPr>
                  <a:t>Hint to for understanding the Working</a:t>
                </a:r>
              </a:p>
              <a:p>
                <a:pPr marL="45720" indent="0">
                  <a:spcBef>
                    <a:spcPts val="400"/>
                  </a:spcBef>
                  <a:buNone/>
                </a:pPr>
                <a:r>
                  <a:rPr lang="en-IN" dirty="0">
                    <a:solidFill>
                      <a:schemeClr val="tx1"/>
                    </a:solidFill>
                  </a:rPr>
                  <a:t>To find </a:t>
                </a:r>
                <a14:m>
                  <m:oMath xmlns:m="http://schemas.openxmlformats.org/officeDocument/2006/math">
                    <m:sSup>
                      <m:sSupPr>
                        <m:ctrlPr>
                          <a:rPr lang="en-IN" i="1" dirty="0">
                            <a:solidFill>
                              <a:schemeClr val="tx1"/>
                            </a:solidFill>
                            <a:latin typeface="Cambria Math" panose="02040503050406030204" pitchFamily="18" charset="0"/>
                          </a:rPr>
                        </m:ctrlPr>
                      </m:sSupPr>
                      <m:e>
                        <m:r>
                          <a:rPr lang="en-IN" dirty="0">
                            <a:solidFill>
                              <a:schemeClr val="tx1"/>
                            </a:solidFill>
                            <a:latin typeface="Cambria Math" panose="02040503050406030204" pitchFamily="18" charset="0"/>
                          </a:rPr>
                          <m:t>𝑥</m:t>
                        </m:r>
                      </m:e>
                      <m:sup>
                        <m:r>
                          <a:rPr lang="en-IN" dirty="0">
                            <a:solidFill>
                              <a:schemeClr val="tx1"/>
                            </a:solidFill>
                            <a:latin typeface="Cambria Math" panose="02040503050406030204" pitchFamily="18" charset="0"/>
                          </a:rPr>
                          <m:t>𝑦</m:t>
                        </m:r>
                      </m:sup>
                    </m:sSup>
                    <m:r>
                      <a:rPr lang="en-IN" b="0" i="0" dirty="0" smtClean="0">
                        <a:solidFill>
                          <a:schemeClr val="tx1"/>
                        </a:solidFill>
                        <a:latin typeface="Cambria Math" panose="02040503050406030204" pitchFamily="18" charset="0"/>
                      </a:rPr>
                      <m:t>, </m:t>
                    </m:r>
                  </m:oMath>
                </a14:m>
                <a:r>
                  <a:rPr lang="en-IN" dirty="0">
                    <a:solidFill>
                      <a:schemeClr val="tx1"/>
                    </a:solidFill>
                  </a:rPr>
                  <a:t>the general formula can be given as</a:t>
                </a:r>
              </a:p>
              <a:p>
                <a:pPr marL="45720" indent="0" algn="ctr">
                  <a:buNone/>
                </a:pPr>
                <a:r>
                  <a:rPr lang="en-IN" dirty="0">
                    <a:solidFill>
                      <a:schemeClr val="tx1"/>
                    </a:solidFill>
                  </a:rPr>
                  <a:t>EXP(X,Y)= </a:t>
                </a:r>
                <a14:m>
                  <m:oMath xmlns:m="http://schemas.openxmlformats.org/officeDocument/2006/math">
                    <m:d>
                      <m:dPr>
                        <m:begChr m:val="{"/>
                        <m:endChr m:val=""/>
                        <m:ctrlPr>
                          <a:rPr lang="en-IN" i="1">
                            <a:solidFill>
                              <a:schemeClr val="tx1"/>
                            </a:solidFill>
                            <a:latin typeface="Cambria Math" panose="02040503050406030204" pitchFamily="18" charset="0"/>
                          </a:rPr>
                        </m:ctrlPr>
                      </m:dPr>
                      <m:e>
                        <m:eqArr>
                          <m:eqArrPr>
                            <m:ctrlPr>
                              <a:rPr lang="en-IN" i="1">
                                <a:solidFill>
                                  <a:schemeClr val="tx1"/>
                                </a:solidFill>
                                <a:latin typeface="Cambria Math" panose="02040503050406030204" pitchFamily="18" charset="0"/>
                              </a:rPr>
                            </m:ctrlPr>
                          </m:eqArrPr>
                          <m:e>
                            <m:r>
                              <a:rPr lang="en-IN" b="0">
                                <a:solidFill>
                                  <a:schemeClr val="tx1"/>
                                </a:solidFill>
                                <a:latin typeface="Cambria Math" panose="02040503050406030204" pitchFamily="18" charset="0"/>
                              </a:rPr>
                              <m:t>1, </m:t>
                            </m:r>
                            <m:r>
                              <m:rPr>
                                <m:sty m:val="p"/>
                              </m:rPr>
                              <a:rPr lang="en-IN" b="0">
                                <a:solidFill>
                                  <a:schemeClr val="tx1"/>
                                </a:solidFill>
                                <a:latin typeface="Cambria Math" panose="02040503050406030204" pitchFamily="18" charset="0"/>
                              </a:rPr>
                              <m:t>if</m:t>
                            </m:r>
                            <m:r>
                              <a:rPr lang="en-IN" b="0">
                                <a:solidFill>
                                  <a:schemeClr val="tx1"/>
                                </a:solidFill>
                                <a:latin typeface="Cambria Math" panose="02040503050406030204" pitchFamily="18" charset="0"/>
                              </a:rPr>
                              <m:t> </m:t>
                            </m:r>
                            <m:r>
                              <m:rPr>
                                <m:sty m:val="p"/>
                              </m:rPr>
                              <a:rPr lang="en-IN" b="0">
                                <a:solidFill>
                                  <a:schemeClr val="tx1"/>
                                </a:solidFill>
                                <a:latin typeface="Cambria Math" panose="02040503050406030204" pitchFamily="18" charset="0"/>
                              </a:rPr>
                              <m:t>y</m:t>
                            </m:r>
                            <m:r>
                              <a:rPr lang="en-IN" b="0">
                                <a:solidFill>
                                  <a:schemeClr val="tx1"/>
                                </a:solidFill>
                                <a:latin typeface="Cambria Math" panose="02040503050406030204" pitchFamily="18" charset="0"/>
                              </a:rPr>
                              <m:t> == 0</m:t>
                            </m:r>
                          </m:e>
                          <m:e>
                            <m:r>
                              <m:rPr>
                                <m:sty m:val="p"/>
                              </m:rPr>
                              <a:rPr lang="en-IN" b="0" i="0" smtClean="0">
                                <a:solidFill>
                                  <a:schemeClr val="tx1"/>
                                </a:solidFill>
                                <a:latin typeface="Cambria Math" panose="02040503050406030204" pitchFamily="18" charset="0"/>
                              </a:rPr>
                              <m:t>X</m:t>
                            </m:r>
                            <m:r>
                              <a:rPr lang="en-IN" b="0">
                                <a:solidFill>
                                  <a:schemeClr val="tx1"/>
                                </a:solidFill>
                                <a:latin typeface="Cambria Math" panose="02040503050406030204" pitchFamily="18" charset="0"/>
                              </a:rPr>
                              <m:t> × </m:t>
                            </m:r>
                            <m:r>
                              <m:rPr>
                                <m:sty m:val="p"/>
                              </m:rPr>
                              <a:rPr lang="en-IN" b="0">
                                <a:solidFill>
                                  <a:schemeClr val="tx1"/>
                                </a:solidFill>
                                <a:latin typeface="Cambria Math" panose="02040503050406030204" pitchFamily="18" charset="0"/>
                              </a:rPr>
                              <m:t>EXP</m:t>
                            </m:r>
                            <m:r>
                              <a:rPr lang="en-IN" b="0">
                                <a:solidFill>
                                  <a:schemeClr val="tx1"/>
                                </a:solidFill>
                                <a:latin typeface="Cambria Math" panose="02040503050406030204" pitchFamily="18" charset="0"/>
                              </a:rPr>
                              <m:t> (</m:t>
                            </m:r>
                            <m:sSup>
                              <m:sSupPr>
                                <m:ctrlPr>
                                  <a:rPr lang="en-IN" i="1">
                                    <a:solidFill>
                                      <a:schemeClr val="tx1"/>
                                    </a:solidFill>
                                    <a:latin typeface="Cambria Math" panose="02040503050406030204" pitchFamily="18" charset="0"/>
                                  </a:rPr>
                                </m:ctrlPr>
                              </m:sSupPr>
                              <m:e>
                                <m:r>
                                  <m:rPr>
                                    <m:sty m:val="p"/>
                                  </m:rPr>
                                  <a:rPr lang="en-IN" b="0">
                                    <a:solidFill>
                                      <a:schemeClr val="tx1"/>
                                    </a:solidFill>
                                    <a:latin typeface="Cambria Math" panose="02040503050406030204" pitchFamily="18" charset="0"/>
                                  </a:rPr>
                                  <m:t>X</m:t>
                                </m:r>
                              </m:e>
                              <m:sup>
                                <m:r>
                                  <m:rPr>
                                    <m:sty m:val="p"/>
                                  </m:rPr>
                                  <a:rPr lang="en-IN" b="0">
                                    <a:solidFill>
                                      <a:schemeClr val="tx1"/>
                                    </a:solidFill>
                                    <a:latin typeface="Cambria Math" panose="02040503050406030204" pitchFamily="18" charset="0"/>
                                  </a:rPr>
                                  <m:t>Y</m:t>
                                </m:r>
                                <m:r>
                                  <a:rPr lang="en-IN" b="0" i="1">
                                    <a:solidFill>
                                      <a:schemeClr val="tx1"/>
                                    </a:solidFill>
                                    <a:latin typeface="Cambria Math" panose="02040503050406030204" pitchFamily="18" charset="0"/>
                                  </a:rPr>
                                  <m:t>−</m:t>
                                </m:r>
                                <m:r>
                                  <a:rPr lang="en-IN" b="0">
                                    <a:solidFill>
                                      <a:schemeClr val="tx1"/>
                                    </a:solidFill>
                                    <a:latin typeface="Cambria Math" panose="02040503050406030204" pitchFamily="18" charset="0"/>
                                  </a:rPr>
                                  <m:t>1</m:t>
                                </m:r>
                              </m:sup>
                            </m:sSup>
                            <m:r>
                              <a:rPr lang="en-IN" b="0">
                                <a:solidFill>
                                  <a:schemeClr val="tx1"/>
                                </a:solidFill>
                                <a:latin typeface="Cambria Math" panose="02040503050406030204" pitchFamily="18" charset="0"/>
                              </a:rPr>
                              <m:t>), </m:t>
                            </m:r>
                            <m:r>
                              <m:rPr>
                                <m:sty m:val="p"/>
                              </m:rPr>
                              <a:rPr lang="en-IN" b="0">
                                <a:solidFill>
                                  <a:schemeClr val="tx1"/>
                                </a:solidFill>
                                <a:latin typeface="Cambria Math" panose="02040503050406030204" pitchFamily="18" charset="0"/>
                              </a:rPr>
                              <m:t>otherwise</m:t>
                            </m:r>
                          </m:e>
                        </m:eqArr>
                      </m:e>
                    </m:d>
                  </m:oMath>
                </a14:m>
                <a:endParaRPr lang="en-IN" dirty="0">
                  <a:solidFill>
                    <a:schemeClr val="tx1"/>
                  </a:solidFill>
                </a:endParaRPr>
              </a:p>
              <a:p>
                <a:pPr marL="45720" indent="0">
                  <a:spcBef>
                    <a:spcPts val="400"/>
                  </a:spcBef>
                  <a:buNone/>
                </a:pPr>
                <a:endParaRPr lang="en-IN" b="1" dirty="0">
                  <a:solidFill>
                    <a:schemeClr val="tx1"/>
                  </a:solidFill>
                </a:endParaRPr>
              </a:p>
              <a:p>
                <a:pPr marL="45720" indent="0">
                  <a:spcBef>
                    <a:spcPts val="400"/>
                  </a:spcBef>
                  <a:buNone/>
                </a:pPr>
                <a:r>
                  <a:rPr lang="fr-FR" b="1" dirty="0" err="1">
                    <a:solidFill>
                      <a:schemeClr val="tx1"/>
                    </a:solidFill>
                  </a:rPr>
                  <a:t>exp_rec</a:t>
                </a:r>
                <a:r>
                  <a:rPr lang="fr-FR" b="1" dirty="0">
                    <a:solidFill>
                      <a:schemeClr val="tx1"/>
                    </a:solidFill>
                  </a:rPr>
                  <a:t>(2, 4) = 2 × </a:t>
                </a:r>
                <a:r>
                  <a:rPr lang="fr-FR" b="1" dirty="0" err="1">
                    <a:solidFill>
                      <a:schemeClr val="tx1"/>
                    </a:solidFill>
                  </a:rPr>
                  <a:t>exp_rec</a:t>
                </a:r>
                <a:r>
                  <a:rPr lang="fr-FR" b="1" dirty="0">
                    <a:solidFill>
                      <a:schemeClr val="tx1"/>
                    </a:solidFill>
                  </a:rPr>
                  <a:t>(2, 3)</a:t>
                </a:r>
              </a:p>
              <a:p>
                <a:pPr marL="45720" indent="0">
                  <a:spcBef>
                    <a:spcPts val="400"/>
                  </a:spcBef>
                  <a:buNone/>
                </a:pPr>
                <a:r>
                  <a:rPr lang="fr-FR" b="1" dirty="0">
                    <a:solidFill>
                      <a:schemeClr val="tx1"/>
                    </a:solidFill>
                  </a:rPr>
                  <a:t>	</a:t>
                </a:r>
                <a:r>
                  <a:rPr lang="fr-FR" b="1" dirty="0" err="1">
                    <a:solidFill>
                      <a:schemeClr val="tx1"/>
                    </a:solidFill>
                  </a:rPr>
                  <a:t>exp_rec</a:t>
                </a:r>
                <a:r>
                  <a:rPr lang="fr-FR" b="1" dirty="0">
                    <a:solidFill>
                      <a:schemeClr val="tx1"/>
                    </a:solidFill>
                  </a:rPr>
                  <a:t>(2, 3) = 2 × </a:t>
                </a:r>
                <a:r>
                  <a:rPr lang="fr-FR" b="1" dirty="0" err="1">
                    <a:solidFill>
                      <a:schemeClr val="tx1"/>
                    </a:solidFill>
                  </a:rPr>
                  <a:t>exp_rec</a:t>
                </a:r>
                <a:r>
                  <a:rPr lang="fr-FR" b="1" dirty="0">
                    <a:solidFill>
                      <a:schemeClr val="tx1"/>
                    </a:solidFill>
                  </a:rPr>
                  <a:t>(2, 2)</a:t>
                </a:r>
              </a:p>
              <a:p>
                <a:pPr marL="45720" indent="0">
                  <a:spcBef>
                    <a:spcPts val="400"/>
                  </a:spcBef>
                  <a:buNone/>
                </a:pPr>
                <a:r>
                  <a:rPr lang="fr-FR" b="1" dirty="0">
                    <a:solidFill>
                      <a:schemeClr val="tx1"/>
                    </a:solidFill>
                  </a:rPr>
                  <a:t>		</a:t>
                </a:r>
                <a:r>
                  <a:rPr lang="fr-FR" b="1" dirty="0" err="1">
                    <a:solidFill>
                      <a:schemeClr val="tx1"/>
                    </a:solidFill>
                  </a:rPr>
                  <a:t>exp_rec</a:t>
                </a:r>
                <a:r>
                  <a:rPr lang="fr-FR" b="1" dirty="0">
                    <a:solidFill>
                      <a:schemeClr val="tx1"/>
                    </a:solidFill>
                  </a:rPr>
                  <a:t>(2, 2) 2 × </a:t>
                </a:r>
                <a:r>
                  <a:rPr lang="fr-FR" b="1" dirty="0" err="1">
                    <a:solidFill>
                      <a:schemeClr val="tx1"/>
                    </a:solidFill>
                  </a:rPr>
                  <a:t>exp_rec</a:t>
                </a:r>
                <a:r>
                  <a:rPr lang="fr-FR" b="1" dirty="0">
                    <a:solidFill>
                      <a:schemeClr val="tx1"/>
                    </a:solidFill>
                  </a:rPr>
                  <a:t>(2, 1)</a:t>
                </a:r>
              </a:p>
              <a:p>
                <a:pPr marL="45720" indent="0">
                  <a:spcBef>
                    <a:spcPts val="400"/>
                  </a:spcBef>
                  <a:buNone/>
                </a:pPr>
                <a:r>
                  <a:rPr lang="fr-FR" b="1" dirty="0">
                    <a:solidFill>
                      <a:schemeClr val="tx1"/>
                    </a:solidFill>
                  </a:rPr>
                  <a:t>			</a:t>
                </a:r>
                <a:r>
                  <a:rPr lang="fr-FR" b="1" dirty="0" err="1">
                    <a:solidFill>
                      <a:schemeClr val="tx1"/>
                    </a:solidFill>
                  </a:rPr>
                  <a:t>exp_rec</a:t>
                </a:r>
                <a:r>
                  <a:rPr lang="fr-FR" b="1" dirty="0">
                    <a:solidFill>
                      <a:schemeClr val="tx1"/>
                    </a:solidFill>
                  </a:rPr>
                  <a:t>(2, 1) = 2 × </a:t>
                </a:r>
                <a:r>
                  <a:rPr lang="fr-FR" b="1" dirty="0" err="1">
                    <a:solidFill>
                      <a:schemeClr val="tx1"/>
                    </a:solidFill>
                  </a:rPr>
                  <a:t>exp_rec</a:t>
                </a:r>
                <a:r>
                  <a:rPr lang="fr-FR" b="1" dirty="0">
                    <a:solidFill>
                      <a:schemeClr val="tx1"/>
                    </a:solidFill>
                  </a:rPr>
                  <a:t>(2, 0)</a:t>
                </a:r>
              </a:p>
              <a:p>
                <a:pPr marL="45720" indent="0">
                  <a:spcBef>
                    <a:spcPts val="400"/>
                  </a:spcBef>
                  <a:buNone/>
                </a:pPr>
                <a:r>
                  <a:rPr lang="en-IN" b="1" dirty="0">
                    <a:solidFill>
                      <a:schemeClr val="tx1"/>
                    </a:solidFill>
                  </a:rPr>
                  <a:t>				</a:t>
                </a:r>
                <a:r>
                  <a:rPr lang="en-IN" b="1" dirty="0" err="1">
                    <a:solidFill>
                      <a:schemeClr val="tx1"/>
                    </a:solidFill>
                  </a:rPr>
                  <a:t>exp_rec</a:t>
                </a:r>
                <a:r>
                  <a:rPr lang="en-IN" b="1" dirty="0">
                    <a:solidFill>
                      <a:schemeClr val="tx1"/>
                    </a:solidFill>
                  </a:rPr>
                  <a:t>(2, 0) = 1</a:t>
                </a:r>
              </a:p>
              <a:p>
                <a:pPr marL="45720" indent="0">
                  <a:spcBef>
                    <a:spcPts val="400"/>
                  </a:spcBef>
                  <a:buNone/>
                </a:pPr>
                <a:r>
                  <a:rPr lang="fr-FR" b="1" dirty="0">
                    <a:solidFill>
                      <a:schemeClr val="tx1"/>
                    </a:solidFill>
                  </a:rPr>
                  <a:t>			</a:t>
                </a:r>
                <a:r>
                  <a:rPr lang="fr-FR" b="1" dirty="0" err="1">
                    <a:solidFill>
                      <a:schemeClr val="tx1"/>
                    </a:solidFill>
                  </a:rPr>
                  <a:t>exp_rec</a:t>
                </a:r>
                <a:r>
                  <a:rPr lang="fr-FR" b="1" dirty="0">
                    <a:solidFill>
                      <a:schemeClr val="tx1"/>
                    </a:solidFill>
                  </a:rPr>
                  <a:t>(2, 1) = 2 × 1 = 2</a:t>
                </a:r>
              </a:p>
              <a:p>
                <a:pPr marL="45720" indent="0">
                  <a:spcBef>
                    <a:spcPts val="400"/>
                  </a:spcBef>
                  <a:buNone/>
                </a:pPr>
                <a:r>
                  <a:rPr lang="fr-FR" b="1" dirty="0">
                    <a:solidFill>
                      <a:schemeClr val="tx1"/>
                    </a:solidFill>
                  </a:rPr>
                  <a:t>		</a:t>
                </a:r>
                <a:r>
                  <a:rPr lang="fr-FR" b="1" dirty="0" err="1">
                    <a:solidFill>
                      <a:schemeClr val="tx1"/>
                    </a:solidFill>
                  </a:rPr>
                  <a:t>exp_rec</a:t>
                </a:r>
                <a:r>
                  <a:rPr lang="fr-FR" b="1" dirty="0">
                    <a:solidFill>
                      <a:schemeClr val="tx1"/>
                    </a:solidFill>
                  </a:rPr>
                  <a:t>(2, 2) = 2 × 2 = 4</a:t>
                </a:r>
              </a:p>
              <a:p>
                <a:pPr marL="45720" indent="0">
                  <a:spcBef>
                    <a:spcPts val="400"/>
                  </a:spcBef>
                  <a:buNone/>
                </a:pPr>
                <a:r>
                  <a:rPr lang="fr-FR" b="1" dirty="0">
                    <a:solidFill>
                      <a:schemeClr val="tx1"/>
                    </a:solidFill>
                  </a:rPr>
                  <a:t>	</a:t>
                </a:r>
                <a:r>
                  <a:rPr lang="fr-FR" b="1" dirty="0" err="1">
                    <a:solidFill>
                      <a:schemeClr val="tx1"/>
                    </a:solidFill>
                  </a:rPr>
                  <a:t>exp_rec</a:t>
                </a:r>
                <a:r>
                  <a:rPr lang="fr-FR" b="1" dirty="0">
                    <a:solidFill>
                      <a:schemeClr val="tx1"/>
                    </a:solidFill>
                  </a:rPr>
                  <a:t>(2, 3) = 2 × 4 = 8</a:t>
                </a:r>
              </a:p>
              <a:p>
                <a:pPr marL="45720" indent="0">
                  <a:spcBef>
                    <a:spcPts val="400"/>
                  </a:spcBef>
                  <a:buNone/>
                </a:pPr>
                <a:r>
                  <a:rPr lang="fr-FR" b="1" dirty="0" err="1">
                    <a:solidFill>
                      <a:schemeClr val="tx1"/>
                    </a:solidFill>
                  </a:rPr>
                  <a:t>exp_rec</a:t>
                </a:r>
                <a:r>
                  <a:rPr lang="fr-FR" b="1" dirty="0">
                    <a:solidFill>
                      <a:schemeClr val="tx1"/>
                    </a:solidFill>
                  </a:rPr>
                  <a:t>(2, 4) = 2 × 8 = 16</a:t>
                </a:r>
                <a:endParaRPr lang="en-IN" b="1"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1" y="1219200"/>
                <a:ext cx="9296400" cy="5257800"/>
              </a:xfrm>
              <a:blipFill>
                <a:blip r:embed="rId2"/>
                <a:stretch>
                  <a:fillRect l="-262" t="-2897"/>
                </a:stretch>
              </a:blipFill>
            </p:spPr>
            <p:txBody>
              <a:bodyPr/>
              <a:lstStyle/>
              <a:p>
                <a:r>
                  <a:rPr lang="en-IN">
                    <a:noFill/>
                  </a:rPr>
                  <a:t> </a:t>
                </a:r>
              </a:p>
            </p:txBody>
          </p:sp>
        </mc:Fallback>
      </mc:AlternateContent>
    </p:spTree>
    <p:extLst>
      <p:ext uri="{BB962C8B-B14F-4D97-AF65-F5344CB8AC3E}">
        <p14:creationId xmlns:p14="http://schemas.microsoft.com/office/powerpoint/2010/main" val="34375573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43840"/>
            <a:ext cx="9875520" cy="1356360"/>
          </a:xfrm>
        </p:spPr>
        <p:txBody>
          <a:bodyPr/>
          <a:lstStyle/>
          <a:p>
            <a:r>
              <a:rPr lang="en-IN" dirty="0">
                <a:solidFill>
                  <a:srgbClr val="CC0066"/>
                </a:solidFill>
              </a:rPr>
              <a:t>Assignment 3</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81000" y="914400"/>
                <a:ext cx="9448800" cy="5486400"/>
              </a:xfrm>
            </p:spPr>
            <p:txBody>
              <a:bodyPr>
                <a:normAutofit lnSpcReduction="10000"/>
              </a:bodyPr>
              <a:lstStyle/>
              <a:p>
                <a:endParaRPr lang="en-IN" dirty="0"/>
              </a:p>
              <a:p>
                <a:pPr algn="just"/>
                <a:r>
                  <a:rPr lang="en-IN" sz="3000" b="1" dirty="0">
                    <a:solidFill>
                      <a:schemeClr val="tx1"/>
                    </a:solidFill>
                    <a:highlight>
                      <a:srgbClr val="00FF00"/>
                    </a:highlight>
                    <a:ea typeface="Calibri" panose="020F0502020204030204" pitchFamily="34" charset="0"/>
                  </a:rPr>
                  <a:t>Write a program to print the Fibonacci series using recursion.</a:t>
                </a:r>
              </a:p>
              <a:p>
                <a:pPr marL="45720" indent="0" algn="just">
                  <a:buNone/>
                </a:pPr>
                <a:r>
                  <a:rPr lang="en-IN" b="1" u="sng" dirty="0">
                    <a:solidFill>
                      <a:schemeClr val="tx1"/>
                    </a:solidFill>
                  </a:rPr>
                  <a:t>Hint to for understanding the Working</a:t>
                </a:r>
                <a:endParaRPr lang="en-IN" u="sng" dirty="0"/>
              </a:p>
              <a:p>
                <a:pPr algn="just"/>
                <a:r>
                  <a:rPr lang="en-IN" dirty="0">
                    <a:solidFill>
                      <a:schemeClr val="tx1"/>
                    </a:solidFill>
                  </a:rPr>
                  <a:t>The Fibonacci series can be given as 0 1 1 2 3 5 8 13 21 34 55 ……</a:t>
                </a:r>
              </a:p>
              <a:p>
                <a:pPr algn="just"/>
                <a:r>
                  <a:rPr lang="en-IN" dirty="0">
                    <a:solidFill>
                      <a:schemeClr val="tx1"/>
                    </a:solidFill>
                  </a:rPr>
                  <a:t>That is, the third term of the series is the sum of the first and second terms. Similarly, fourth term is the sum of second and third terms, and so on. Now we will design a recursive solution to find the nth term of the Fibonacci series. The general formula to do so can be given as per the formula, FIB(0) =0 and FIB(1) = 1. </a:t>
                </a:r>
              </a:p>
              <a:p>
                <a:pPr algn="just"/>
                <a:r>
                  <a:rPr lang="en-IN" dirty="0">
                    <a:solidFill>
                      <a:schemeClr val="tx1"/>
                    </a:solidFill>
                  </a:rPr>
                  <a:t>So we have two base cases. This is necessary because every problem is divided into two smaller problems.</a:t>
                </a:r>
              </a:p>
              <a:p>
                <a:pPr marL="723900" indent="0" algn="just">
                  <a:buNone/>
                </a:pPr>
                <a:r>
                  <a:rPr lang="en-IN" dirty="0">
                    <a:solidFill>
                      <a:schemeClr val="tx1"/>
                    </a:solidFill>
                  </a:rPr>
                  <a:t>FIB (n)  = </a:t>
                </a:r>
                <a14:m>
                  <m:oMath xmlns:m="http://schemas.openxmlformats.org/officeDocument/2006/math">
                    <m:d>
                      <m:dPr>
                        <m:begChr m:val="{"/>
                        <m:endChr m:val=""/>
                        <m:ctrlPr>
                          <a:rPr lang="en-IN" i="1" smtClean="0">
                            <a:solidFill>
                              <a:schemeClr val="tx1"/>
                            </a:solidFill>
                            <a:latin typeface="Cambria Math" panose="02040503050406030204" pitchFamily="18" charset="0"/>
                          </a:rPr>
                        </m:ctrlPr>
                      </m:dPr>
                      <m:e>
                        <m:eqArr>
                          <m:eqArrPr>
                            <m:ctrlPr>
                              <a:rPr lang="en-IN" i="1" smtClean="0">
                                <a:solidFill>
                                  <a:schemeClr val="tx1"/>
                                </a:solidFill>
                                <a:latin typeface="Cambria Math" panose="02040503050406030204" pitchFamily="18" charset="0"/>
                              </a:rPr>
                            </m:ctrlPr>
                          </m:eqArrPr>
                          <m:e>
                            <m:r>
                              <m:rPr>
                                <m:nor/>
                              </m:rPr>
                              <a:rPr lang="en-IN" dirty="0">
                                <a:solidFill>
                                  <a:schemeClr val="tx1"/>
                                </a:solidFill>
                              </a:rPr>
                              <m:t>0, </m:t>
                            </m:r>
                            <m:r>
                              <m:rPr>
                                <m:nor/>
                              </m:rPr>
                              <a:rPr lang="en-IN" dirty="0">
                                <a:solidFill>
                                  <a:schemeClr val="tx1"/>
                                </a:solidFill>
                              </a:rPr>
                              <m:t>if</m:t>
                            </m:r>
                            <m:r>
                              <m:rPr>
                                <m:nor/>
                              </m:rPr>
                              <a:rPr lang="en-IN" dirty="0">
                                <a:solidFill>
                                  <a:schemeClr val="tx1"/>
                                </a:solidFill>
                              </a:rPr>
                              <m:t> </m:t>
                            </m:r>
                            <m:r>
                              <m:rPr>
                                <m:nor/>
                              </m:rPr>
                              <a:rPr lang="en-IN" dirty="0">
                                <a:solidFill>
                                  <a:schemeClr val="tx1"/>
                                </a:solidFill>
                              </a:rPr>
                              <m:t>n</m:t>
                            </m:r>
                            <m:r>
                              <m:rPr>
                                <m:nor/>
                              </m:rPr>
                              <a:rPr lang="en-IN" dirty="0">
                                <a:solidFill>
                                  <a:schemeClr val="tx1"/>
                                </a:solidFill>
                              </a:rPr>
                              <m:t> = 0 </m:t>
                            </m:r>
                          </m:e>
                          <m:e>
                            <m:r>
                              <m:rPr>
                                <m:nor/>
                              </m:rPr>
                              <a:rPr lang="en-IN" dirty="0">
                                <a:solidFill>
                                  <a:schemeClr val="tx1"/>
                                </a:solidFill>
                              </a:rPr>
                              <m:t>1, </m:t>
                            </m:r>
                            <m:r>
                              <m:rPr>
                                <m:nor/>
                              </m:rPr>
                              <a:rPr lang="en-IN" dirty="0">
                                <a:solidFill>
                                  <a:schemeClr val="tx1"/>
                                </a:solidFill>
                              </a:rPr>
                              <m:t>if</m:t>
                            </m:r>
                            <m:r>
                              <m:rPr>
                                <m:nor/>
                              </m:rPr>
                              <a:rPr lang="en-IN" dirty="0">
                                <a:solidFill>
                                  <a:schemeClr val="tx1"/>
                                </a:solidFill>
                              </a:rPr>
                              <m:t> </m:t>
                            </m:r>
                            <m:r>
                              <m:rPr>
                                <m:nor/>
                              </m:rPr>
                              <a:rPr lang="en-IN" dirty="0">
                                <a:solidFill>
                                  <a:schemeClr val="tx1"/>
                                </a:solidFill>
                              </a:rPr>
                              <m:t>n</m:t>
                            </m:r>
                            <m:r>
                              <m:rPr>
                                <m:nor/>
                              </m:rPr>
                              <a:rPr lang="en-IN" dirty="0">
                                <a:solidFill>
                                  <a:schemeClr val="tx1"/>
                                </a:solidFill>
                              </a:rPr>
                              <m:t> = 1 </m:t>
                            </m:r>
                          </m:e>
                          <m:e>
                            <m:r>
                              <m:rPr>
                                <m:nor/>
                              </m:rPr>
                              <a:rPr lang="pt-BR" dirty="0">
                                <a:solidFill>
                                  <a:schemeClr val="tx1"/>
                                </a:solidFill>
                              </a:rPr>
                              <m:t>FIB</m:t>
                            </m:r>
                            <m:r>
                              <m:rPr>
                                <m:nor/>
                              </m:rPr>
                              <a:rPr lang="pt-BR" dirty="0">
                                <a:solidFill>
                                  <a:schemeClr val="tx1"/>
                                </a:solidFill>
                              </a:rPr>
                              <m:t> (</m:t>
                            </m:r>
                            <m:r>
                              <m:rPr>
                                <m:nor/>
                              </m:rPr>
                              <a:rPr lang="pt-BR" dirty="0">
                                <a:solidFill>
                                  <a:schemeClr val="tx1"/>
                                </a:solidFill>
                              </a:rPr>
                              <m:t>n</m:t>
                            </m:r>
                            <m:r>
                              <m:rPr>
                                <m:nor/>
                              </m:rPr>
                              <a:rPr lang="pt-BR" dirty="0">
                                <a:solidFill>
                                  <a:schemeClr val="tx1"/>
                                </a:solidFill>
                              </a:rPr>
                              <m:t> – 1) + </m:t>
                            </m:r>
                            <m:r>
                              <m:rPr>
                                <m:nor/>
                              </m:rPr>
                              <a:rPr lang="pt-BR" dirty="0">
                                <a:solidFill>
                                  <a:schemeClr val="tx1"/>
                                </a:solidFill>
                              </a:rPr>
                              <m:t>FIB</m:t>
                            </m:r>
                            <m:r>
                              <m:rPr>
                                <m:nor/>
                              </m:rPr>
                              <a:rPr lang="pt-BR" dirty="0">
                                <a:solidFill>
                                  <a:schemeClr val="tx1"/>
                                </a:solidFill>
                              </a:rPr>
                              <m:t>(</m:t>
                            </m:r>
                            <m:r>
                              <m:rPr>
                                <m:nor/>
                              </m:rPr>
                              <a:rPr lang="pt-BR" dirty="0">
                                <a:solidFill>
                                  <a:schemeClr val="tx1"/>
                                </a:solidFill>
                              </a:rPr>
                              <m:t>n</m:t>
                            </m:r>
                            <m:r>
                              <m:rPr>
                                <m:nor/>
                              </m:rPr>
                              <a:rPr lang="pt-BR" dirty="0">
                                <a:solidFill>
                                  <a:schemeClr val="tx1"/>
                                </a:solidFill>
                              </a:rPr>
                              <m:t> – 2), </m:t>
                            </m:r>
                            <m:r>
                              <m:rPr>
                                <m:nor/>
                              </m:rPr>
                              <a:rPr lang="pt-BR" dirty="0">
                                <a:solidFill>
                                  <a:schemeClr val="tx1"/>
                                </a:solidFill>
                              </a:rPr>
                              <m:t>otherwise</m:t>
                            </m:r>
                            <m:r>
                              <m:rPr>
                                <m:nor/>
                              </m:rPr>
                              <a:rPr lang="en-IN" dirty="0">
                                <a:solidFill>
                                  <a:schemeClr val="tx1"/>
                                </a:solidFill>
                              </a:rPr>
                              <m:t> </m:t>
                            </m:r>
                          </m:e>
                        </m:eqArr>
                      </m:e>
                    </m:d>
                  </m:oMath>
                </a14:m>
                <a:endParaRPr lang="en-IN" dirty="0">
                  <a:solidFill>
                    <a:schemeClr val="tx1"/>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81000" y="914400"/>
                <a:ext cx="9448800" cy="5486400"/>
              </a:xfrm>
              <a:blipFill>
                <a:blip r:embed="rId2"/>
                <a:stretch>
                  <a:fillRect l="-516" r="-2323"/>
                </a:stretch>
              </a:blipFill>
            </p:spPr>
            <p:txBody>
              <a:bodyPr/>
              <a:lstStyle/>
              <a:p>
                <a:r>
                  <a:rPr lang="en-IN">
                    <a:noFill/>
                  </a:rPr>
                  <a:t> </a:t>
                </a:r>
              </a:p>
            </p:txBody>
          </p:sp>
        </mc:Fallback>
      </mc:AlternateContent>
    </p:spTree>
    <p:extLst>
      <p:ext uri="{BB962C8B-B14F-4D97-AF65-F5344CB8AC3E}">
        <p14:creationId xmlns:p14="http://schemas.microsoft.com/office/powerpoint/2010/main" val="272722495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09600"/>
            <a:ext cx="9875520" cy="1356360"/>
          </a:xfrm>
        </p:spPr>
        <p:txBody>
          <a:bodyPr>
            <a:noAutofit/>
          </a:bodyPr>
          <a:lstStyle/>
          <a:p>
            <a:pPr algn="ctr"/>
            <a:r>
              <a:rPr lang="en-IN" sz="11500" b="1" dirty="0">
                <a:solidFill>
                  <a:srgbClr val="FFFF00"/>
                </a:solidFill>
                <a:highlight>
                  <a:srgbClr val="FF00FF"/>
                </a:highlight>
                <a:ea typeface="Calibri" panose="020F0502020204030204" pitchFamily="34" charset="0"/>
              </a:rPr>
              <a:t>Thank you ……</a:t>
            </a:r>
          </a:p>
        </p:txBody>
      </p:sp>
      <p:sp>
        <p:nvSpPr>
          <p:cNvPr id="4" name="TextBox 3"/>
          <p:cNvSpPr txBox="1"/>
          <p:nvPr/>
        </p:nvSpPr>
        <p:spPr>
          <a:xfrm>
            <a:off x="1066800" y="5638800"/>
            <a:ext cx="6873240" cy="769441"/>
          </a:xfrm>
          <a:prstGeom prst="rect">
            <a:avLst/>
          </a:prstGeom>
          <a:noFill/>
        </p:spPr>
        <p:txBody>
          <a:bodyPr wrap="square" rtlCol="0">
            <a:spAutoFit/>
          </a:bodyPr>
          <a:lstStyle/>
          <a:p>
            <a:r>
              <a:rPr lang="en-IN" sz="4400" b="1" dirty="0">
                <a:ln w="12700">
                  <a:solidFill>
                    <a:srgbClr val="0070C0"/>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Nest Topic………….  </a:t>
            </a:r>
          </a:p>
        </p:txBody>
      </p:sp>
      <p:pic>
        <p:nvPicPr>
          <p:cNvPr id="5" name="Picture 4"/>
          <p:cNvPicPr>
            <a:picLocks noChangeAspect="1"/>
          </p:cNvPicPr>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7940040" y="3352802"/>
            <a:ext cx="3594735" cy="305544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3419">
            <a:off x="1201309" y="2880933"/>
            <a:ext cx="6553200" cy="2253916"/>
          </a:xfrm>
          <a:prstGeom prst="rect">
            <a:avLst/>
          </a:prstGeom>
        </p:spPr>
      </p:pic>
    </p:spTree>
    <p:extLst>
      <p:ext uri="{BB962C8B-B14F-4D97-AF65-F5344CB8AC3E}">
        <p14:creationId xmlns:p14="http://schemas.microsoft.com/office/powerpoint/2010/main" val="1179474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circle(in)">
                                      <p:cBhvr>
                                        <p:cTn id="3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4.9|6|4.2"/>
</p:tagLst>
</file>

<file path=ppt/tags/tag2.xml><?xml version="1.0" encoding="utf-8"?>
<p:tagLst xmlns:a="http://schemas.openxmlformats.org/drawingml/2006/main" xmlns:r="http://schemas.openxmlformats.org/officeDocument/2006/relationships" xmlns:p="http://schemas.openxmlformats.org/presentationml/2006/main">
  <p:tag name="TIMING" val="|1.9"/>
</p:tagLst>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
  <TotalTime>6056</TotalTime>
  <Words>5854</Words>
  <Application>Microsoft Office PowerPoint</Application>
  <PresentationFormat>Widescreen</PresentationFormat>
  <Paragraphs>872</Paragraphs>
  <Slides>74</Slides>
  <Notes>15</Notes>
  <HiddenSlides>0</HiddenSlides>
  <MMClips>4</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74</vt:i4>
      </vt:variant>
    </vt:vector>
  </HeadingPairs>
  <TitlesOfParts>
    <vt:vector size="86" baseType="lpstr">
      <vt:lpstr>Arial</vt:lpstr>
      <vt:lpstr>Calibri</vt:lpstr>
      <vt:lpstr>Calibri Light</vt:lpstr>
      <vt:lpstr>Cambria Math</vt:lpstr>
      <vt:lpstr>Constantia</vt:lpstr>
      <vt:lpstr>Corbel</vt:lpstr>
      <vt:lpstr>Courier New</vt:lpstr>
      <vt:lpstr>MV Boli</vt:lpstr>
      <vt:lpstr>Times New Roman</vt:lpstr>
      <vt:lpstr>Wingdings</vt:lpstr>
      <vt:lpstr>Basis</vt:lpstr>
      <vt:lpstr>Office Theme</vt:lpstr>
      <vt:lpstr>PowerPoint Presentation</vt:lpstr>
      <vt:lpstr>PowerPoint Presentation</vt:lpstr>
      <vt:lpstr>PowerPoint Presentation</vt:lpstr>
      <vt:lpstr>Understanding Stack: PUSH</vt:lpstr>
      <vt:lpstr>Understanding Stack: POP</vt:lpstr>
      <vt:lpstr>ARRAY REPRESENTATION OF STACKS</vt:lpstr>
      <vt:lpstr>OPERATIONS ON A STACK</vt:lpstr>
      <vt:lpstr>Algorithm to insert an element in a stack </vt:lpstr>
      <vt:lpstr>Pop Operation</vt:lpstr>
      <vt:lpstr>Algorithm to delete an element from a stack</vt:lpstr>
      <vt:lpstr>Algorithm to delete an element from a stack</vt:lpstr>
      <vt:lpstr>Peek Operation</vt:lpstr>
      <vt:lpstr>Peek element from a stack</vt:lpstr>
      <vt:lpstr>LINKED REPRESENTATION OF STACK</vt:lpstr>
      <vt:lpstr>OPERATIONS ON A LINKED STACK</vt:lpstr>
      <vt:lpstr>    Push: Inserting a Node at the Beginning of a Linked List </vt:lpstr>
      <vt:lpstr>Pop Operation</vt:lpstr>
      <vt:lpstr> pop: Deleting the First Node from a Singly Linked List</vt:lpstr>
      <vt:lpstr>APPLICATIONS OF STACKS </vt:lpstr>
      <vt:lpstr>PowerPoint Presentation</vt:lpstr>
      <vt:lpstr>Evaluation of Arithmetic Expressions</vt:lpstr>
      <vt:lpstr>Convert the following infix expressions into postfix expressions </vt:lpstr>
      <vt:lpstr>Convert the following infix expressions into postfix expressions </vt:lpstr>
      <vt:lpstr>Algorithm to convert an infix notation to postfix notation</vt:lpstr>
      <vt:lpstr>Conversion of an Infix Expression into a Postfix Expression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Procedure for Evaluation of a Postfix Expression</vt:lpstr>
      <vt:lpstr>Evaluation of a Postfix Expression</vt:lpstr>
      <vt:lpstr>PowerPoint Presentation</vt:lpstr>
      <vt:lpstr>PowerPoint Presentation</vt:lpstr>
      <vt:lpstr>PowerPoint Presentation</vt:lpstr>
      <vt:lpstr>PowerPoint Presentation</vt:lpstr>
      <vt:lpstr>PowerPoint Presentation</vt:lpstr>
      <vt:lpstr>Convert the following infix expressions into prefix expressions </vt:lpstr>
      <vt:lpstr>Algorithm to convert an infix expression into prefix expression</vt:lpstr>
      <vt:lpstr>For example, given an infix expression (A – B / C) * (A / K – L) </vt:lpstr>
      <vt:lpstr>Conversion of an Infix Expression into a Postfix Expression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 for evaluation of a prefix expression</vt:lpstr>
      <vt:lpstr>For example, consider the prefix expression + – 2 7 * 8 / 4 12. Let us now apply the algorithm to evaluate this expression.</vt:lpstr>
      <vt:lpstr>Evaluation of a Prefix Expression</vt:lpstr>
      <vt:lpstr>PowerPoint Presentation</vt:lpstr>
      <vt:lpstr>PowerPoint Presentation</vt:lpstr>
      <vt:lpstr>Recursion</vt:lpstr>
      <vt:lpstr>Recursive solution has two major cases</vt:lpstr>
      <vt:lpstr>Types of Recursion</vt:lpstr>
      <vt:lpstr>PowerPoint Presentation</vt:lpstr>
      <vt:lpstr>PowerPoint Presentation</vt:lpstr>
      <vt:lpstr>PowerPoint Presentation</vt:lpstr>
      <vt:lpstr>Tower of Hanoi</vt:lpstr>
      <vt:lpstr>Tower of Hanoi problem</vt:lpstr>
      <vt:lpstr>PowerPoint Presentation</vt:lpstr>
      <vt:lpstr>PowerPoint Presentation</vt:lpstr>
      <vt:lpstr>Code implements the solution of the tower of Hanoi problem</vt:lpstr>
      <vt:lpstr>PowerPoint Presentation</vt:lpstr>
      <vt:lpstr>Assignment 1</vt:lpstr>
      <vt:lpstr>Assignment 2</vt:lpstr>
      <vt:lpstr>Assignment 3</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Stacks</dc:title>
  <dc:creator>admin</dc:creator>
  <cp:lastModifiedBy>R PRATHAP KUMAR</cp:lastModifiedBy>
  <cp:revision>288</cp:revision>
  <dcterms:created xsi:type="dcterms:W3CDTF">2006-08-16T00:00:00Z</dcterms:created>
  <dcterms:modified xsi:type="dcterms:W3CDTF">2026-09-01T05:25:11Z</dcterms:modified>
</cp:coreProperties>
</file>